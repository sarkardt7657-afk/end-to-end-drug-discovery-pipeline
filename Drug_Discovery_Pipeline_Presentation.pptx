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9"/>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p:scale>
          <a:sx n="81" d="100"/>
          <a:sy n="81" d="100"/>
        </p:scale>
        <p:origin x="84" y="-14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414823202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 with the project title, disease model, and the fact that the deck now includes real Vina parsing, PyMOL rendering guidance, and a viva-ready code demo. Emphasize that the project matches the required end-to-end major-project workflow.
[Sources]
- Uploaded file: Minor &amp; Major Project Guidelines PDF (major project title, workflow, deliverables)
- Uploaded file: Session10.pdf (drug discovery pipeline idea and 20-minute presentation expectation)
- Visual generated with OpenAI image generation based on project context</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Explain that the project is intentionally aligned with the major-project rubric: end-to-end workflow, multiple tools, full documentation, and a 20-minute presentation. Mention that the deck follows the same four-phase timeline given in the course materials.
[Sources]
- Uploaded file: Session10.pdf (major project characteristics and deliverables)
- Uploaded file: Minor &amp; Major Project Guidelines PDF (weekly phases, assessment, documentation)</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State the background, the gap, and the proposed solution exactly the way a project viva expects. Then walk through the five measurable objectives so the audience knows how success is defined.
[Sources]
- Uploaded file: Session10.pdf (problem statement framework and example objectives)
- Uploaded file: Minor &amp; Major Project Guidelines PDF (project phases and justification requirements)</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 this slide as the roadmap for the rest of the talk. Briefly preview the four phases, then tell the audience that the later code and result slides follow the same structure.
[Sources]
- Uploaded file: Minor &amp; Major Project Guidelines PDF (phases 1-4)
- Uploaded file: Course_Notes.pdf (drug discovery pipeline, docking process, ADMET workflow)</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Explain target selection as a scientific decision, not just a random protein choice. Mention literature support, functional annotation, mutation evidence, and conservation/druggability as the validation stack.
[Sources]
- Uploaded file: Minor &amp; Major Project Guidelines PDF (target selection, mutation validation, BLAST conservation, druggability)
- Uploaded file: Session10.pdf (disease-associated protein and target selection workflow)</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Describe where the structure comes from, how the pocket is defined, and why visual inspection matters before docking. Point to the illustrative active-site render on the right.
[Sources]
- Uploaded file: Minor &amp; Major Project Guidelines PDF (structure acquisition, binding site identification, PyMOL/ChimeraX)
- Uploaded file: Course_Notes.pdf (AlphaFold, PyMOL, docking preparation process)
- Visual generated with OpenAI image generation based on project context</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through the ligand-library choices and then pause on the Vina command. Explain that real docking does not end at the terminal: the log file becomes an input to the Python ranking workflow.
[Sources]
- Uploaded file: Minor &amp; Major Project Guidelines PDF (compound library, AutoDock Vina/PyRx, docking region, run docking)
- Uploaded file: Course_Notes.pdf (compound sources, docking process, Vina software)</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key upgrade slide. Make it clear that the pipeline reads authentic Vina log structure, extracts affinity and RMSD values, and transforms them into report-ready outputs.
[Sources]
- Internal project file: drug_discovery_pipeline_final.py
- Uploaded file: Course_Notes.pdf (Vina scoring, pose generation, ranking workflow)
- Internal sample data: data/vina_logs/*.txt</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the plot left-to-right: the most negative scores sit at the top of the ranking. Then use the table to summarize the strongest candidates and explain why known EGFR inhibitors help validate the workflow.
[Sources]
- Internal project output: outputs/vina_binding_plot.png
- Internal project output: outputs/vina_top_hits.csv
- Uploaded file: Course_Notes.pdf (interpretation of docking affinity and interactions)</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 this slide to move from numbers to structural interpretation. Tell the audience that docking score alone is not enough; pose quality and interaction plausibility matter.
[Sources]
- Uploaded file: Minor &amp; Major Project Guidelines PDF (interaction analysis and PyMOL / ChimeraX visualization)
- Uploaded file: Course_Notes.pdf (hydrogen bonds, hydrophobic, electrostatic, pi-pi, van der Waals)
- Visual generated with OpenAI image generation based on project context</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Explain that ADMET is a filter, not a replacement for docking. Use the plot thresholds to show how lead selection becomes more realistic once property balance is included.
[Sources]
- Internal project output: outputs/vina_admet_plot.png
- Uploaded file: Course_Notes.pdf (Lipinski rule of five, ADMET categories and tools)
- Uploaded file: Minor &amp; Major Project Guidelines PDF (ADMET prediction and lead characterization)</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 this slide to explain code structure at a systems level. The three important modules are screening, Vina parsing, and PyMOL script generation.
[Sources]
- Internal project file: drug_discovery_pipeline_final.py
- Uploaded file: Minor &amp; Major Project Guidelines PDF (automation with Python and structured outputs)
- Uploaded file: Course_Notes.pdf (Python, pandas, matplotlib as recommended tools)</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exact demo flow to follow in front of the examiner. Speak slowly, explain each command, and point out the files that are created after each step.
[Sources]
- Internal project file: drug_discovery_pipeline_final.py
- Internal project files: sample_compounds.csv, data/vina_logs, outputs/</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Explain that the Python pipeline and PyMOL are connected: the pipeline prepares a script, and PyMOL turns the chosen pose into a publication-style image.
[Sources]
- Internal project file: outputs/render_docking_scene.pml
- Uploaded file: Minor &amp; Major Project Guidelines PDF (PyMOL/ChimeraX for visualization)
- Uploaded file: Course_Notes.pdf (PyMOL as recommended visualization software)</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 explicit about limitations. This makes the project sound scientifically mature rather than over-claimed. Then show the natural upgrade path toward more serious validation.
[Sources]
- Uploaded file: Minor &amp; Major Project Guidelines PDF (suggest next steps, estimate development process)
- Uploaded file: Course_Notes.pdf (preclinical path after computational hit discovery)
- Internal project design choices and scope limits</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 this only if questions come up. Answer in a calm, concise way and avoid over-claiming what docking can prove.
[Sources]
- Internal companion document: Drug_Discovery_Viva_Guide.docx
- Uploaded file: Session10.pdf (communication, Q&amp;A handling, interview talking points)
- Uploaded file: Course_Notes.pdf (docking, ADMET, PyMOL, pipeline concepts)</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by repeating the end-to-end value of the project. Invite questions and, if needed, jump to the viva backup slide.
[Sources]
- Uploaded file: Minor &amp; Major Project Guidelines PDF (complete workflow and deliverables)
- Uploaded file: Session10.pdf (major-project outcomes and communication goals)
- Visual generated with OpenAI image generation based on project context</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B1F3A"/>
        </a:solidFill>
        <a:effectLst/>
      </p:bgPr>
    </p:bg>
    <p:spTree>
      <p:nvGrpSpPr>
        <p:cNvPr id="1" name=""/>
        <p:cNvGrpSpPr/>
        <p:nvPr/>
      </p:nvGrpSpPr>
      <p:grpSpPr>
        <a:xfrm>
          <a:off x="0" y="0"/>
          <a:ext cx="0" cy="0"/>
          <a:chOff x="0" y="0"/>
          <a:chExt cx="0" cy="0"/>
        </a:xfrm>
      </p:grpSpPr>
      <p:pic>
        <p:nvPicPr>
          <p:cNvPr id="2" name="Image 0" descr="/mnt/data/a_detailed_scientific_3d_molecular_visualization_s.png"/>
          <p:cNvPicPr>
            <a:picLocks noChangeAspect="1"/>
          </p:cNvPicPr>
          <p:nvPr/>
        </p:nvPicPr>
        <p:blipFill>
          <a:blip r:embed="rId3"/>
          <a:srcRect t="7811" b="7811"/>
          <a:stretch/>
        </p:blipFill>
        <p:spPr>
          <a:xfrm>
            <a:off x="0" y="0"/>
            <a:ext cx="12191695" cy="6858000"/>
          </a:xfrm>
          <a:prstGeom prst="rect">
            <a:avLst/>
          </a:prstGeom>
        </p:spPr>
      </p:pic>
      <p:sp>
        <p:nvSpPr>
          <p:cNvPr id="3" name="Text 0"/>
          <p:cNvSpPr/>
          <p:nvPr/>
        </p:nvSpPr>
        <p:spPr>
          <a:xfrm>
            <a:off x="658368" y="1051560"/>
            <a:ext cx="4754880" cy="1371600"/>
          </a:xfrm>
          <a:prstGeom prst="rect">
            <a:avLst/>
          </a:prstGeom>
          <a:noFill/>
          <a:ln/>
        </p:spPr>
        <p:txBody>
          <a:bodyPr wrap="square" lIns="0" tIns="0" rIns="0" bIns="0" rtlCol="0" anchor="ctr"/>
          <a:lstStyle/>
          <a:p>
            <a:pPr marL="0" indent="0">
              <a:buNone/>
            </a:pPr>
            <a:r>
              <a:rPr lang="en-US" sz="2800" b="1" dirty="0">
                <a:solidFill>
                  <a:srgbClr val="FFFFFF"/>
                </a:solidFill>
                <a:latin typeface="Aptos Display" pitchFamily="34" charset="0"/>
                <a:ea typeface="Aptos Display" pitchFamily="34" charset="-122"/>
                <a:cs typeface="Aptos Display" pitchFamily="34" charset="-120"/>
              </a:rPr>
              <a:t>End-to-End</a:t>
            </a:r>
            <a:endParaRPr lang="en-US" sz="2800" dirty="0"/>
          </a:p>
          <a:p>
            <a:pPr marL="0" indent="0">
              <a:buNone/>
            </a:pPr>
            <a:r>
              <a:rPr lang="en-US" sz="2800" b="1" dirty="0">
                <a:solidFill>
                  <a:srgbClr val="FFFFFF"/>
                </a:solidFill>
                <a:latin typeface="Aptos Display" pitchFamily="34" charset="0"/>
                <a:ea typeface="Aptos Display" pitchFamily="34" charset="-122"/>
                <a:cs typeface="Aptos Display" pitchFamily="34" charset="-120"/>
              </a:rPr>
              <a:t>Drug Discovery Pipeline</a:t>
            </a:r>
            <a:endParaRPr lang="en-US" sz="2800" dirty="0"/>
          </a:p>
        </p:txBody>
      </p:sp>
      <p:sp>
        <p:nvSpPr>
          <p:cNvPr id="4" name="Text 1"/>
          <p:cNvSpPr/>
          <p:nvPr/>
        </p:nvSpPr>
        <p:spPr>
          <a:xfrm>
            <a:off x="694944" y="2697480"/>
            <a:ext cx="4389120" cy="960120"/>
          </a:xfrm>
          <a:prstGeom prst="rect">
            <a:avLst/>
          </a:prstGeom>
          <a:noFill/>
          <a:ln/>
        </p:spPr>
        <p:txBody>
          <a:bodyPr wrap="square" lIns="0" tIns="0" rIns="0" bIns="0" rtlCol="0" anchor="ctr"/>
          <a:lstStyle/>
          <a:p>
            <a:pPr marL="0" indent="0">
              <a:buNone/>
            </a:pPr>
            <a:r>
              <a:rPr lang="en-US" sz="1600" dirty="0">
                <a:solidFill>
                  <a:srgbClr val="EAF2FF"/>
                </a:solidFill>
              </a:rPr>
              <a:t>Final major-project presentation with real AutoDock Vina parsing, PyMOL visualization workflow, live code demo steps, and viva-ready answers.</a:t>
            </a:r>
            <a:endParaRPr lang="en-US" sz="1600" dirty="0"/>
          </a:p>
        </p:txBody>
      </p:sp>
      <p:sp>
        <p:nvSpPr>
          <p:cNvPr id="5" name="Text 2"/>
          <p:cNvSpPr/>
          <p:nvPr/>
        </p:nvSpPr>
        <p:spPr>
          <a:xfrm>
            <a:off x="713232" y="3931920"/>
            <a:ext cx="4114800" cy="256032"/>
          </a:xfrm>
          <a:prstGeom prst="rect">
            <a:avLst/>
          </a:prstGeom>
          <a:noFill/>
          <a:ln/>
        </p:spPr>
        <p:txBody>
          <a:bodyPr wrap="square" lIns="0" tIns="0" rIns="0" bIns="0" rtlCol="0" anchor="ctr"/>
          <a:lstStyle/>
          <a:p>
            <a:pPr marL="0" indent="0">
              <a:buNone/>
            </a:pPr>
            <a:r>
              <a:rPr lang="en-US" sz="1300" b="1" dirty="0">
                <a:solidFill>
                  <a:srgbClr val="C6DBFF"/>
                </a:solidFill>
              </a:rPr>
              <a:t>Disease model: EGFR-focused non-small cell lung cancer case study</a:t>
            </a:r>
            <a:endParaRPr lang="en-US" sz="1300" dirty="0"/>
          </a:p>
        </p:txBody>
      </p:sp>
      <p:sp>
        <p:nvSpPr>
          <p:cNvPr id="6" name="Text 3"/>
          <p:cNvSpPr/>
          <p:nvPr/>
        </p:nvSpPr>
        <p:spPr>
          <a:xfrm>
            <a:off x="713232" y="4315968"/>
            <a:ext cx="4663440" cy="274320"/>
          </a:xfrm>
          <a:prstGeom prst="rect">
            <a:avLst/>
          </a:prstGeom>
          <a:noFill/>
          <a:ln/>
        </p:spPr>
        <p:txBody>
          <a:bodyPr wrap="square" lIns="0" tIns="0" rIns="0" bIns="0" rtlCol="0" anchor="ctr"/>
          <a:lstStyle/>
          <a:p>
            <a:pPr marL="0" indent="0">
              <a:buNone/>
            </a:pPr>
            <a:r>
              <a:rPr lang="en-US" sz="1500" b="1" dirty="0">
                <a:solidFill>
                  <a:srgbClr val="14B8A6"/>
                </a:solidFill>
              </a:rPr>
              <a:t>Target -&gt; Structure -&gt; Docking -&gt; ADMET -&gt; Lead selection</a:t>
            </a:r>
            <a:endParaRPr lang="en-US" sz="1500" dirty="0"/>
          </a:p>
        </p:txBody>
      </p:sp>
      <p:sp>
        <p:nvSpPr>
          <p:cNvPr id="7" name="Text 4"/>
          <p:cNvSpPr/>
          <p:nvPr/>
        </p:nvSpPr>
        <p:spPr>
          <a:xfrm>
            <a:off x="713232" y="5029200"/>
            <a:ext cx="1463040" cy="228600"/>
          </a:xfrm>
          <a:prstGeom prst="rect">
            <a:avLst/>
          </a:prstGeom>
          <a:solidFill>
            <a:srgbClr val="DDF7F3"/>
          </a:solidFill>
          <a:ln/>
        </p:spPr>
        <p:txBody>
          <a:bodyPr wrap="square" lIns="1016" tIns="1016" rIns="1016" bIns="1016" rtlCol="0" anchor="ctr"/>
          <a:lstStyle/>
          <a:p>
            <a:pPr marL="0" indent="0">
              <a:buNone/>
            </a:pPr>
            <a:r>
              <a:rPr lang="en-US" sz="1100" b="1" dirty="0">
                <a:solidFill>
                  <a:srgbClr val="0B1F3A"/>
                </a:solidFill>
              </a:rPr>
              <a:t>20-minute final deck</a:t>
            </a:r>
            <a:endParaRPr lang="en-US" sz="1100" dirty="0"/>
          </a:p>
        </p:txBody>
      </p:sp>
      <p:sp>
        <p:nvSpPr>
          <p:cNvPr id="8" name="Text 5"/>
          <p:cNvSpPr/>
          <p:nvPr/>
        </p:nvSpPr>
        <p:spPr>
          <a:xfrm>
            <a:off x="2313432" y="5029200"/>
            <a:ext cx="1417320" cy="228600"/>
          </a:xfrm>
          <a:prstGeom prst="rect">
            <a:avLst/>
          </a:prstGeom>
          <a:solidFill>
            <a:srgbClr val="EAF2FF"/>
          </a:solidFill>
          <a:ln/>
        </p:spPr>
        <p:txBody>
          <a:bodyPr wrap="square" lIns="1016" tIns="1016" rIns="1016" bIns="1016" rtlCol="0" anchor="ctr"/>
          <a:lstStyle/>
          <a:p>
            <a:pPr marL="0" indent="0">
              <a:buNone/>
            </a:pPr>
            <a:r>
              <a:rPr lang="en-US" sz="1100" b="1" dirty="0">
                <a:solidFill>
                  <a:srgbClr val="0B1F3A"/>
                </a:solidFill>
              </a:rPr>
              <a:t>Major project</a:t>
            </a:r>
            <a:endParaRPr lang="en-US" sz="1100" dirty="0"/>
          </a:p>
        </p:txBody>
      </p:sp>
      <p:sp>
        <p:nvSpPr>
          <p:cNvPr id="9" name="Text 6"/>
          <p:cNvSpPr/>
          <p:nvPr/>
        </p:nvSpPr>
        <p:spPr>
          <a:xfrm>
            <a:off x="713232" y="6108192"/>
            <a:ext cx="4663440" cy="201168"/>
          </a:xfrm>
          <a:prstGeom prst="rect">
            <a:avLst/>
          </a:prstGeom>
          <a:noFill/>
          <a:ln/>
        </p:spPr>
        <p:txBody>
          <a:bodyPr wrap="square" lIns="0" tIns="0" rIns="0" bIns="0" rtlCol="0" anchor="ctr"/>
          <a:lstStyle/>
          <a:p>
            <a:pPr marL="0" indent="0">
              <a:buNone/>
            </a:pPr>
            <a:r>
              <a:rPr lang="en-US" sz="950" dirty="0">
                <a:solidFill>
                  <a:srgbClr val="D7E5FF"/>
                </a:solidFill>
              </a:rPr>
              <a:t>Prepared from uploaded project guidelines, Session 10 planning notes, and course notes</a:t>
            </a:r>
            <a:endParaRPr lang="en-US" sz="9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6F8FB"/>
        </a:solidFill>
        <a:effectLst/>
      </p:bgPr>
    </p:bg>
    <p:spTree>
      <p:nvGrpSpPr>
        <p:cNvPr id="1" name=""/>
        <p:cNvGrpSpPr/>
        <p:nvPr/>
      </p:nvGrpSpPr>
      <p:grpSpPr>
        <a:xfrm>
          <a:off x="0" y="0"/>
          <a:ext cx="0" cy="0"/>
          <a:chOff x="0" y="0"/>
          <a:chExt cx="0" cy="0"/>
        </a:xfrm>
      </p:grpSpPr>
      <p:sp>
        <p:nvSpPr>
          <p:cNvPr id="2" name="Text 0"/>
          <p:cNvSpPr/>
          <p:nvPr/>
        </p:nvSpPr>
        <p:spPr>
          <a:xfrm>
            <a:off x="502920" y="146304"/>
            <a:ext cx="3200400" cy="164592"/>
          </a:xfrm>
          <a:prstGeom prst="rect">
            <a:avLst/>
          </a:prstGeom>
          <a:noFill/>
          <a:ln/>
        </p:spPr>
        <p:txBody>
          <a:bodyPr wrap="square" rtlCol="0" anchor="ctr"/>
          <a:lstStyle/>
          <a:p>
            <a:pPr marL="0" indent="0">
              <a:buNone/>
            </a:pPr>
            <a:r>
              <a:rPr lang="en-US" sz="1050" b="1" dirty="0">
                <a:solidFill>
                  <a:srgbClr val="14B8A6"/>
                </a:solidFill>
                <a:latin typeface="Aptos" pitchFamily="34" charset="0"/>
                <a:ea typeface="Aptos" pitchFamily="34" charset="-122"/>
                <a:cs typeface="Aptos" pitchFamily="34" charset="-120"/>
              </a:rPr>
              <a:t>Drug Discovery Pipeline</a:t>
            </a:r>
            <a:endParaRPr lang="en-US" sz="1050" dirty="0"/>
          </a:p>
        </p:txBody>
      </p:sp>
      <p:sp>
        <p:nvSpPr>
          <p:cNvPr id="3" name="Text 1"/>
          <p:cNvSpPr/>
          <p:nvPr/>
        </p:nvSpPr>
        <p:spPr>
          <a:xfrm>
            <a:off x="502920" y="384048"/>
            <a:ext cx="10972800" cy="347472"/>
          </a:xfrm>
          <a:prstGeom prst="rect">
            <a:avLst/>
          </a:prstGeom>
          <a:noFill/>
          <a:ln/>
        </p:spPr>
        <p:txBody>
          <a:bodyPr wrap="square" rtlCol="0" anchor="ctr"/>
          <a:lstStyle/>
          <a:p>
            <a:pPr marL="0" indent="0">
              <a:buNone/>
            </a:pPr>
            <a:r>
              <a:rPr lang="en-US" sz="2600" b="1" dirty="0">
                <a:solidFill>
                  <a:srgbClr val="0B1F3A"/>
                </a:solidFill>
                <a:latin typeface="Aptos Display" pitchFamily="34" charset="0"/>
                <a:ea typeface="Aptos Display" pitchFamily="34" charset="-122"/>
                <a:cs typeface="Aptos Display" pitchFamily="34" charset="-120"/>
              </a:rPr>
              <a:t>Why this project fits the major-project brief</a:t>
            </a:r>
            <a:endParaRPr lang="en-US" sz="2600" dirty="0"/>
          </a:p>
        </p:txBody>
      </p:sp>
      <p:sp>
        <p:nvSpPr>
          <p:cNvPr id="4" name="Shape 2"/>
          <p:cNvSpPr/>
          <p:nvPr/>
        </p:nvSpPr>
        <p:spPr>
          <a:xfrm>
            <a:off x="502920" y="850392"/>
            <a:ext cx="11064240" cy="0"/>
          </a:xfrm>
          <a:prstGeom prst="line">
            <a:avLst/>
          </a:prstGeom>
          <a:noFill/>
          <a:ln w="12700">
            <a:solidFill>
              <a:srgbClr val="D7DEE8"/>
            </a:solidFill>
            <a:prstDash val="solid"/>
          </a:ln>
        </p:spPr>
      </p:sp>
      <p:sp>
        <p:nvSpPr>
          <p:cNvPr id="5" name="Text 3"/>
          <p:cNvSpPr/>
          <p:nvPr/>
        </p:nvSpPr>
        <p:spPr>
          <a:xfrm>
            <a:off x="640080" y="1170432"/>
            <a:ext cx="6583680" cy="658368"/>
          </a:xfrm>
          <a:prstGeom prst="rect">
            <a:avLst/>
          </a:prstGeom>
          <a:noFill/>
          <a:ln/>
        </p:spPr>
        <p:txBody>
          <a:bodyPr wrap="square" lIns="0" tIns="0" rIns="0" bIns="0" rtlCol="0" anchor="ctr"/>
          <a:lstStyle/>
          <a:p>
            <a:pPr marL="0" indent="0">
              <a:buNone/>
            </a:pPr>
            <a:r>
              <a:rPr lang="en-US" sz="1800" dirty="0">
                <a:solidFill>
                  <a:srgbClr val="1F2937"/>
                </a:solidFill>
              </a:rPr>
              <a:t>The course expects a 4-week, team-based, end-to-end workflow with multiple integrated tools, a complete pipeline, a 15-25 page report, and a 20-minute presentation. This project satisfies that brief directly.</a:t>
            </a:r>
            <a:endParaRPr lang="en-US" sz="1800" dirty="0"/>
          </a:p>
        </p:txBody>
      </p:sp>
      <p:sp>
        <p:nvSpPr>
          <p:cNvPr id="6" name="Text 4"/>
          <p:cNvSpPr/>
          <p:nvPr/>
        </p:nvSpPr>
        <p:spPr>
          <a:xfrm>
            <a:off x="628308" y="2285999"/>
            <a:ext cx="5669280" cy="1645920"/>
          </a:xfrm>
          <a:prstGeom prst="rect">
            <a:avLst/>
          </a:prstGeom>
          <a:noFill/>
          <a:ln/>
        </p:spPr>
        <p:txBody>
          <a:bodyPr wrap="square" lIns="254" tIns="254" rIns="254" bIns="254" rtlCol="0" anchor="ctr"/>
          <a:lstStyle/>
          <a:p>
            <a:pPr marL="177800" indent="-177800">
              <a:buSzPct val="100000"/>
              <a:buChar char="•"/>
            </a:pPr>
            <a:r>
              <a:rPr lang="en-US" sz="2000" dirty="0">
                <a:solidFill>
                  <a:srgbClr val="1F2937"/>
                </a:solidFill>
              </a:rPr>
              <a:t>Phase 1: target identification and validation</a:t>
            </a:r>
            <a:endParaRPr lang="en-US" sz="2000" dirty="0"/>
          </a:p>
          <a:p>
            <a:pPr marL="177800" indent="-177800">
              <a:buSzPct val="100000"/>
              <a:buChar char="•"/>
            </a:pPr>
            <a:r>
              <a:rPr lang="en-US" sz="2000" dirty="0">
                <a:solidFill>
                  <a:srgbClr val="1F2937"/>
                </a:solidFill>
              </a:rPr>
              <a:t>Phase 2: structure acquisition and binding-site analysis</a:t>
            </a:r>
            <a:endParaRPr lang="en-US" sz="2000" dirty="0"/>
          </a:p>
          <a:p>
            <a:pPr marL="177800" indent="-177800">
              <a:buSzPct val="100000"/>
              <a:buChar char="•"/>
            </a:pPr>
            <a:r>
              <a:rPr lang="en-US" sz="2000" dirty="0">
                <a:solidFill>
                  <a:srgbClr val="1F2937"/>
                </a:solidFill>
              </a:rPr>
              <a:t>Phase 3: virtual screening, docking, and hit ranking</a:t>
            </a:r>
            <a:endParaRPr lang="en-US" sz="2000" dirty="0"/>
          </a:p>
          <a:p>
            <a:pPr marL="177800" indent="-177800">
              <a:buSzPct val="100000"/>
              <a:buChar char="•"/>
            </a:pPr>
            <a:r>
              <a:rPr lang="en-US" sz="2000" dirty="0">
                <a:solidFill>
                  <a:srgbClr val="1F2937"/>
                </a:solidFill>
              </a:rPr>
              <a:t>Phase 4: ADMET, integration, automation, and reporting</a:t>
            </a:r>
            <a:endParaRPr lang="en-US" sz="2000" dirty="0"/>
          </a:p>
        </p:txBody>
      </p:sp>
      <p:sp>
        <p:nvSpPr>
          <p:cNvPr id="7" name="Shape 5"/>
          <p:cNvSpPr/>
          <p:nvPr/>
        </p:nvSpPr>
        <p:spPr>
          <a:xfrm>
            <a:off x="7498080" y="1207008"/>
            <a:ext cx="3840480" cy="960120"/>
          </a:xfrm>
          <a:prstGeom prst="roundRect">
            <a:avLst/>
          </a:prstGeom>
          <a:solidFill>
            <a:srgbClr val="EAF2FF"/>
          </a:solidFill>
          <a:ln w="12700">
            <a:solidFill>
              <a:srgbClr val="C9D7F2"/>
            </a:solidFill>
            <a:prstDash val="solid"/>
          </a:ln>
        </p:spPr>
      </p:sp>
      <p:sp>
        <p:nvSpPr>
          <p:cNvPr id="8" name="Text 6"/>
          <p:cNvSpPr/>
          <p:nvPr/>
        </p:nvSpPr>
        <p:spPr>
          <a:xfrm>
            <a:off x="7754112" y="1426464"/>
            <a:ext cx="3291840" cy="548640"/>
          </a:xfrm>
          <a:prstGeom prst="rect">
            <a:avLst/>
          </a:prstGeom>
          <a:noFill/>
          <a:ln/>
        </p:spPr>
        <p:txBody>
          <a:bodyPr wrap="square" lIns="0" tIns="0" rIns="0" bIns="0" rtlCol="0" anchor="ctr"/>
          <a:lstStyle/>
          <a:p>
            <a:pPr marL="0" indent="0" algn="ctr">
              <a:buNone/>
            </a:pPr>
            <a:r>
              <a:rPr lang="en-US" sz="1700" b="1" dirty="0">
                <a:solidFill>
                  <a:srgbClr val="0B1F3A"/>
                </a:solidFill>
              </a:rPr>
              <a:t>Assessment focus</a:t>
            </a:r>
            <a:endParaRPr lang="en-US" sz="1700" dirty="0"/>
          </a:p>
          <a:p>
            <a:pPr marL="0" indent="0" algn="ctr">
              <a:buNone/>
            </a:pPr>
            <a:r>
              <a:rPr lang="en-US" sz="1700" b="1" dirty="0">
                <a:solidFill>
                  <a:srgbClr val="0B1F3A"/>
                </a:solidFill>
              </a:rPr>
              <a:t>Technical execution, scientific rigor, code quality, report, and presentation</a:t>
            </a:r>
            <a:endParaRPr lang="en-US" sz="1700" dirty="0"/>
          </a:p>
        </p:txBody>
      </p:sp>
      <p:sp>
        <p:nvSpPr>
          <p:cNvPr id="9" name="Shape 7"/>
          <p:cNvSpPr/>
          <p:nvPr/>
        </p:nvSpPr>
        <p:spPr>
          <a:xfrm>
            <a:off x="7269480" y="3035808"/>
            <a:ext cx="960120" cy="2148840"/>
          </a:xfrm>
          <a:prstGeom prst="chevron">
            <a:avLst/>
          </a:prstGeom>
          <a:solidFill>
            <a:srgbClr val="DDF7F3"/>
          </a:solidFill>
          <a:ln w="12700">
            <a:solidFill>
              <a:srgbClr val="BDD5F0"/>
            </a:solidFill>
            <a:prstDash val="solid"/>
          </a:ln>
        </p:spPr>
      </p:sp>
      <p:sp>
        <p:nvSpPr>
          <p:cNvPr id="10" name="Text 8"/>
          <p:cNvSpPr/>
          <p:nvPr/>
        </p:nvSpPr>
        <p:spPr>
          <a:xfrm>
            <a:off x="7388352" y="3273552"/>
            <a:ext cx="731520" cy="182880"/>
          </a:xfrm>
          <a:prstGeom prst="rect">
            <a:avLst/>
          </a:prstGeom>
          <a:noFill/>
          <a:ln/>
        </p:spPr>
        <p:txBody>
          <a:bodyPr wrap="square" rtlCol="0" anchor="ctr"/>
          <a:lstStyle/>
          <a:p>
            <a:pPr marL="0" indent="0" algn="ctr">
              <a:buNone/>
            </a:pPr>
            <a:r>
              <a:rPr lang="en-US" sz="1200" b="1" dirty="0">
                <a:solidFill>
                  <a:srgbClr val="0B1F3A"/>
                </a:solidFill>
              </a:rPr>
              <a:t>Week 1</a:t>
            </a:r>
            <a:endParaRPr lang="en-US" sz="1200" dirty="0"/>
          </a:p>
        </p:txBody>
      </p:sp>
      <p:sp>
        <p:nvSpPr>
          <p:cNvPr id="11" name="Text 9"/>
          <p:cNvSpPr/>
          <p:nvPr/>
        </p:nvSpPr>
        <p:spPr>
          <a:xfrm>
            <a:off x="7342632" y="3840480"/>
            <a:ext cx="804672" cy="731520"/>
          </a:xfrm>
          <a:prstGeom prst="rect">
            <a:avLst/>
          </a:prstGeom>
          <a:noFill/>
          <a:ln/>
        </p:spPr>
        <p:txBody>
          <a:bodyPr wrap="square" lIns="254" tIns="254" rIns="254" bIns="254" rtlCol="0" anchor="ctr"/>
          <a:lstStyle/>
          <a:p>
            <a:pPr marL="0" indent="0" algn="ctr">
              <a:buNone/>
            </a:pPr>
            <a:r>
              <a:rPr lang="en-US" sz="1500" b="1" dirty="0">
                <a:solidFill>
                  <a:srgbClr val="1F2937"/>
                </a:solidFill>
              </a:rPr>
              <a:t>Planning</a:t>
            </a:r>
            <a:endParaRPr lang="en-US" sz="1500" dirty="0"/>
          </a:p>
          <a:p>
            <a:pPr marL="0" indent="0" algn="ctr">
              <a:buNone/>
            </a:pPr>
            <a:r>
              <a:rPr lang="en-US" sz="1500" b="1" dirty="0">
                <a:solidFill>
                  <a:srgbClr val="1F2937"/>
                </a:solidFill>
              </a:rPr>
              <a:t>Target</a:t>
            </a:r>
            <a:endParaRPr lang="en-US" sz="1500" dirty="0"/>
          </a:p>
        </p:txBody>
      </p:sp>
      <p:sp>
        <p:nvSpPr>
          <p:cNvPr id="12" name="Shape 10"/>
          <p:cNvSpPr/>
          <p:nvPr/>
        </p:nvSpPr>
        <p:spPr>
          <a:xfrm>
            <a:off x="8412480" y="3035808"/>
            <a:ext cx="960120" cy="2148840"/>
          </a:xfrm>
          <a:prstGeom prst="chevron">
            <a:avLst/>
          </a:prstGeom>
          <a:solidFill>
            <a:srgbClr val="DDF7F3"/>
          </a:solidFill>
          <a:ln w="12700">
            <a:solidFill>
              <a:srgbClr val="BDD5F0"/>
            </a:solidFill>
            <a:prstDash val="solid"/>
          </a:ln>
        </p:spPr>
      </p:sp>
      <p:sp>
        <p:nvSpPr>
          <p:cNvPr id="13" name="Text 11"/>
          <p:cNvSpPr/>
          <p:nvPr/>
        </p:nvSpPr>
        <p:spPr>
          <a:xfrm>
            <a:off x="8531352" y="3273552"/>
            <a:ext cx="731520" cy="182880"/>
          </a:xfrm>
          <a:prstGeom prst="rect">
            <a:avLst/>
          </a:prstGeom>
          <a:noFill/>
          <a:ln/>
        </p:spPr>
        <p:txBody>
          <a:bodyPr wrap="square" rtlCol="0" anchor="ctr"/>
          <a:lstStyle/>
          <a:p>
            <a:pPr marL="0" indent="0" algn="ctr">
              <a:buNone/>
            </a:pPr>
            <a:r>
              <a:rPr lang="en-US" sz="1200" b="1" dirty="0">
                <a:solidFill>
                  <a:srgbClr val="0B1F3A"/>
                </a:solidFill>
              </a:rPr>
              <a:t>Week 2</a:t>
            </a:r>
            <a:endParaRPr lang="en-US" sz="1200" dirty="0"/>
          </a:p>
        </p:txBody>
      </p:sp>
      <p:sp>
        <p:nvSpPr>
          <p:cNvPr id="14" name="Text 12"/>
          <p:cNvSpPr/>
          <p:nvPr/>
        </p:nvSpPr>
        <p:spPr>
          <a:xfrm>
            <a:off x="8485632" y="3840480"/>
            <a:ext cx="804672" cy="731520"/>
          </a:xfrm>
          <a:prstGeom prst="rect">
            <a:avLst/>
          </a:prstGeom>
          <a:noFill/>
          <a:ln/>
        </p:spPr>
        <p:txBody>
          <a:bodyPr wrap="square" lIns="254" tIns="254" rIns="254" bIns="254" rtlCol="0" anchor="ctr"/>
          <a:lstStyle/>
          <a:p>
            <a:pPr marL="0" indent="0" algn="ctr">
              <a:buNone/>
            </a:pPr>
            <a:r>
              <a:rPr lang="en-US" sz="1500" b="1" dirty="0">
                <a:solidFill>
                  <a:srgbClr val="1F2937"/>
                </a:solidFill>
              </a:rPr>
              <a:t>Structure</a:t>
            </a:r>
            <a:endParaRPr lang="en-US" sz="1500" dirty="0"/>
          </a:p>
          <a:p>
            <a:pPr marL="0" indent="0" algn="ctr">
              <a:buNone/>
            </a:pPr>
            <a:r>
              <a:rPr lang="en-US" sz="1500" b="1" dirty="0">
                <a:solidFill>
                  <a:srgbClr val="1F2937"/>
                </a:solidFill>
              </a:rPr>
              <a:t>Setup</a:t>
            </a:r>
            <a:endParaRPr lang="en-US" sz="1500" dirty="0"/>
          </a:p>
        </p:txBody>
      </p:sp>
      <p:sp>
        <p:nvSpPr>
          <p:cNvPr id="15" name="Shape 13"/>
          <p:cNvSpPr/>
          <p:nvPr/>
        </p:nvSpPr>
        <p:spPr>
          <a:xfrm>
            <a:off x="9555480" y="3035808"/>
            <a:ext cx="960120" cy="2148840"/>
          </a:xfrm>
          <a:prstGeom prst="chevron">
            <a:avLst/>
          </a:prstGeom>
          <a:solidFill>
            <a:srgbClr val="EAF2FF"/>
          </a:solidFill>
          <a:ln w="12700">
            <a:solidFill>
              <a:srgbClr val="BDD5F0"/>
            </a:solidFill>
            <a:prstDash val="solid"/>
          </a:ln>
        </p:spPr>
      </p:sp>
      <p:sp>
        <p:nvSpPr>
          <p:cNvPr id="16" name="Text 14"/>
          <p:cNvSpPr/>
          <p:nvPr/>
        </p:nvSpPr>
        <p:spPr>
          <a:xfrm>
            <a:off x="9674352" y="3273552"/>
            <a:ext cx="731520" cy="182880"/>
          </a:xfrm>
          <a:prstGeom prst="rect">
            <a:avLst/>
          </a:prstGeom>
          <a:noFill/>
          <a:ln/>
        </p:spPr>
        <p:txBody>
          <a:bodyPr wrap="square" rtlCol="0" anchor="ctr"/>
          <a:lstStyle/>
          <a:p>
            <a:pPr marL="0" indent="0" algn="ctr">
              <a:buNone/>
            </a:pPr>
            <a:r>
              <a:rPr lang="en-US" sz="1200" b="1" dirty="0">
                <a:solidFill>
                  <a:srgbClr val="0B1F3A"/>
                </a:solidFill>
              </a:rPr>
              <a:t>Week 3</a:t>
            </a:r>
            <a:endParaRPr lang="en-US" sz="1200" dirty="0"/>
          </a:p>
        </p:txBody>
      </p:sp>
      <p:sp>
        <p:nvSpPr>
          <p:cNvPr id="17" name="Text 15"/>
          <p:cNvSpPr/>
          <p:nvPr/>
        </p:nvSpPr>
        <p:spPr>
          <a:xfrm>
            <a:off x="9628632" y="3840480"/>
            <a:ext cx="804672" cy="731520"/>
          </a:xfrm>
          <a:prstGeom prst="rect">
            <a:avLst/>
          </a:prstGeom>
          <a:noFill/>
          <a:ln/>
        </p:spPr>
        <p:txBody>
          <a:bodyPr wrap="square" lIns="254" tIns="254" rIns="254" bIns="254" rtlCol="0" anchor="ctr"/>
          <a:lstStyle/>
          <a:p>
            <a:pPr marL="0" indent="0" algn="ctr">
              <a:buNone/>
            </a:pPr>
            <a:r>
              <a:rPr lang="en-US" sz="1500" b="1" dirty="0">
                <a:solidFill>
                  <a:srgbClr val="1F2937"/>
                </a:solidFill>
              </a:rPr>
              <a:t>Docking</a:t>
            </a:r>
            <a:endParaRPr lang="en-US" sz="1500" dirty="0"/>
          </a:p>
          <a:p>
            <a:pPr marL="0" indent="0" algn="ctr">
              <a:buNone/>
            </a:pPr>
            <a:r>
              <a:rPr lang="en-US" sz="1500" b="1" dirty="0">
                <a:solidFill>
                  <a:srgbClr val="1F2937"/>
                </a:solidFill>
              </a:rPr>
              <a:t>Analysis</a:t>
            </a:r>
            <a:endParaRPr lang="en-US" sz="1500" dirty="0"/>
          </a:p>
        </p:txBody>
      </p:sp>
      <p:sp>
        <p:nvSpPr>
          <p:cNvPr id="18" name="Shape 16"/>
          <p:cNvSpPr/>
          <p:nvPr/>
        </p:nvSpPr>
        <p:spPr>
          <a:xfrm>
            <a:off x="10698480" y="3035808"/>
            <a:ext cx="960120" cy="2148840"/>
          </a:xfrm>
          <a:prstGeom prst="chevron">
            <a:avLst/>
          </a:prstGeom>
          <a:solidFill>
            <a:srgbClr val="EAF2FF"/>
          </a:solidFill>
          <a:ln w="12700">
            <a:solidFill>
              <a:srgbClr val="BDD5F0"/>
            </a:solidFill>
            <a:prstDash val="solid"/>
          </a:ln>
        </p:spPr>
      </p:sp>
      <p:sp>
        <p:nvSpPr>
          <p:cNvPr id="19" name="Text 17"/>
          <p:cNvSpPr/>
          <p:nvPr/>
        </p:nvSpPr>
        <p:spPr>
          <a:xfrm>
            <a:off x="10817352" y="3273552"/>
            <a:ext cx="731520" cy="182880"/>
          </a:xfrm>
          <a:prstGeom prst="rect">
            <a:avLst/>
          </a:prstGeom>
          <a:noFill/>
          <a:ln/>
        </p:spPr>
        <p:txBody>
          <a:bodyPr wrap="square" rtlCol="0" anchor="ctr"/>
          <a:lstStyle/>
          <a:p>
            <a:pPr marL="0" indent="0" algn="ctr">
              <a:buNone/>
            </a:pPr>
            <a:r>
              <a:rPr lang="en-US" sz="1200" b="1" dirty="0">
                <a:solidFill>
                  <a:srgbClr val="0B1F3A"/>
                </a:solidFill>
              </a:rPr>
              <a:t>Week 4</a:t>
            </a:r>
            <a:endParaRPr lang="en-US" sz="1200" dirty="0"/>
          </a:p>
        </p:txBody>
      </p:sp>
      <p:sp>
        <p:nvSpPr>
          <p:cNvPr id="20" name="Text 18"/>
          <p:cNvSpPr/>
          <p:nvPr/>
        </p:nvSpPr>
        <p:spPr>
          <a:xfrm>
            <a:off x="10771632" y="3840480"/>
            <a:ext cx="804672" cy="731520"/>
          </a:xfrm>
          <a:prstGeom prst="rect">
            <a:avLst/>
          </a:prstGeom>
          <a:noFill/>
          <a:ln/>
        </p:spPr>
        <p:txBody>
          <a:bodyPr wrap="square" lIns="254" tIns="254" rIns="254" bIns="254" rtlCol="0" anchor="ctr"/>
          <a:lstStyle/>
          <a:p>
            <a:pPr marL="0" indent="0" algn="ctr">
              <a:buNone/>
            </a:pPr>
            <a:r>
              <a:rPr lang="en-US" sz="1500" b="1" dirty="0">
                <a:solidFill>
                  <a:srgbClr val="1F2937"/>
                </a:solidFill>
              </a:rPr>
              <a:t>Report</a:t>
            </a:r>
            <a:endParaRPr lang="en-US" sz="1500" dirty="0"/>
          </a:p>
          <a:p>
            <a:pPr marL="0" indent="0" algn="ctr">
              <a:buNone/>
            </a:pPr>
            <a:r>
              <a:rPr lang="en-US" sz="1500" b="1" dirty="0">
                <a:solidFill>
                  <a:srgbClr val="1F2937"/>
                </a:solidFill>
              </a:rPr>
              <a:t>Presentation</a:t>
            </a:r>
            <a:endParaRPr lang="en-US" sz="1500" dirty="0"/>
          </a:p>
        </p:txBody>
      </p:sp>
      <p:sp>
        <p:nvSpPr>
          <p:cNvPr id="21" name="Shape 19"/>
          <p:cNvSpPr/>
          <p:nvPr/>
        </p:nvSpPr>
        <p:spPr>
          <a:xfrm>
            <a:off x="502920" y="6446520"/>
            <a:ext cx="11064240" cy="0"/>
          </a:xfrm>
          <a:prstGeom prst="line">
            <a:avLst/>
          </a:prstGeom>
          <a:noFill/>
          <a:ln w="12700">
            <a:solidFill>
              <a:srgbClr val="D7DEE8"/>
            </a:solidFill>
            <a:prstDash val="solid"/>
          </a:ln>
        </p:spPr>
      </p:sp>
      <p:sp>
        <p:nvSpPr>
          <p:cNvPr id="22" name="Text 20"/>
          <p:cNvSpPr/>
          <p:nvPr/>
        </p:nvSpPr>
        <p:spPr>
          <a:xfrm>
            <a:off x="502920" y="6473952"/>
            <a:ext cx="2560320" cy="182880"/>
          </a:xfrm>
          <a:prstGeom prst="rect">
            <a:avLst/>
          </a:prstGeom>
          <a:noFill/>
          <a:ln/>
        </p:spPr>
        <p:txBody>
          <a:bodyPr wrap="square" rtlCol="0" anchor="ctr"/>
          <a:lstStyle/>
          <a:p>
            <a:pPr marL="0" indent="0">
              <a:buNone/>
            </a:pPr>
            <a:r>
              <a:rPr lang="en-US" sz="900" dirty="0">
                <a:solidFill>
                  <a:srgbClr val="667085"/>
                </a:solidFill>
              </a:rPr>
              <a:t>Major Project | Bioinformatics</a:t>
            </a:r>
            <a:endParaRPr lang="en-US" sz="900" dirty="0"/>
          </a:p>
        </p:txBody>
      </p:sp>
      <p:sp>
        <p:nvSpPr>
          <p:cNvPr id="23" name="Text 21"/>
          <p:cNvSpPr/>
          <p:nvPr/>
        </p:nvSpPr>
        <p:spPr>
          <a:xfrm>
            <a:off x="11155680" y="6455664"/>
            <a:ext cx="365760" cy="182880"/>
          </a:xfrm>
          <a:prstGeom prst="rect">
            <a:avLst/>
          </a:prstGeom>
          <a:noFill/>
          <a:ln/>
        </p:spPr>
        <p:txBody>
          <a:bodyPr wrap="square" rtlCol="0" anchor="ctr"/>
          <a:lstStyle/>
          <a:p>
            <a:pPr marL="0" indent="0" algn="r">
              <a:buNone/>
            </a:pPr>
            <a:r>
              <a:rPr lang="en-US" sz="900" dirty="0">
                <a:solidFill>
                  <a:srgbClr val="667085"/>
                </a:solidFill>
              </a:rPr>
              <a:t>2</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02920" y="146304"/>
            <a:ext cx="3200400" cy="164592"/>
          </a:xfrm>
          <a:prstGeom prst="rect">
            <a:avLst/>
          </a:prstGeom>
          <a:noFill/>
          <a:ln/>
        </p:spPr>
        <p:txBody>
          <a:bodyPr wrap="square" rtlCol="0" anchor="ctr"/>
          <a:lstStyle/>
          <a:p>
            <a:pPr marL="0" indent="0">
              <a:buNone/>
            </a:pPr>
            <a:r>
              <a:rPr lang="en-US" sz="1050" b="1" dirty="0">
                <a:solidFill>
                  <a:srgbClr val="14B8A6"/>
                </a:solidFill>
                <a:latin typeface="Aptos" pitchFamily="34" charset="0"/>
                <a:ea typeface="Aptos" pitchFamily="34" charset="-122"/>
                <a:cs typeface="Aptos" pitchFamily="34" charset="-120"/>
              </a:rPr>
              <a:t>Drug Discovery Pipeline</a:t>
            </a:r>
            <a:endParaRPr lang="en-US" sz="1050" dirty="0"/>
          </a:p>
        </p:txBody>
      </p:sp>
      <p:sp>
        <p:nvSpPr>
          <p:cNvPr id="3" name="Text 1"/>
          <p:cNvSpPr/>
          <p:nvPr/>
        </p:nvSpPr>
        <p:spPr>
          <a:xfrm>
            <a:off x="502920" y="384048"/>
            <a:ext cx="10972800" cy="347472"/>
          </a:xfrm>
          <a:prstGeom prst="rect">
            <a:avLst/>
          </a:prstGeom>
          <a:noFill/>
          <a:ln/>
        </p:spPr>
        <p:txBody>
          <a:bodyPr wrap="square" rtlCol="0" anchor="ctr"/>
          <a:lstStyle/>
          <a:p>
            <a:pPr marL="0" indent="0">
              <a:buNone/>
            </a:pPr>
            <a:r>
              <a:rPr lang="en-US" sz="2600" b="1" dirty="0">
                <a:solidFill>
                  <a:srgbClr val="0B1F3A"/>
                </a:solidFill>
                <a:latin typeface="Aptos Display" pitchFamily="34" charset="0"/>
                <a:ea typeface="Aptos Display" pitchFamily="34" charset="-122"/>
                <a:cs typeface="Aptos Display" pitchFamily="34" charset="-120"/>
              </a:rPr>
              <a:t>Problem statement and project objectives</a:t>
            </a:r>
            <a:endParaRPr lang="en-US" sz="2600" dirty="0"/>
          </a:p>
        </p:txBody>
      </p:sp>
      <p:sp>
        <p:nvSpPr>
          <p:cNvPr id="4" name="Shape 2"/>
          <p:cNvSpPr/>
          <p:nvPr/>
        </p:nvSpPr>
        <p:spPr>
          <a:xfrm>
            <a:off x="502920" y="850392"/>
            <a:ext cx="11064240" cy="0"/>
          </a:xfrm>
          <a:prstGeom prst="line">
            <a:avLst/>
          </a:prstGeom>
          <a:noFill/>
          <a:ln w="12700">
            <a:solidFill>
              <a:srgbClr val="D7DEE8"/>
            </a:solidFill>
            <a:prstDash val="solid"/>
          </a:ln>
        </p:spPr>
      </p:sp>
      <p:sp>
        <p:nvSpPr>
          <p:cNvPr id="5" name="Text 3"/>
          <p:cNvSpPr/>
          <p:nvPr/>
        </p:nvSpPr>
        <p:spPr>
          <a:xfrm>
            <a:off x="658368" y="1143000"/>
            <a:ext cx="2286000" cy="228600"/>
          </a:xfrm>
          <a:prstGeom prst="rect">
            <a:avLst/>
          </a:prstGeom>
          <a:noFill/>
          <a:ln/>
        </p:spPr>
        <p:txBody>
          <a:bodyPr wrap="square" rtlCol="0" anchor="ctr"/>
          <a:lstStyle/>
          <a:p>
            <a:pPr marL="0" indent="0">
              <a:buNone/>
            </a:pPr>
            <a:r>
              <a:rPr lang="en-US" sz="2000" b="1" dirty="0">
                <a:solidFill>
                  <a:srgbClr val="14B8A6"/>
                </a:solidFill>
              </a:rPr>
              <a:t>Problem statement</a:t>
            </a:r>
            <a:endParaRPr lang="en-US" sz="2000" dirty="0"/>
          </a:p>
        </p:txBody>
      </p:sp>
      <p:sp>
        <p:nvSpPr>
          <p:cNvPr id="6" name="Text 4"/>
          <p:cNvSpPr/>
          <p:nvPr/>
        </p:nvSpPr>
        <p:spPr>
          <a:xfrm>
            <a:off x="640080" y="1611866"/>
            <a:ext cx="4892040" cy="1600200"/>
          </a:xfrm>
          <a:prstGeom prst="rect">
            <a:avLst/>
          </a:prstGeom>
          <a:noFill/>
          <a:ln/>
        </p:spPr>
        <p:txBody>
          <a:bodyPr wrap="square" lIns="0" tIns="0" rIns="0" bIns="0" rtlCol="0" anchor="ctr"/>
          <a:lstStyle/>
          <a:p>
            <a:pPr marL="0" indent="0">
              <a:buNone/>
            </a:pPr>
            <a:r>
              <a:rPr lang="en-US" sz="1900" dirty="0">
                <a:solidFill>
                  <a:srgbClr val="1F2937"/>
                </a:solidFill>
              </a:rPr>
              <a:t>Traditional drug discovery is slow and expensive. We need a reproducible computational workflow that can move from disease biology to virtual screening, docking, ADMET review, and evidence-based lead selection for a tractable protein target.</a:t>
            </a:r>
            <a:endParaRPr lang="en-US" sz="1900" dirty="0"/>
          </a:p>
        </p:txBody>
      </p:sp>
      <p:sp>
        <p:nvSpPr>
          <p:cNvPr id="7" name="Shape 5"/>
          <p:cNvSpPr/>
          <p:nvPr/>
        </p:nvSpPr>
        <p:spPr>
          <a:xfrm>
            <a:off x="640080" y="3291840"/>
            <a:ext cx="4892040" cy="2194560"/>
          </a:xfrm>
          <a:prstGeom prst="roundRect">
            <a:avLst/>
          </a:prstGeom>
          <a:solidFill>
            <a:srgbClr val="F7FBFF"/>
          </a:solidFill>
          <a:ln w="12700">
            <a:solidFill>
              <a:srgbClr val="D8E3F2"/>
            </a:solidFill>
            <a:prstDash val="solid"/>
          </a:ln>
        </p:spPr>
      </p:sp>
      <p:sp>
        <p:nvSpPr>
          <p:cNvPr id="8" name="Text 6"/>
          <p:cNvSpPr/>
          <p:nvPr/>
        </p:nvSpPr>
        <p:spPr>
          <a:xfrm>
            <a:off x="868680" y="3611880"/>
            <a:ext cx="4389120" cy="1417320"/>
          </a:xfrm>
          <a:prstGeom prst="rect">
            <a:avLst/>
          </a:prstGeom>
          <a:noFill/>
          <a:ln/>
        </p:spPr>
        <p:txBody>
          <a:bodyPr wrap="square" lIns="254" tIns="254" rIns="254" bIns="254" rtlCol="0" anchor="ctr"/>
          <a:lstStyle/>
          <a:p>
            <a:pPr marL="0" indent="0">
              <a:buNone/>
            </a:pPr>
            <a:r>
              <a:rPr lang="en-US" sz="1800" dirty="0">
                <a:solidFill>
                  <a:srgbClr val="0B1F3A"/>
                </a:solidFill>
              </a:rPr>
              <a:t>Case study used here</a:t>
            </a:r>
            <a:endParaRPr lang="en-US" sz="1800" dirty="0"/>
          </a:p>
          <a:p>
            <a:pPr marL="0" indent="0">
              <a:buNone/>
            </a:pPr>
            <a:r>
              <a:rPr lang="en-US" sz="1800" dirty="0">
                <a:solidFill>
                  <a:srgbClr val="0B1F3A"/>
                </a:solidFill>
              </a:rPr>
              <a:t>• Disease: non-small cell lung cancer</a:t>
            </a:r>
            <a:endParaRPr lang="en-US" sz="1800" dirty="0"/>
          </a:p>
          <a:p>
            <a:pPr marL="0" indent="0">
              <a:buNone/>
            </a:pPr>
            <a:r>
              <a:rPr lang="en-US" sz="1800" dirty="0">
                <a:solidFill>
                  <a:srgbClr val="0B1F3A"/>
                </a:solidFill>
              </a:rPr>
              <a:t>• Target: EGFR kinase domain</a:t>
            </a:r>
            <a:endParaRPr lang="en-US" sz="1800" dirty="0"/>
          </a:p>
          <a:p>
            <a:pPr marL="0" indent="0">
              <a:buNone/>
            </a:pPr>
            <a:r>
              <a:rPr lang="en-US" sz="1800" dirty="0">
                <a:solidFill>
                  <a:srgbClr val="0B1F3A"/>
                </a:solidFill>
              </a:rPr>
              <a:t>• Rationale: clinically relevant, mutation-rich, druggable ATP pocket</a:t>
            </a:r>
            <a:endParaRPr lang="en-US" sz="1800" dirty="0"/>
          </a:p>
        </p:txBody>
      </p:sp>
      <p:sp>
        <p:nvSpPr>
          <p:cNvPr id="9" name="Text 7"/>
          <p:cNvSpPr/>
          <p:nvPr/>
        </p:nvSpPr>
        <p:spPr>
          <a:xfrm>
            <a:off x="5989320" y="1143000"/>
            <a:ext cx="1828800" cy="228600"/>
          </a:xfrm>
          <a:prstGeom prst="rect">
            <a:avLst/>
          </a:prstGeom>
          <a:noFill/>
          <a:ln/>
        </p:spPr>
        <p:txBody>
          <a:bodyPr wrap="square" rtlCol="0" anchor="ctr"/>
          <a:lstStyle/>
          <a:p>
            <a:pPr marL="0" indent="0">
              <a:buNone/>
            </a:pPr>
            <a:r>
              <a:rPr lang="en-US" sz="2000" b="1" dirty="0">
                <a:solidFill>
                  <a:srgbClr val="14B8A6"/>
                </a:solidFill>
              </a:rPr>
              <a:t>Objectives</a:t>
            </a:r>
            <a:endParaRPr lang="en-US" sz="2000" dirty="0"/>
          </a:p>
        </p:txBody>
      </p:sp>
      <p:sp>
        <p:nvSpPr>
          <p:cNvPr id="10" name="Shape 8"/>
          <p:cNvSpPr/>
          <p:nvPr/>
        </p:nvSpPr>
        <p:spPr>
          <a:xfrm>
            <a:off x="6016752" y="1527048"/>
            <a:ext cx="347472" cy="347472"/>
          </a:xfrm>
          <a:prstGeom prst="ellipse">
            <a:avLst/>
          </a:prstGeom>
          <a:solidFill>
            <a:srgbClr val="0B1F3A"/>
          </a:solidFill>
          <a:ln w="12700">
            <a:solidFill>
              <a:srgbClr val="0B1F3A"/>
            </a:solidFill>
            <a:prstDash val="solid"/>
          </a:ln>
        </p:spPr>
      </p:sp>
      <p:sp>
        <p:nvSpPr>
          <p:cNvPr id="11" name="Text 9"/>
          <p:cNvSpPr/>
          <p:nvPr/>
        </p:nvSpPr>
        <p:spPr>
          <a:xfrm>
            <a:off x="6103620" y="1581912"/>
            <a:ext cx="164592" cy="137160"/>
          </a:xfrm>
          <a:prstGeom prst="rect">
            <a:avLst/>
          </a:prstGeom>
          <a:noFill/>
          <a:ln/>
        </p:spPr>
        <p:txBody>
          <a:bodyPr wrap="square" rtlCol="0" anchor="ctr"/>
          <a:lstStyle/>
          <a:p>
            <a:pPr marL="0" indent="0" algn="ctr">
              <a:buNone/>
            </a:pPr>
            <a:r>
              <a:rPr lang="en-US" sz="1050" b="1" dirty="0">
                <a:solidFill>
                  <a:srgbClr val="FFFFFF"/>
                </a:solidFill>
              </a:rPr>
              <a:t>1</a:t>
            </a:r>
            <a:endParaRPr lang="en-US" sz="1050" dirty="0"/>
          </a:p>
        </p:txBody>
      </p:sp>
      <p:sp>
        <p:nvSpPr>
          <p:cNvPr id="12" name="Text 10"/>
          <p:cNvSpPr/>
          <p:nvPr/>
        </p:nvSpPr>
        <p:spPr>
          <a:xfrm>
            <a:off x="6473952" y="1508760"/>
            <a:ext cx="4617720" cy="502920"/>
          </a:xfrm>
          <a:prstGeom prst="rect">
            <a:avLst/>
          </a:prstGeom>
          <a:noFill/>
          <a:ln/>
        </p:spPr>
        <p:txBody>
          <a:bodyPr wrap="square" lIns="127" tIns="127" rIns="127" bIns="127" rtlCol="0" anchor="ctr"/>
          <a:lstStyle/>
          <a:p>
            <a:pPr marL="0" indent="0">
              <a:buNone/>
            </a:pPr>
            <a:r>
              <a:rPr lang="en-US" sz="1800" dirty="0">
                <a:solidFill>
                  <a:srgbClr val="1F2937"/>
                </a:solidFill>
              </a:rPr>
              <a:t>Select and justify a disease-associated target using literature and database evidence.</a:t>
            </a:r>
            <a:endParaRPr lang="en-US" sz="1800" dirty="0"/>
          </a:p>
        </p:txBody>
      </p:sp>
      <p:sp>
        <p:nvSpPr>
          <p:cNvPr id="13" name="Shape 11"/>
          <p:cNvSpPr/>
          <p:nvPr/>
        </p:nvSpPr>
        <p:spPr>
          <a:xfrm>
            <a:off x="6016752" y="2304288"/>
            <a:ext cx="347472" cy="347472"/>
          </a:xfrm>
          <a:prstGeom prst="ellipse">
            <a:avLst/>
          </a:prstGeom>
          <a:solidFill>
            <a:srgbClr val="0B1F3A"/>
          </a:solidFill>
          <a:ln w="12700">
            <a:solidFill>
              <a:srgbClr val="0B1F3A"/>
            </a:solidFill>
            <a:prstDash val="solid"/>
          </a:ln>
        </p:spPr>
      </p:sp>
      <p:sp>
        <p:nvSpPr>
          <p:cNvPr id="14" name="Text 12"/>
          <p:cNvSpPr/>
          <p:nvPr/>
        </p:nvSpPr>
        <p:spPr>
          <a:xfrm>
            <a:off x="6103620" y="2359152"/>
            <a:ext cx="164592" cy="137160"/>
          </a:xfrm>
          <a:prstGeom prst="rect">
            <a:avLst/>
          </a:prstGeom>
          <a:noFill/>
          <a:ln/>
        </p:spPr>
        <p:txBody>
          <a:bodyPr wrap="square" rtlCol="0" anchor="ctr"/>
          <a:lstStyle/>
          <a:p>
            <a:pPr marL="0" indent="0" algn="ctr">
              <a:buNone/>
            </a:pPr>
            <a:r>
              <a:rPr lang="en-US" sz="1050" b="1" dirty="0">
                <a:solidFill>
                  <a:srgbClr val="FFFFFF"/>
                </a:solidFill>
              </a:rPr>
              <a:t>2</a:t>
            </a:r>
            <a:endParaRPr lang="en-US" sz="1050" dirty="0"/>
          </a:p>
        </p:txBody>
      </p:sp>
      <p:sp>
        <p:nvSpPr>
          <p:cNvPr id="15" name="Text 13"/>
          <p:cNvSpPr/>
          <p:nvPr/>
        </p:nvSpPr>
        <p:spPr>
          <a:xfrm>
            <a:off x="6473952" y="2286000"/>
            <a:ext cx="4617720" cy="502920"/>
          </a:xfrm>
          <a:prstGeom prst="rect">
            <a:avLst/>
          </a:prstGeom>
          <a:noFill/>
          <a:ln/>
        </p:spPr>
        <p:txBody>
          <a:bodyPr wrap="square" lIns="127" tIns="127" rIns="127" bIns="127" rtlCol="0" anchor="ctr"/>
          <a:lstStyle/>
          <a:p>
            <a:pPr marL="0" indent="0">
              <a:buNone/>
            </a:pPr>
            <a:r>
              <a:rPr lang="en-US" sz="1800" dirty="0">
                <a:solidFill>
                  <a:srgbClr val="1F2937"/>
                </a:solidFill>
              </a:rPr>
              <a:t>Acquire or model the structure and define the binding pocket.</a:t>
            </a:r>
            <a:endParaRPr lang="en-US" sz="1800" dirty="0"/>
          </a:p>
        </p:txBody>
      </p:sp>
      <p:sp>
        <p:nvSpPr>
          <p:cNvPr id="16" name="Shape 14"/>
          <p:cNvSpPr/>
          <p:nvPr/>
        </p:nvSpPr>
        <p:spPr>
          <a:xfrm>
            <a:off x="6016752" y="3081528"/>
            <a:ext cx="347472" cy="347472"/>
          </a:xfrm>
          <a:prstGeom prst="ellipse">
            <a:avLst/>
          </a:prstGeom>
          <a:solidFill>
            <a:srgbClr val="0B1F3A"/>
          </a:solidFill>
          <a:ln w="12700">
            <a:solidFill>
              <a:srgbClr val="0B1F3A"/>
            </a:solidFill>
            <a:prstDash val="solid"/>
          </a:ln>
        </p:spPr>
      </p:sp>
      <p:sp>
        <p:nvSpPr>
          <p:cNvPr id="17" name="Text 15"/>
          <p:cNvSpPr/>
          <p:nvPr/>
        </p:nvSpPr>
        <p:spPr>
          <a:xfrm>
            <a:off x="6103620" y="3136392"/>
            <a:ext cx="164592" cy="137160"/>
          </a:xfrm>
          <a:prstGeom prst="rect">
            <a:avLst/>
          </a:prstGeom>
          <a:noFill/>
          <a:ln/>
        </p:spPr>
        <p:txBody>
          <a:bodyPr wrap="square" rtlCol="0" anchor="ctr"/>
          <a:lstStyle/>
          <a:p>
            <a:pPr marL="0" indent="0" algn="ctr">
              <a:buNone/>
            </a:pPr>
            <a:r>
              <a:rPr lang="en-US" sz="1050" b="1" dirty="0">
                <a:solidFill>
                  <a:srgbClr val="FFFFFF"/>
                </a:solidFill>
              </a:rPr>
              <a:t>3</a:t>
            </a:r>
            <a:endParaRPr lang="en-US" sz="1050" dirty="0"/>
          </a:p>
        </p:txBody>
      </p:sp>
      <p:sp>
        <p:nvSpPr>
          <p:cNvPr id="18" name="Text 16"/>
          <p:cNvSpPr/>
          <p:nvPr/>
        </p:nvSpPr>
        <p:spPr>
          <a:xfrm>
            <a:off x="6473952" y="3063240"/>
            <a:ext cx="4617720" cy="502920"/>
          </a:xfrm>
          <a:prstGeom prst="rect">
            <a:avLst/>
          </a:prstGeom>
          <a:noFill/>
          <a:ln/>
        </p:spPr>
        <p:txBody>
          <a:bodyPr wrap="square" lIns="127" tIns="127" rIns="127" bIns="127" rtlCol="0" anchor="ctr"/>
          <a:lstStyle/>
          <a:p>
            <a:pPr marL="0" indent="0">
              <a:buNone/>
            </a:pPr>
            <a:r>
              <a:rPr lang="en-US" sz="1800" dirty="0">
                <a:solidFill>
                  <a:srgbClr val="1F2937"/>
                </a:solidFill>
              </a:rPr>
              <a:t>Prepare a ligand set and perform docking with AutoDock Vina or PyRx.</a:t>
            </a:r>
            <a:endParaRPr lang="en-US" sz="1800" dirty="0"/>
          </a:p>
        </p:txBody>
      </p:sp>
      <p:sp>
        <p:nvSpPr>
          <p:cNvPr id="19" name="Shape 17"/>
          <p:cNvSpPr/>
          <p:nvPr/>
        </p:nvSpPr>
        <p:spPr>
          <a:xfrm>
            <a:off x="6016752" y="3858768"/>
            <a:ext cx="347472" cy="347472"/>
          </a:xfrm>
          <a:prstGeom prst="ellipse">
            <a:avLst/>
          </a:prstGeom>
          <a:solidFill>
            <a:srgbClr val="0B1F3A"/>
          </a:solidFill>
          <a:ln w="12700">
            <a:solidFill>
              <a:srgbClr val="0B1F3A"/>
            </a:solidFill>
            <a:prstDash val="solid"/>
          </a:ln>
        </p:spPr>
      </p:sp>
      <p:sp>
        <p:nvSpPr>
          <p:cNvPr id="20" name="Text 18"/>
          <p:cNvSpPr/>
          <p:nvPr/>
        </p:nvSpPr>
        <p:spPr>
          <a:xfrm>
            <a:off x="6103620" y="3913632"/>
            <a:ext cx="164592" cy="137160"/>
          </a:xfrm>
          <a:prstGeom prst="rect">
            <a:avLst/>
          </a:prstGeom>
          <a:noFill/>
          <a:ln/>
        </p:spPr>
        <p:txBody>
          <a:bodyPr wrap="square" rtlCol="0" anchor="ctr"/>
          <a:lstStyle/>
          <a:p>
            <a:pPr marL="0" indent="0" algn="ctr">
              <a:buNone/>
            </a:pPr>
            <a:r>
              <a:rPr lang="en-US" sz="1050" b="1" dirty="0">
                <a:solidFill>
                  <a:srgbClr val="FFFFFF"/>
                </a:solidFill>
              </a:rPr>
              <a:t>4</a:t>
            </a:r>
            <a:endParaRPr lang="en-US" sz="1050" dirty="0"/>
          </a:p>
        </p:txBody>
      </p:sp>
      <p:sp>
        <p:nvSpPr>
          <p:cNvPr id="21" name="Text 19"/>
          <p:cNvSpPr/>
          <p:nvPr/>
        </p:nvSpPr>
        <p:spPr>
          <a:xfrm>
            <a:off x="6473952" y="3840480"/>
            <a:ext cx="4617720" cy="502920"/>
          </a:xfrm>
          <a:prstGeom prst="rect">
            <a:avLst/>
          </a:prstGeom>
          <a:noFill/>
          <a:ln/>
        </p:spPr>
        <p:txBody>
          <a:bodyPr wrap="square" lIns="127" tIns="127" rIns="127" bIns="127" rtlCol="0" anchor="ctr"/>
          <a:lstStyle/>
          <a:p>
            <a:pPr marL="0" indent="0">
              <a:buNone/>
            </a:pPr>
            <a:r>
              <a:rPr lang="en-US" sz="1800" dirty="0">
                <a:solidFill>
                  <a:srgbClr val="1F2937"/>
                </a:solidFill>
              </a:rPr>
              <a:t>Parse, rank, and visualize docking results in Python.</a:t>
            </a:r>
            <a:endParaRPr lang="en-US" sz="1800" dirty="0"/>
          </a:p>
        </p:txBody>
      </p:sp>
      <p:sp>
        <p:nvSpPr>
          <p:cNvPr id="22" name="Shape 20"/>
          <p:cNvSpPr/>
          <p:nvPr/>
        </p:nvSpPr>
        <p:spPr>
          <a:xfrm>
            <a:off x="6016752" y="4636008"/>
            <a:ext cx="347472" cy="347472"/>
          </a:xfrm>
          <a:prstGeom prst="ellipse">
            <a:avLst/>
          </a:prstGeom>
          <a:solidFill>
            <a:srgbClr val="F59E0B"/>
          </a:solidFill>
          <a:ln w="12700">
            <a:solidFill>
              <a:srgbClr val="F59E0B"/>
            </a:solidFill>
            <a:prstDash val="solid"/>
          </a:ln>
        </p:spPr>
      </p:sp>
      <p:sp>
        <p:nvSpPr>
          <p:cNvPr id="23" name="Text 21"/>
          <p:cNvSpPr/>
          <p:nvPr/>
        </p:nvSpPr>
        <p:spPr>
          <a:xfrm>
            <a:off x="6103620" y="4690872"/>
            <a:ext cx="164592" cy="137160"/>
          </a:xfrm>
          <a:prstGeom prst="rect">
            <a:avLst/>
          </a:prstGeom>
          <a:noFill/>
          <a:ln/>
        </p:spPr>
        <p:txBody>
          <a:bodyPr wrap="square" rtlCol="0" anchor="ctr"/>
          <a:lstStyle/>
          <a:p>
            <a:pPr marL="0" indent="0" algn="ctr">
              <a:buNone/>
            </a:pPr>
            <a:r>
              <a:rPr lang="en-US" sz="1050" b="1" dirty="0">
                <a:solidFill>
                  <a:srgbClr val="FFFFFF"/>
                </a:solidFill>
              </a:rPr>
              <a:t>5</a:t>
            </a:r>
            <a:endParaRPr lang="en-US" sz="1050" dirty="0"/>
          </a:p>
        </p:txBody>
      </p:sp>
      <p:sp>
        <p:nvSpPr>
          <p:cNvPr id="24" name="Text 22"/>
          <p:cNvSpPr/>
          <p:nvPr/>
        </p:nvSpPr>
        <p:spPr>
          <a:xfrm>
            <a:off x="6473952" y="4617720"/>
            <a:ext cx="4617720" cy="502920"/>
          </a:xfrm>
          <a:prstGeom prst="rect">
            <a:avLst/>
          </a:prstGeom>
          <a:noFill/>
          <a:ln/>
        </p:spPr>
        <p:txBody>
          <a:bodyPr wrap="square" lIns="127" tIns="127" rIns="127" bIns="127" rtlCol="0" anchor="ctr"/>
          <a:lstStyle/>
          <a:p>
            <a:pPr marL="0" indent="0">
              <a:buNone/>
            </a:pPr>
            <a:r>
              <a:rPr lang="en-US" sz="1800" dirty="0">
                <a:solidFill>
                  <a:srgbClr val="1F2937"/>
                </a:solidFill>
              </a:rPr>
              <a:t>Filter top hits with ADMET logic and propose next experimental steps.</a:t>
            </a:r>
            <a:endParaRPr lang="en-US" sz="1800" dirty="0"/>
          </a:p>
        </p:txBody>
      </p:sp>
      <p:sp>
        <p:nvSpPr>
          <p:cNvPr id="25" name="Shape 23"/>
          <p:cNvSpPr/>
          <p:nvPr/>
        </p:nvSpPr>
        <p:spPr>
          <a:xfrm>
            <a:off x="502920" y="6446520"/>
            <a:ext cx="11064240" cy="0"/>
          </a:xfrm>
          <a:prstGeom prst="line">
            <a:avLst/>
          </a:prstGeom>
          <a:noFill/>
          <a:ln w="12700">
            <a:solidFill>
              <a:srgbClr val="D7DEE8"/>
            </a:solidFill>
            <a:prstDash val="solid"/>
          </a:ln>
        </p:spPr>
      </p:sp>
      <p:sp>
        <p:nvSpPr>
          <p:cNvPr id="26" name="Text 24"/>
          <p:cNvSpPr/>
          <p:nvPr/>
        </p:nvSpPr>
        <p:spPr>
          <a:xfrm>
            <a:off x="502920" y="6473952"/>
            <a:ext cx="2560320" cy="182880"/>
          </a:xfrm>
          <a:prstGeom prst="rect">
            <a:avLst/>
          </a:prstGeom>
          <a:noFill/>
          <a:ln/>
        </p:spPr>
        <p:txBody>
          <a:bodyPr wrap="square" rtlCol="0" anchor="ctr"/>
          <a:lstStyle/>
          <a:p>
            <a:pPr marL="0" indent="0">
              <a:buNone/>
            </a:pPr>
            <a:r>
              <a:rPr lang="en-US" sz="900" dirty="0">
                <a:solidFill>
                  <a:srgbClr val="667085"/>
                </a:solidFill>
              </a:rPr>
              <a:t>Major Project | Bioinformatics</a:t>
            </a:r>
            <a:endParaRPr lang="en-US" sz="900" dirty="0"/>
          </a:p>
        </p:txBody>
      </p:sp>
      <p:sp>
        <p:nvSpPr>
          <p:cNvPr id="27" name="Text 25"/>
          <p:cNvSpPr/>
          <p:nvPr/>
        </p:nvSpPr>
        <p:spPr>
          <a:xfrm>
            <a:off x="11155680" y="6455664"/>
            <a:ext cx="365760" cy="182880"/>
          </a:xfrm>
          <a:prstGeom prst="rect">
            <a:avLst/>
          </a:prstGeom>
          <a:noFill/>
          <a:ln/>
        </p:spPr>
        <p:txBody>
          <a:bodyPr wrap="square" rtlCol="0" anchor="ctr"/>
          <a:lstStyle/>
          <a:p>
            <a:pPr marL="0" indent="0" algn="r">
              <a:buNone/>
            </a:pPr>
            <a:r>
              <a:rPr lang="en-US" sz="900" dirty="0">
                <a:solidFill>
                  <a:srgbClr val="667085"/>
                </a:solidFill>
              </a:rPr>
              <a:t>3</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6F8FB"/>
        </a:solidFill>
        <a:effectLst/>
      </p:bgPr>
    </p:bg>
    <p:spTree>
      <p:nvGrpSpPr>
        <p:cNvPr id="1" name=""/>
        <p:cNvGrpSpPr/>
        <p:nvPr/>
      </p:nvGrpSpPr>
      <p:grpSpPr>
        <a:xfrm>
          <a:off x="0" y="0"/>
          <a:ext cx="0" cy="0"/>
          <a:chOff x="0" y="0"/>
          <a:chExt cx="0" cy="0"/>
        </a:xfrm>
      </p:grpSpPr>
      <p:sp>
        <p:nvSpPr>
          <p:cNvPr id="2" name="Text 0"/>
          <p:cNvSpPr/>
          <p:nvPr/>
        </p:nvSpPr>
        <p:spPr>
          <a:xfrm>
            <a:off x="502920" y="146304"/>
            <a:ext cx="3200400" cy="164592"/>
          </a:xfrm>
          <a:prstGeom prst="rect">
            <a:avLst/>
          </a:prstGeom>
          <a:noFill/>
          <a:ln/>
        </p:spPr>
        <p:txBody>
          <a:bodyPr wrap="square" rtlCol="0" anchor="ctr"/>
          <a:lstStyle/>
          <a:p>
            <a:pPr marL="0" indent="0">
              <a:buNone/>
            </a:pPr>
            <a:r>
              <a:rPr lang="en-US" sz="1050" b="1" dirty="0">
                <a:solidFill>
                  <a:srgbClr val="14B8A6"/>
                </a:solidFill>
                <a:latin typeface="Aptos" pitchFamily="34" charset="0"/>
                <a:ea typeface="Aptos" pitchFamily="34" charset="-122"/>
                <a:cs typeface="Aptos" pitchFamily="34" charset="-120"/>
              </a:rPr>
              <a:t>Drug Discovery Pipeline</a:t>
            </a:r>
            <a:endParaRPr lang="en-US" sz="1050" dirty="0"/>
          </a:p>
        </p:txBody>
      </p:sp>
      <p:sp>
        <p:nvSpPr>
          <p:cNvPr id="3" name="Text 1"/>
          <p:cNvSpPr/>
          <p:nvPr/>
        </p:nvSpPr>
        <p:spPr>
          <a:xfrm>
            <a:off x="502920" y="384048"/>
            <a:ext cx="10972800" cy="347472"/>
          </a:xfrm>
          <a:prstGeom prst="rect">
            <a:avLst/>
          </a:prstGeom>
          <a:noFill/>
          <a:ln/>
        </p:spPr>
        <p:txBody>
          <a:bodyPr wrap="square" rtlCol="0" anchor="ctr"/>
          <a:lstStyle/>
          <a:p>
            <a:pPr marL="0" indent="0">
              <a:buNone/>
            </a:pPr>
            <a:r>
              <a:rPr lang="en-US" sz="2600" b="1" dirty="0">
                <a:solidFill>
                  <a:srgbClr val="0B1F3A"/>
                </a:solidFill>
                <a:latin typeface="Aptos Display" pitchFamily="34" charset="0"/>
                <a:ea typeface="Aptos Display" pitchFamily="34" charset="-122"/>
                <a:cs typeface="Aptos Display" pitchFamily="34" charset="-120"/>
              </a:rPr>
              <a:t>End-to-end workflow used in this project</a:t>
            </a:r>
            <a:endParaRPr lang="en-US" sz="2600" dirty="0"/>
          </a:p>
        </p:txBody>
      </p:sp>
      <p:sp>
        <p:nvSpPr>
          <p:cNvPr id="4" name="Shape 2"/>
          <p:cNvSpPr/>
          <p:nvPr/>
        </p:nvSpPr>
        <p:spPr>
          <a:xfrm>
            <a:off x="502920" y="850392"/>
            <a:ext cx="11064240" cy="0"/>
          </a:xfrm>
          <a:prstGeom prst="line">
            <a:avLst/>
          </a:prstGeom>
          <a:noFill/>
          <a:ln w="12700">
            <a:solidFill>
              <a:srgbClr val="D7DEE8"/>
            </a:solidFill>
            <a:prstDash val="solid"/>
          </a:ln>
        </p:spPr>
      </p:sp>
      <p:sp>
        <p:nvSpPr>
          <p:cNvPr id="5" name="Shape 3"/>
          <p:cNvSpPr/>
          <p:nvPr/>
        </p:nvSpPr>
        <p:spPr>
          <a:xfrm>
            <a:off x="2651760" y="3063240"/>
            <a:ext cx="685800" cy="0"/>
          </a:xfrm>
          <a:prstGeom prst="line">
            <a:avLst/>
          </a:prstGeom>
          <a:noFill/>
          <a:ln w="12700">
            <a:solidFill>
              <a:srgbClr val="C9DDF7"/>
            </a:solidFill>
            <a:prstDash val="solid"/>
            <a:tailEnd type="triangle"/>
          </a:ln>
        </p:spPr>
      </p:sp>
      <p:sp>
        <p:nvSpPr>
          <p:cNvPr id="6" name="Shape 4"/>
          <p:cNvSpPr/>
          <p:nvPr/>
        </p:nvSpPr>
        <p:spPr>
          <a:xfrm>
            <a:off x="5349240" y="3063240"/>
            <a:ext cx="685800" cy="0"/>
          </a:xfrm>
          <a:prstGeom prst="line">
            <a:avLst/>
          </a:prstGeom>
          <a:noFill/>
          <a:ln w="12700">
            <a:solidFill>
              <a:srgbClr val="C9DDF7"/>
            </a:solidFill>
            <a:prstDash val="solid"/>
            <a:tailEnd type="triangle"/>
          </a:ln>
        </p:spPr>
      </p:sp>
      <p:sp>
        <p:nvSpPr>
          <p:cNvPr id="7" name="Shape 5"/>
          <p:cNvSpPr/>
          <p:nvPr/>
        </p:nvSpPr>
        <p:spPr>
          <a:xfrm>
            <a:off x="8046720" y="3063240"/>
            <a:ext cx="685800" cy="0"/>
          </a:xfrm>
          <a:prstGeom prst="line">
            <a:avLst/>
          </a:prstGeom>
          <a:noFill/>
          <a:ln w="12700">
            <a:solidFill>
              <a:srgbClr val="C9DDF7"/>
            </a:solidFill>
            <a:prstDash val="solid"/>
            <a:tailEnd type="triangle"/>
          </a:ln>
        </p:spPr>
      </p:sp>
      <p:sp>
        <p:nvSpPr>
          <p:cNvPr id="8" name="Shape 6"/>
          <p:cNvSpPr/>
          <p:nvPr/>
        </p:nvSpPr>
        <p:spPr>
          <a:xfrm>
            <a:off x="731520" y="1828800"/>
            <a:ext cx="1920240" cy="2468880"/>
          </a:xfrm>
          <a:prstGeom prst="roundRect">
            <a:avLst/>
          </a:prstGeom>
          <a:solidFill>
            <a:srgbClr val="FFFFFF"/>
          </a:solidFill>
          <a:ln w="12700">
            <a:solidFill>
              <a:srgbClr val="D8E3F2"/>
            </a:solidFill>
            <a:prstDash val="solid"/>
          </a:ln>
          <a:effectLst>
            <a:outerShdw blurRad="12700" dist="12700" dir="2700000" algn="bl" rotWithShape="0">
              <a:srgbClr val="000000">
                <a:alpha val="12000"/>
              </a:srgbClr>
            </a:outerShdw>
          </a:effectLst>
        </p:spPr>
      </p:sp>
      <p:sp>
        <p:nvSpPr>
          <p:cNvPr id="9" name="Text 7"/>
          <p:cNvSpPr/>
          <p:nvPr/>
        </p:nvSpPr>
        <p:spPr>
          <a:xfrm>
            <a:off x="896112" y="1993392"/>
            <a:ext cx="1572768" cy="201168"/>
          </a:xfrm>
          <a:prstGeom prst="rect">
            <a:avLst/>
          </a:prstGeom>
          <a:noFill/>
          <a:ln/>
        </p:spPr>
        <p:txBody>
          <a:bodyPr wrap="square" rtlCol="0" anchor="ctr"/>
          <a:lstStyle/>
          <a:p>
            <a:pPr marL="0" indent="0" algn="ctr">
              <a:buNone/>
            </a:pPr>
            <a:r>
              <a:rPr lang="en-US" sz="1200" b="1" dirty="0">
                <a:solidFill>
                  <a:srgbClr val="14B8A6"/>
                </a:solidFill>
              </a:rPr>
              <a:t>Phase 1</a:t>
            </a:r>
            <a:endParaRPr lang="en-US" sz="1200" dirty="0"/>
          </a:p>
        </p:txBody>
      </p:sp>
      <p:sp>
        <p:nvSpPr>
          <p:cNvPr id="10" name="Text 8"/>
          <p:cNvSpPr/>
          <p:nvPr/>
        </p:nvSpPr>
        <p:spPr>
          <a:xfrm>
            <a:off x="896112" y="2304288"/>
            <a:ext cx="1572768" cy="530352"/>
          </a:xfrm>
          <a:prstGeom prst="rect">
            <a:avLst/>
          </a:prstGeom>
          <a:noFill/>
          <a:ln/>
        </p:spPr>
        <p:txBody>
          <a:bodyPr wrap="square" lIns="0" tIns="0" rIns="0" bIns="0" rtlCol="0" anchor="ctr"/>
          <a:lstStyle/>
          <a:p>
            <a:pPr marL="0" indent="0" algn="ctr">
              <a:buNone/>
            </a:pPr>
            <a:r>
              <a:rPr lang="en-US" sz="1900" b="1" dirty="0">
                <a:solidFill>
                  <a:srgbClr val="0B1F3A"/>
                </a:solidFill>
              </a:rPr>
              <a:t>Target</a:t>
            </a:r>
            <a:endParaRPr lang="en-US" sz="1900" dirty="0"/>
          </a:p>
          <a:p>
            <a:pPr marL="0" indent="0" algn="ctr">
              <a:buNone/>
            </a:pPr>
            <a:r>
              <a:rPr lang="en-US" sz="1900" b="1" dirty="0">
                <a:solidFill>
                  <a:srgbClr val="0B1F3A"/>
                </a:solidFill>
              </a:rPr>
              <a:t>identification</a:t>
            </a:r>
            <a:endParaRPr lang="en-US" sz="1900" dirty="0"/>
          </a:p>
        </p:txBody>
      </p:sp>
      <p:sp>
        <p:nvSpPr>
          <p:cNvPr id="11" name="Text 9"/>
          <p:cNvSpPr/>
          <p:nvPr/>
        </p:nvSpPr>
        <p:spPr>
          <a:xfrm>
            <a:off x="877824" y="3017520"/>
            <a:ext cx="1627632" cy="1005840"/>
          </a:xfrm>
          <a:prstGeom prst="rect">
            <a:avLst/>
          </a:prstGeom>
          <a:noFill/>
          <a:ln/>
        </p:spPr>
        <p:txBody>
          <a:bodyPr wrap="square" lIns="254" tIns="254" rIns="254" bIns="254" rtlCol="0" anchor="ctr"/>
          <a:lstStyle/>
          <a:p>
            <a:pPr marL="0" indent="0" algn="ctr">
              <a:buNone/>
            </a:pPr>
            <a:r>
              <a:rPr lang="en-US" sz="1500" dirty="0">
                <a:solidFill>
                  <a:srgbClr val="1F2937"/>
                </a:solidFill>
              </a:rPr>
              <a:t>Disease review</a:t>
            </a:r>
            <a:endParaRPr lang="en-US" sz="1500" dirty="0"/>
          </a:p>
          <a:p>
            <a:pPr marL="0" indent="0" algn="ctr">
              <a:buNone/>
            </a:pPr>
            <a:r>
              <a:rPr lang="en-US" sz="1500" dirty="0">
                <a:solidFill>
                  <a:srgbClr val="1F2937"/>
                </a:solidFill>
              </a:rPr>
              <a:t>UniProt / PubMed</a:t>
            </a:r>
            <a:endParaRPr lang="en-US" sz="1500" dirty="0"/>
          </a:p>
          <a:p>
            <a:pPr marL="0" indent="0" algn="ctr">
              <a:buNone/>
            </a:pPr>
            <a:r>
              <a:rPr lang="en-US" sz="1500" dirty="0">
                <a:solidFill>
                  <a:srgbClr val="1F2937"/>
                </a:solidFill>
              </a:rPr>
              <a:t>ClinVar / BLAST</a:t>
            </a:r>
            <a:endParaRPr lang="en-US" sz="1500" dirty="0"/>
          </a:p>
        </p:txBody>
      </p:sp>
      <p:sp>
        <p:nvSpPr>
          <p:cNvPr id="12" name="Shape 10"/>
          <p:cNvSpPr/>
          <p:nvPr/>
        </p:nvSpPr>
        <p:spPr>
          <a:xfrm>
            <a:off x="3429000" y="1828800"/>
            <a:ext cx="1920240" cy="2468880"/>
          </a:xfrm>
          <a:prstGeom prst="roundRect">
            <a:avLst/>
          </a:prstGeom>
          <a:solidFill>
            <a:srgbClr val="FFFFFF"/>
          </a:solidFill>
          <a:ln w="12700">
            <a:solidFill>
              <a:srgbClr val="D8E3F2"/>
            </a:solidFill>
            <a:prstDash val="solid"/>
          </a:ln>
          <a:effectLst>
            <a:outerShdw blurRad="12700" dist="12700" dir="2700000" algn="bl" rotWithShape="0">
              <a:srgbClr val="000000">
                <a:alpha val="12000"/>
              </a:srgbClr>
            </a:outerShdw>
          </a:effectLst>
        </p:spPr>
      </p:sp>
      <p:sp>
        <p:nvSpPr>
          <p:cNvPr id="13" name="Text 11"/>
          <p:cNvSpPr/>
          <p:nvPr/>
        </p:nvSpPr>
        <p:spPr>
          <a:xfrm>
            <a:off x="3593592" y="1993392"/>
            <a:ext cx="1572768" cy="201168"/>
          </a:xfrm>
          <a:prstGeom prst="rect">
            <a:avLst/>
          </a:prstGeom>
          <a:noFill/>
          <a:ln/>
        </p:spPr>
        <p:txBody>
          <a:bodyPr wrap="square" rtlCol="0" anchor="ctr"/>
          <a:lstStyle/>
          <a:p>
            <a:pPr marL="0" indent="0" algn="ctr">
              <a:buNone/>
            </a:pPr>
            <a:r>
              <a:rPr lang="en-US" sz="1200" b="1" dirty="0">
                <a:solidFill>
                  <a:srgbClr val="14B8A6"/>
                </a:solidFill>
              </a:rPr>
              <a:t>Phase 2</a:t>
            </a:r>
            <a:endParaRPr lang="en-US" sz="1200" dirty="0"/>
          </a:p>
        </p:txBody>
      </p:sp>
      <p:sp>
        <p:nvSpPr>
          <p:cNvPr id="14" name="Text 12"/>
          <p:cNvSpPr/>
          <p:nvPr/>
        </p:nvSpPr>
        <p:spPr>
          <a:xfrm>
            <a:off x="3593592" y="2304288"/>
            <a:ext cx="1572768" cy="530352"/>
          </a:xfrm>
          <a:prstGeom prst="rect">
            <a:avLst/>
          </a:prstGeom>
          <a:noFill/>
          <a:ln/>
        </p:spPr>
        <p:txBody>
          <a:bodyPr wrap="square" lIns="0" tIns="0" rIns="0" bIns="0" rtlCol="0" anchor="ctr"/>
          <a:lstStyle/>
          <a:p>
            <a:pPr marL="0" indent="0" algn="ctr">
              <a:buNone/>
            </a:pPr>
            <a:r>
              <a:rPr lang="en-US" sz="1900" b="1" dirty="0">
                <a:solidFill>
                  <a:srgbClr val="0B1F3A"/>
                </a:solidFill>
              </a:rPr>
              <a:t>Structure</a:t>
            </a:r>
            <a:endParaRPr lang="en-US" sz="1900" dirty="0"/>
          </a:p>
          <a:p>
            <a:pPr marL="0" indent="0" algn="ctr">
              <a:buNone/>
            </a:pPr>
            <a:r>
              <a:rPr lang="en-US" sz="1900" b="1" dirty="0">
                <a:solidFill>
                  <a:srgbClr val="0B1F3A"/>
                </a:solidFill>
              </a:rPr>
              <a:t>and pocket</a:t>
            </a:r>
            <a:endParaRPr lang="en-US" sz="1900" dirty="0"/>
          </a:p>
        </p:txBody>
      </p:sp>
      <p:sp>
        <p:nvSpPr>
          <p:cNvPr id="15" name="Text 13"/>
          <p:cNvSpPr/>
          <p:nvPr/>
        </p:nvSpPr>
        <p:spPr>
          <a:xfrm>
            <a:off x="3575304" y="3017520"/>
            <a:ext cx="1627632" cy="1005840"/>
          </a:xfrm>
          <a:prstGeom prst="rect">
            <a:avLst/>
          </a:prstGeom>
          <a:noFill/>
          <a:ln/>
        </p:spPr>
        <p:txBody>
          <a:bodyPr wrap="square" lIns="254" tIns="254" rIns="254" bIns="254" rtlCol="0" anchor="ctr"/>
          <a:lstStyle/>
          <a:p>
            <a:pPr marL="0" indent="0" algn="ctr">
              <a:buNone/>
            </a:pPr>
            <a:r>
              <a:rPr lang="en-US" sz="1500" dirty="0">
                <a:solidFill>
                  <a:srgbClr val="1F2937"/>
                </a:solidFill>
              </a:rPr>
              <a:t>PDB / AlphaFold</a:t>
            </a:r>
            <a:endParaRPr lang="en-US" sz="1500" dirty="0"/>
          </a:p>
          <a:p>
            <a:pPr marL="0" indent="0" algn="ctr">
              <a:buNone/>
            </a:pPr>
            <a:r>
              <a:rPr lang="en-US" sz="1500" dirty="0">
                <a:solidFill>
                  <a:srgbClr val="1F2937"/>
                </a:solidFill>
              </a:rPr>
              <a:t>Pocket definition</a:t>
            </a:r>
            <a:endParaRPr lang="en-US" sz="1500" dirty="0"/>
          </a:p>
          <a:p>
            <a:pPr marL="0" indent="0" algn="ctr">
              <a:buNone/>
            </a:pPr>
            <a:r>
              <a:rPr lang="en-US" sz="1500" dirty="0">
                <a:solidFill>
                  <a:srgbClr val="1F2937"/>
                </a:solidFill>
              </a:rPr>
              <a:t>PyMOL / ChimeraX</a:t>
            </a:r>
            <a:endParaRPr lang="en-US" sz="1500" dirty="0"/>
          </a:p>
        </p:txBody>
      </p:sp>
      <p:sp>
        <p:nvSpPr>
          <p:cNvPr id="16" name="Shape 14"/>
          <p:cNvSpPr/>
          <p:nvPr/>
        </p:nvSpPr>
        <p:spPr>
          <a:xfrm>
            <a:off x="6126480" y="1828800"/>
            <a:ext cx="1920240" cy="2468880"/>
          </a:xfrm>
          <a:prstGeom prst="roundRect">
            <a:avLst/>
          </a:prstGeom>
          <a:solidFill>
            <a:srgbClr val="FFFFFF"/>
          </a:solidFill>
          <a:ln w="12700">
            <a:solidFill>
              <a:srgbClr val="D8E3F2"/>
            </a:solidFill>
            <a:prstDash val="solid"/>
          </a:ln>
          <a:effectLst>
            <a:outerShdw blurRad="12700" dist="12700" dir="2700000" algn="bl" rotWithShape="0">
              <a:srgbClr val="000000">
                <a:alpha val="12000"/>
              </a:srgbClr>
            </a:outerShdw>
          </a:effectLst>
        </p:spPr>
      </p:sp>
      <p:sp>
        <p:nvSpPr>
          <p:cNvPr id="17" name="Text 15"/>
          <p:cNvSpPr/>
          <p:nvPr/>
        </p:nvSpPr>
        <p:spPr>
          <a:xfrm>
            <a:off x="6291072" y="1993392"/>
            <a:ext cx="1572768" cy="201168"/>
          </a:xfrm>
          <a:prstGeom prst="rect">
            <a:avLst/>
          </a:prstGeom>
          <a:noFill/>
          <a:ln/>
        </p:spPr>
        <p:txBody>
          <a:bodyPr wrap="square" rtlCol="0" anchor="ctr"/>
          <a:lstStyle/>
          <a:p>
            <a:pPr marL="0" indent="0" algn="ctr">
              <a:buNone/>
            </a:pPr>
            <a:r>
              <a:rPr lang="en-US" sz="1200" b="1" dirty="0">
                <a:solidFill>
                  <a:srgbClr val="14B8A6"/>
                </a:solidFill>
              </a:rPr>
              <a:t>Phase 3</a:t>
            </a:r>
            <a:endParaRPr lang="en-US" sz="1200" dirty="0"/>
          </a:p>
        </p:txBody>
      </p:sp>
      <p:sp>
        <p:nvSpPr>
          <p:cNvPr id="18" name="Text 16"/>
          <p:cNvSpPr/>
          <p:nvPr/>
        </p:nvSpPr>
        <p:spPr>
          <a:xfrm>
            <a:off x="6291072" y="2304288"/>
            <a:ext cx="1572768" cy="530352"/>
          </a:xfrm>
          <a:prstGeom prst="rect">
            <a:avLst/>
          </a:prstGeom>
          <a:noFill/>
          <a:ln/>
        </p:spPr>
        <p:txBody>
          <a:bodyPr wrap="square" lIns="0" tIns="0" rIns="0" bIns="0" rtlCol="0" anchor="ctr"/>
          <a:lstStyle/>
          <a:p>
            <a:pPr marL="0" indent="0" algn="ctr">
              <a:buNone/>
            </a:pPr>
            <a:r>
              <a:rPr lang="en-US" sz="1900" b="1" dirty="0">
                <a:solidFill>
                  <a:srgbClr val="0B1F3A"/>
                </a:solidFill>
              </a:rPr>
              <a:t>Docking</a:t>
            </a:r>
            <a:endParaRPr lang="en-US" sz="1900" dirty="0"/>
          </a:p>
          <a:p>
            <a:pPr marL="0" indent="0" algn="ctr">
              <a:buNone/>
            </a:pPr>
            <a:r>
              <a:rPr lang="en-US" sz="1900" b="1" dirty="0">
                <a:solidFill>
                  <a:srgbClr val="0B1F3A"/>
                </a:solidFill>
              </a:rPr>
              <a:t>and ranking</a:t>
            </a:r>
            <a:endParaRPr lang="en-US" sz="1900" dirty="0"/>
          </a:p>
        </p:txBody>
      </p:sp>
      <p:sp>
        <p:nvSpPr>
          <p:cNvPr id="19" name="Text 17"/>
          <p:cNvSpPr/>
          <p:nvPr/>
        </p:nvSpPr>
        <p:spPr>
          <a:xfrm>
            <a:off x="6272784" y="3017520"/>
            <a:ext cx="1627632" cy="1005840"/>
          </a:xfrm>
          <a:prstGeom prst="rect">
            <a:avLst/>
          </a:prstGeom>
          <a:noFill/>
          <a:ln/>
        </p:spPr>
        <p:txBody>
          <a:bodyPr wrap="square" lIns="254" tIns="254" rIns="254" bIns="254" rtlCol="0" anchor="ctr"/>
          <a:lstStyle/>
          <a:p>
            <a:pPr marL="0" indent="0" algn="ctr">
              <a:buNone/>
            </a:pPr>
            <a:r>
              <a:rPr lang="en-US" sz="1500" dirty="0">
                <a:solidFill>
                  <a:srgbClr val="1F2937"/>
                </a:solidFill>
              </a:rPr>
              <a:t>Compound library</a:t>
            </a:r>
            <a:endParaRPr lang="en-US" sz="1500" dirty="0"/>
          </a:p>
          <a:p>
            <a:pPr marL="0" indent="0" algn="ctr">
              <a:buNone/>
            </a:pPr>
            <a:r>
              <a:rPr lang="en-US" sz="1500" dirty="0">
                <a:solidFill>
                  <a:srgbClr val="1F2937"/>
                </a:solidFill>
              </a:rPr>
              <a:t>AutoDock Vina</a:t>
            </a:r>
            <a:endParaRPr lang="en-US" sz="1500" dirty="0"/>
          </a:p>
          <a:p>
            <a:pPr marL="0" indent="0" algn="ctr">
              <a:buNone/>
            </a:pPr>
            <a:r>
              <a:rPr lang="en-US" sz="1500" dirty="0">
                <a:solidFill>
                  <a:srgbClr val="1F2937"/>
                </a:solidFill>
              </a:rPr>
              <a:t>Pose selection</a:t>
            </a:r>
            <a:endParaRPr lang="en-US" sz="1500" dirty="0"/>
          </a:p>
        </p:txBody>
      </p:sp>
      <p:sp>
        <p:nvSpPr>
          <p:cNvPr id="20" name="Shape 18"/>
          <p:cNvSpPr/>
          <p:nvPr/>
        </p:nvSpPr>
        <p:spPr>
          <a:xfrm>
            <a:off x="8823960" y="1828800"/>
            <a:ext cx="1920240" cy="2468880"/>
          </a:xfrm>
          <a:prstGeom prst="roundRect">
            <a:avLst/>
          </a:prstGeom>
          <a:solidFill>
            <a:srgbClr val="FFFFFF"/>
          </a:solidFill>
          <a:ln w="12700">
            <a:solidFill>
              <a:srgbClr val="F5C66D"/>
            </a:solidFill>
            <a:prstDash val="solid"/>
          </a:ln>
          <a:effectLst>
            <a:outerShdw blurRad="12700" dist="12700" dir="2700000" algn="bl" rotWithShape="0">
              <a:srgbClr val="000000">
                <a:alpha val="12000"/>
              </a:srgbClr>
            </a:outerShdw>
          </a:effectLst>
        </p:spPr>
      </p:sp>
      <p:sp>
        <p:nvSpPr>
          <p:cNvPr id="21" name="Text 19"/>
          <p:cNvSpPr/>
          <p:nvPr/>
        </p:nvSpPr>
        <p:spPr>
          <a:xfrm>
            <a:off x="8988552" y="1993392"/>
            <a:ext cx="1572768" cy="201168"/>
          </a:xfrm>
          <a:prstGeom prst="rect">
            <a:avLst/>
          </a:prstGeom>
          <a:noFill/>
          <a:ln/>
        </p:spPr>
        <p:txBody>
          <a:bodyPr wrap="square" rtlCol="0" anchor="ctr"/>
          <a:lstStyle/>
          <a:p>
            <a:pPr marL="0" indent="0" algn="ctr">
              <a:buNone/>
            </a:pPr>
            <a:r>
              <a:rPr lang="en-US" sz="1200" b="1" dirty="0">
                <a:solidFill>
                  <a:srgbClr val="14B8A6"/>
                </a:solidFill>
              </a:rPr>
              <a:t>Phase 4</a:t>
            </a:r>
            <a:endParaRPr lang="en-US" sz="1200" dirty="0"/>
          </a:p>
        </p:txBody>
      </p:sp>
      <p:sp>
        <p:nvSpPr>
          <p:cNvPr id="22" name="Text 20"/>
          <p:cNvSpPr/>
          <p:nvPr/>
        </p:nvSpPr>
        <p:spPr>
          <a:xfrm>
            <a:off x="8988552" y="2304288"/>
            <a:ext cx="1572768" cy="530352"/>
          </a:xfrm>
          <a:prstGeom prst="rect">
            <a:avLst/>
          </a:prstGeom>
          <a:noFill/>
          <a:ln/>
        </p:spPr>
        <p:txBody>
          <a:bodyPr wrap="square" lIns="0" tIns="0" rIns="0" bIns="0" rtlCol="0" anchor="ctr"/>
          <a:lstStyle/>
          <a:p>
            <a:pPr marL="0" indent="0" algn="ctr">
              <a:buNone/>
            </a:pPr>
            <a:r>
              <a:rPr lang="en-US" sz="1900" b="1" dirty="0">
                <a:solidFill>
                  <a:srgbClr val="0B1F3A"/>
                </a:solidFill>
              </a:rPr>
              <a:t>ADMET</a:t>
            </a:r>
            <a:endParaRPr lang="en-US" sz="1900" dirty="0"/>
          </a:p>
          <a:p>
            <a:pPr marL="0" indent="0" algn="ctr">
              <a:buNone/>
            </a:pPr>
            <a:r>
              <a:rPr lang="en-US" sz="1900" b="1" dirty="0">
                <a:solidFill>
                  <a:srgbClr val="0B1F3A"/>
                </a:solidFill>
              </a:rPr>
              <a:t>and reporting</a:t>
            </a:r>
            <a:endParaRPr lang="en-US" sz="1900" dirty="0"/>
          </a:p>
        </p:txBody>
      </p:sp>
      <p:sp>
        <p:nvSpPr>
          <p:cNvPr id="23" name="Text 21"/>
          <p:cNvSpPr/>
          <p:nvPr/>
        </p:nvSpPr>
        <p:spPr>
          <a:xfrm>
            <a:off x="8970264" y="3017520"/>
            <a:ext cx="1627632" cy="1005840"/>
          </a:xfrm>
          <a:prstGeom prst="rect">
            <a:avLst/>
          </a:prstGeom>
          <a:noFill/>
          <a:ln/>
        </p:spPr>
        <p:txBody>
          <a:bodyPr wrap="square" lIns="254" tIns="254" rIns="254" bIns="254" rtlCol="0" anchor="ctr"/>
          <a:lstStyle/>
          <a:p>
            <a:pPr marL="0" indent="0" algn="ctr">
              <a:buNone/>
            </a:pPr>
            <a:r>
              <a:rPr lang="en-US" sz="1500" dirty="0">
                <a:solidFill>
                  <a:srgbClr val="1F2937"/>
                </a:solidFill>
              </a:rPr>
              <a:t>Lipinski / toxicity</a:t>
            </a:r>
            <a:endParaRPr lang="en-US" sz="1500" dirty="0"/>
          </a:p>
          <a:p>
            <a:pPr marL="0" indent="0" algn="ctr">
              <a:buNone/>
            </a:pPr>
            <a:r>
              <a:rPr lang="en-US" sz="1500" dirty="0">
                <a:solidFill>
                  <a:srgbClr val="1F2937"/>
                </a:solidFill>
              </a:rPr>
              <a:t>Python outputs</a:t>
            </a:r>
            <a:endParaRPr lang="en-US" sz="1500" dirty="0"/>
          </a:p>
          <a:p>
            <a:pPr marL="0" indent="0" algn="ctr">
              <a:buNone/>
            </a:pPr>
            <a:r>
              <a:rPr lang="en-US" sz="1500" dirty="0">
                <a:solidFill>
                  <a:srgbClr val="1F2937"/>
                </a:solidFill>
              </a:rPr>
              <a:t>Next steps</a:t>
            </a:r>
            <a:endParaRPr lang="en-US" sz="1500" dirty="0"/>
          </a:p>
        </p:txBody>
      </p:sp>
      <p:sp>
        <p:nvSpPr>
          <p:cNvPr id="24" name="Text 22"/>
          <p:cNvSpPr/>
          <p:nvPr/>
        </p:nvSpPr>
        <p:spPr>
          <a:xfrm>
            <a:off x="1234440" y="4892040"/>
            <a:ext cx="9509760" cy="365760"/>
          </a:xfrm>
          <a:prstGeom prst="rect">
            <a:avLst/>
          </a:prstGeom>
          <a:noFill/>
          <a:ln/>
        </p:spPr>
        <p:txBody>
          <a:bodyPr wrap="square" rtlCol="0" anchor="ctr"/>
          <a:lstStyle/>
          <a:p>
            <a:pPr marL="0" indent="0" algn="ctr">
              <a:buNone/>
            </a:pPr>
            <a:r>
              <a:rPr lang="en-US" sz="2000" b="1" dirty="0">
                <a:solidFill>
                  <a:srgbClr val="1F2937"/>
                </a:solidFill>
              </a:rPr>
              <a:t>This is the same logic used later in the code: structured inputs -&gt; docking evidence -&gt; prioritized outputs.</a:t>
            </a:r>
            <a:endParaRPr lang="en-US" sz="2000" dirty="0"/>
          </a:p>
        </p:txBody>
      </p:sp>
      <p:sp>
        <p:nvSpPr>
          <p:cNvPr id="25" name="Shape 23"/>
          <p:cNvSpPr/>
          <p:nvPr/>
        </p:nvSpPr>
        <p:spPr>
          <a:xfrm>
            <a:off x="502920" y="6446520"/>
            <a:ext cx="11064240" cy="0"/>
          </a:xfrm>
          <a:prstGeom prst="line">
            <a:avLst/>
          </a:prstGeom>
          <a:noFill/>
          <a:ln w="12700">
            <a:solidFill>
              <a:srgbClr val="D7DEE8"/>
            </a:solidFill>
            <a:prstDash val="solid"/>
          </a:ln>
        </p:spPr>
      </p:sp>
      <p:sp>
        <p:nvSpPr>
          <p:cNvPr id="26" name="Text 24"/>
          <p:cNvSpPr/>
          <p:nvPr/>
        </p:nvSpPr>
        <p:spPr>
          <a:xfrm>
            <a:off x="502920" y="6473952"/>
            <a:ext cx="2560320" cy="182880"/>
          </a:xfrm>
          <a:prstGeom prst="rect">
            <a:avLst/>
          </a:prstGeom>
          <a:noFill/>
          <a:ln/>
        </p:spPr>
        <p:txBody>
          <a:bodyPr wrap="square" rtlCol="0" anchor="ctr"/>
          <a:lstStyle/>
          <a:p>
            <a:pPr marL="0" indent="0">
              <a:buNone/>
            </a:pPr>
            <a:r>
              <a:rPr lang="en-US" sz="900" dirty="0">
                <a:solidFill>
                  <a:srgbClr val="667085"/>
                </a:solidFill>
              </a:rPr>
              <a:t>Major Project | Bioinformatics</a:t>
            </a:r>
            <a:endParaRPr lang="en-US" sz="900" dirty="0"/>
          </a:p>
        </p:txBody>
      </p:sp>
      <p:sp>
        <p:nvSpPr>
          <p:cNvPr id="27" name="Text 25"/>
          <p:cNvSpPr/>
          <p:nvPr/>
        </p:nvSpPr>
        <p:spPr>
          <a:xfrm>
            <a:off x="11155680" y="6455664"/>
            <a:ext cx="365760" cy="182880"/>
          </a:xfrm>
          <a:prstGeom prst="rect">
            <a:avLst/>
          </a:prstGeom>
          <a:noFill/>
          <a:ln/>
        </p:spPr>
        <p:txBody>
          <a:bodyPr wrap="square" rtlCol="0" anchor="ctr"/>
          <a:lstStyle/>
          <a:p>
            <a:pPr marL="0" indent="0" algn="r">
              <a:buNone/>
            </a:pPr>
            <a:r>
              <a:rPr lang="en-US" sz="900" dirty="0">
                <a:solidFill>
                  <a:srgbClr val="667085"/>
                </a:solidFill>
              </a:rPr>
              <a:t>4</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02920" y="146304"/>
            <a:ext cx="3200400" cy="164592"/>
          </a:xfrm>
          <a:prstGeom prst="rect">
            <a:avLst/>
          </a:prstGeom>
          <a:noFill/>
          <a:ln/>
        </p:spPr>
        <p:txBody>
          <a:bodyPr wrap="square" rtlCol="0" anchor="ctr"/>
          <a:lstStyle/>
          <a:p>
            <a:pPr marL="0" indent="0">
              <a:buNone/>
            </a:pPr>
            <a:r>
              <a:rPr lang="en-US" sz="1050" b="1" dirty="0">
                <a:solidFill>
                  <a:srgbClr val="14B8A6"/>
                </a:solidFill>
                <a:latin typeface="Aptos" pitchFamily="34" charset="0"/>
                <a:ea typeface="Aptos" pitchFamily="34" charset="-122"/>
                <a:cs typeface="Aptos" pitchFamily="34" charset="-120"/>
              </a:rPr>
              <a:t>Drug Discovery Pipeline</a:t>
            </a:r>
            <a:endParaRPr lang="en-US" sz="1050" dirty="0"/>
          </a:p>
        </p:txBody>
      </p:sp>
      <p:sp>
        <p:nvSpPr>
          <p:cNvPr id="3" name="Text 1"/>
          <p:cNvSpPr/>
          <p:nvPr/>
        </p:nvSpPr>
        <p:spPr>
          <a:xfrm>
            <a:off x="502920" y="384048"/>
            <a:ext cx="10972800" cy="347472"/>
          </a:xfrm>
          <a:prstGeom prst="rect">
            <a:avLst/>
          </a:prstGeom>
          <a:noFill/>
          <a:ln/>
        </p:spPr>
        <p:txBody>
          <a:bodyPr wrap="square" rtlCol="0" anchor="ctr"/>
          <a:lstStyle/>
          <a:p>
            <a:pPr marL="0" indent="0">
              <a:buNone/>
            </a:pPr>
            <a:r>
              <a:rPr lang="en-US" sz="2600" b="1" dirty="0">
                <a:solidFill>
                  <a:srgbClr val="0B1F3A"/>
                </a:solidFill>
                <a:latin typeface="Aptos Display" pitchFamily="34" charset="0"/>
                <a:ea typeface="Aptos Display" pitchFamily="34" charset="-122"/>
                <a:cs typeface="Aptos Display" pitchFamily="34" charset="-120"/>
              </a:rPr>
              <a:t>Phase 1 - target identification and validation</a:t>
            </a:r>
            <a:endParaRPr lang="en-US" sz="2600" dirty="0"/>
          </a:p>
        </p:txBody>
      </p:sp>
      <p:sp>
        <p:nvSpPr>
          <p:cNvPr id="4" name="Shape 2"/>
          <p:cNvSpPr/>
          <p:nvPr/>
        </p:nvSpPr>
        <p:spPr>
          <a:xfrm>
            <a:off x="502920" y="850392"/>
            <a:ext cx="11064240" cy="0"/>
          </a:xfrm>
          <a:prstGeom prst="line">
            <a:avLst/>
          </a:prstGeom>
          <a:noFill/>
          <a:ln w="12700">
            <a:solidFill>
              <a:srgbClr val="D7DEE8"/>
            </a:solidFill>
            <a:prstDash val="solid"/>
          </a:ln>
        </p:spPr>
      </p:sp>
      <p:sp>
        <p:nvSpPr>
          <p:cNvPr id="5" name="Text 3"/>
          <p:cNvSpPr/>
          <p:nvPr/>
        </p:nvSpPr>
        <p:spPr>
          <a:xfrm>
            <a:off x="713232" y="1234440"/>
            <a:ext cx="2739416" cy="228597"/>
          </a:xfrm>
          <a:prstGeom prst="rect">
            <a:avLst/>
          </a:prstGeom>
          <a:noFill/>
          <a:ln/>
        </p:spPr>
        <p:txBody>
          <a:bodyPr wrap="square" rtlCol="0" anchor="ctr"/>
          <a:lstStyle/>
          <a:p>
            <a:pPr marL="0" indent="0">
              <a:buNone/>
            </a:pPr>
            <a:r>
              <a:rPr lang="en-US" sz="2100" b="1" dirty="0">
                <a:solidFill>
                  <a:srgbClr val="14B8A6"/>
                </a:solidFill>
              </a:rPr>
              <a:t>Why EGFR?</a:t>
            </a:r>
            <a:endParaRPr lang="en-US" sz="2100" dirty="0"/>
          </a:p>
        </p:txBody>
      </p:sp>
      <p:sp>
        <p:nvSpPr>
          <p:cNvPr id="6" name="Text 4"/>
          <p:cNvSpPr/>
          <p:nvPr/>
        </p:nvSpPr>
        <p:spPr>
          <a:xfrm>
            <a:off x="713232" y="1829905"/>
            <a:ext cx="4434840" cy="914400"/>
          </a:xfrm>
          <a:prstGeom prst="rect">
            <a:avLst/>
          </a:prstGeom>
          <a:noFill/>
          <a:ln/>
        </p:spPr>
        <p:txBody>
          <a:bodyPr wrap="square" lIns="0" tIns="0" rIns="0" bIns="0" rtlCol="0" anchor="ctr"/>
          <a:lstStyle/>
          <a:p>
            <a:pPr marL="0" indent="0">
              <a:buNone/>
            </a:pPr>
            <a:r>
              <a:rPr lang="en-US" sz="1900" dirty="0">
                <a:solidFill>
                  <a:srgbClr val="1F2937"/>
                </a:solidFill>
              </a:rPr>
              <a:t>EGFR is a clinically relevant receptor tyrosine kinase in non-small cell lung cancer, with known disease mutations and an established druggable ATP-binding pocket.</a:t>
            </a:r>
            <a:endParaRPr lang="en-US" sz="1900" dirty="0"/>
          </a:p>
        </p:txBody>
      </p:sp>
      <p:sp>
        <p:nvSpPr>
          <p:cNvPr id="7" name="Text 5"/>
          <p:cNvSpPr/>
          <p:nvPr/>
        </p:nvSpPr>
        <p:spPr>
          <a:xfrm>
            <a:off x="6446520" y="1234440"/>
            <a:ext cx="2834640" cy="228600"/>
          </a:xfrm>
          <a:prstGeom prst="rect">
            <a:avLst/>
          </a:prstGeom>
          <a:noFill/>
          <a:ln/>
        </p:spPr>
        <p:txBody>
          <a:bodyPr wrap="square" rtlCol="0" anchor="ctr"/>
          <a:lstStyle/>
          <a:p>
            <a:pPr marL="0" indent="0">
              <a:buNone/>
            </a:pPr>
            <a:r>
              <a:rPr lang="en-US" sz="2000" b="1" dirty="0">
                <a:solidFill>
                  <a:srgbClr val="14B8A6"/>
                </a:solidFill>
              </a:rPr>
              <a:t>Evidence used for validation</a:t>
            </a:r>
            <a:endParaRPr lang="en-US" sz="2000" dirty="0"/>
          </a:p>
        </p:txBody>
      </p:sp>
      <p:sp>
        <p:nvSpPr>
          <p:cNvPr id="8" name="Shape 6"/>
          <p:cNvSpPr/>
          <p:nvPr/>
        </p:nvSpPr>
        <p:spPr>
          <a:xfrm>
            <a:off x="6446520" y="1645920"/>
            <a:ext cx="1920240" cy="914400"/>
          </a:xfrm>
          <a:prstGeom prst="roundRect">
            <a:avLst/>
          </a:prstGeom>
          <a:solidFill>
            <a:srgbClr val="F8FAFD"/>
          </a:solidFill>
          <a:ln w="12700">
            <a:solidFill>
              <a:srgbClr val="D8E3F2"/>
            </a:solidFill>
            <a:prstDash val="solid"/>
          </a:ln>
        </p:spPr>
      </p:sp>
      <p:sp>
        <p:nvSpPr>
          <p:cNvPr id="9" name="Text 7"/>
          <p:cNvSpPr/>
          <p:nvPr/>
        </p:nvSpPr>
        <p:spPr>
          <a:xfrm>
            <a:off x="6583680" y="1865376"/>
            <a:ext cx="1645920" cy="384048"/>
          </a:xfrm>
          <a:prstGeom prst="rect">
            <a:avLst/>
          </a:prstGeom>
          <a:noFill/>
          <a:ln/>
        </p:spPr>
        <p:txBody>
          <a:bodyPr wrap="square" lIns="0" tIns="0" rIns="0" bIns="0" rtlCol="0" anchor="ctr"/>
          <a:lstStyle/>
          <a:p>
            <a:pPr marL="0" indent="0" algn="ctr">
              <a:buNone/>
            </a:pPr>
            <a:r>
              <a:rPr lang="en-US" sz="1700" b="1" dirty="0">
                <a:solidFill>
                  <a:srgbClr val="1F2937"/>
                </a:solidFill>
              </a:rPr>
              <a:t>PubMed</a:t>
            </a:r>
            <a:endParaRPr lang="en-US" sz="1700" dirty="0"/>
          </a:p>
          <a:p>
            <a:pPr marL="0" indent="0" algn="ctr">
              <a:buNone/>
            </a:pPr>
            <a:r>
              <a:rPr lang="en-US" sz="1700" b="1" dirty="0">
                <a:solidFill>
                  <a:srgbClr val="1F2937"/>
                </a:solidFill>
              </a:rPr>
              <a:t>literature</a:t>
            </a:r>
            <a:endParaRPr lang="en-US" sz="1700" dirty="0"/>
          </a:p>
        </p:txBody>
      </p:sp>
      <p:sp>
        <p:nvSpPr>
          <p:cNvPr id="10" name="Shape 8"/>
          <p:cNvSpPr/>
          <p:nvPr/>
        </p:nvSpPr>
        <p:spPr>
          <a:xfrm>
            <a:off x="8823960" y="1645920"/>
            <a:ext cx="1920240" cy="914400"/>
          </a:xfrm>
          <a:prstGeom prst="roundRect">
            <a:avLst/>
          </a:prstGeom>
          <a:solidFill>
            <a:srgbClr val="F8FAFD"/>
          </a:solidFill>
          <a:ln w="12700">
            <a:solidFill>
              <a:srgbClr val="D8E3F2"/>
            </a:solidFill>
            <a:prstDash val="solid"/>
          </a:ln>
        </p:spPr>
      </p:sp>
      <p:sp>
        <p:nvSpPr>
          <p:cNvPr id="11" name="Text 9"/>
          <p:cNvSpPr/>
          <p:nvPr/>
        </p:nvSpPr>
        <p:spPr>
          <a:xfrm>
            <a:off x="8961120" y="1865376"/>
            <a:ext cx="1645920" cy="384048"/>
          </a:xfrm>
          <a:prstGeom prst="rect">
            <a:avLst/>
          </a:prstGeom>
          <a:noFill/>
          <a:ln/>
        </p:spPr>
        <p:txBody>
          <a:bodyPr wrap="square" lIns="0" tIns="0" rIns="0" bIns="0" rtlCol="0" anchor="ctr"/>
          <a:lstStyle/>
          <a:p>
            <a:pPr marL="0" indent="0" algn="ctr">
              <a:buNone/>
            </a:pPr>
            <a:r>
              <a:rPr lang="en-US" sz="1700" b="1" dirty="0">
                <a:solidFill>
                  <a:srgbClr val="1F2937"/>
                </a:solidFill>
              </a:rPr>
              <a:t>UniProt</a:t>
            </a:r>
            <a:endParaRPr lang="en-US" sz="1700" dirty="0"/>
          </a:p>
          <a:p>
            <a:pPr marL="0" indent="0" algn="ctr">
              <a:buNone/>
            </a:pPr>
            <a:r>
              <a:rPr lang="en-US" sz="1700" b="1" dirty="0">
                <a:solidFill>
                  <a:srgbClr val="1F2937"/>
                </a:solidFill>
              </a:rPr>
              <a:t>function</a:t>
            </a:r>
            <a:endParaRPr lang="en-US" sz="1700" dirty="0"/>
          </a:p>
        </p:txBody>
      </p:sp>
      <p:sp>
        <p:nvSpPr>
          <p:cNvPr id="12" name="Shape 10"/>
          <p:cNvSpPr/>
          <p:nvPr/>
        </p:nvSpPr>
        <p:spPr>
          <a:xfrm>
            <a:off x="6446520" y="3063240"/>
            <a:ext cx="1920240" cy="914400"/>
          </a:xfrm>
          <a:prstGeom prst="roundRect">
            <a:avLst/>
          </a:prstGeom>
          <a:solidFill>
            <a:srgbClr val="F8FAFD"/>
          </a:solidFill>
          <a:ln w="12700">
            <a:solidFill>
              <a:srgbClr val="D8E3F2"/>
            </a:solidFill>
            <a:prstDash val="solid"/>
          </a:ln>
        </p:spPr>
      </p:sp>
      <p:sp>
        <p:nvSpPr>
          <p:cNvPr id="13" name="Text 11"/>
          <p:cNvSpPr/>
          <p:nvPr/>
        </p:nvSpPr>
        <p:spPr>
          <a:xfrm>
            <a:off x="6583680" y="3282696"/>
            <a:ext cx="1645920" cy="384048"/>
          </a:xfrm>
          <a:prstGeom prst="rect">
            <a:avLst/>
          </a:prstGeom>
          <a:noFill/>
          <a:ln/>
        </p:spPr>
        <p:txBody>
          <a:bodyPr wrap="square" lIns="0" tIns="0" rIns="0" bIns="0" rtlCol="0" anchor="ctr"/>
          <a:lstStyle/>
          <a:p>
            <a:pPr marL="0" indent="0" algn="ctr">
              <a:buNone/>
            </a:pPr>
            <a:r>
              <a:rPr lang="en-US" sz="1700" b="1" dirty="0">
                <a:solidFill>
                  <a:srgbClr val="1F2937"/>
                </a:solidFill>
              </a:rPr>
              <a:t>ClinVar /</a:t>
            </a:r>
            <a:endParaRPr lang="en-US" sz="1700" dirty="0"/>
          </a:p>
          <a:p>
            <a:pPr marL="0" indent="0" algn="ctr">
              <a:buNone/>
            </a:pPr>
            <a:r>
              <a:rPr lang="en-US" sz="1700" b="1" dirty="0">
                <a:solidFill>
                  <a:srgbClr val="1F2937"/>
                </a:solidFill>
              </a:rPr>
              <a:t>COSMIC</a:t>
            </a:r>
            <a:endParaRPr lang="en-US" sz="1700" dirty="0"/>
          </a:p>
        </p:txBody>
      </p:sp>
      <p:sp>
        <p:nvSpPr>
          <p:cNvPr id="14" name="Shape 12"/>
          <p:cNvSpPr/>
          <p:nvPr/>
        </p:nvSpPr>
        <p:spPr>
          <a:xfrm>
            <a:off x="8823960" y="3063240"/>
            <a:ext cx="1920240" cy="914400"/>
          </a:xfrm>
          <a:prstGeom prst="roundRect">
            <a:avLst/>
          </a:prstGeom>
          <a:solidFill>
            <a:srgbClr val="F8FAFD"/>
          </a:solidFill>
          <a:ln w="12700">
            <a:solidFill>
              <a:srgbClr val="D8E3F2"/>
            </a:solidFill>
            <a:prstDash val="solid"/>
          </a:ln>
        </p:spPr>
      </p:sp>
      <p:sp>
        <p:nvSpPr>
          <p:cNvPr id="15" name="Text 13"/>
          <p:cNvSpPr/>
          <p:nvPr/>
        </p:nvSpPr>
        <p:spPr>
          <a:xfrm>
            <a:off x="8961120" y="3282696"/>
            <a:ext cx="1645920" cy="384048"/>
          </a:xfrm>
          <a:prstGeom prst="rect">
            <a:avLst/>
          </a:prstGeom>
          <a:noFill/>
          <a:ln/>
        </p:spPr>
        <p:txBody>
          <a:bodyPr wrap="square" lIns="0" tIns="0" rIns="0" bIns="0" rtlCol="0" anchor="ctr"/>
          <a:lstStyle/>
          <a:p>
            <a:pPr marL="0" indent="0" algn="ctr">
              <a:buNone/>
            </a:pPr>
            <a:r>
              <a:rPr lang="en-US" sz="1700" b="1" dirty="0">
                <a:solidFill>
                  <a:srgbClr val="1F2937"/>
                </a:solidFill>
              </a:rPr>
              <a:t>BLAST</a:t>
            </a:r>
            <a:endParaRPr lang="en-US" sz="1700" dirty="0"/>
          </a:p>
          <a:p>
            <a:pPr marL="0" indent="0" algn="ctr">
              <a:buNone/>
            </a:pPr>
            <a:r>
              <a:rPr lang="en-US" sz="1700" b="1" dirty="0">
                <a:solidFill>
                  <a:srgbClr val="1F2937"/>
                </a:solidFill>
              </a:rPr>
              <a:t>conservation</a:t>
            </a:r>
            <a:endParaRPr lang="en-US" sz="1700" dirty="0"/>
          </a:p>
        </p:txBody>
      </p:sp>
      <p:sp>
        <p:nvSpPr>
          <p:cNvPr id="16" name="Shape 14"/>
          <p:cNvSpPr/>
          <p:nvPr/>
        </p:nvSpPr>
        <p:spPr>
          <a:xfrm>
            <a:off x="6446520" y="4617720"/>
            <a:ext cx="4297680" cy="868680"/>
          </a:xfrm>
          <a:prstGeom prst="roundRect">
            <a:avLst/>
          </a:prstGeom>
          <a:solidFill>
            <a:srgbClr val="EAF2FF"/>
          </a:solidFill>
          <a:ln w="12700">
            <a:solidFill>
              <a:srgbClr val="C7D7EE"/>
            </a:solidFill>
            <a:prstDash val="solid"/>
          </a:ln>
        </p:spPr>
      </p:sp>
      <p:sp>
        <p:nvSpPr>
          <p:cNvPr id="17" name="Text 15"/>
          <p:cNvSpPr/>
          <p:nvPr/>
        </p:nvSpPr>
        <p:spPr>
          <a:xfrm>
            <a:off x="6720840" y="4828032"/>
            <a:ext cx="3749040" cy="320040"/>
          </a:xfrm>
          <a:prstGeom prst="rect">
            <a:avLst/>
          </a:prstGeom>
          <a:noFill/>
          <a:ln/>
        </p:spPr>
        <p:txBody>
          <a:bodyPr wrap="square" lIns="0" tIns="0" rIns="0" bIns="0" rtlCol="0" anchor="ctr"/>
          <a:lstStyle/>
          <a:p>
            <a:pPr marL="0" indent="0" algn="ctr">
              <a:buNone/>
            </a:pPr>
            <a:r>
              <a:rPr lang="en-US" sz="1700" b="1" dirty="0">
                <a:solidFill>
                  <a:srgbClr val="0B1F3A"/>
                </a:solidFill>
              </a:rPr>
              <a:t>All four evidence streams support EGFR as a suitable academic docking target.</a:t>
            </a:r>
            <a:endParaRPr lang="en-US" sz="1700" dirty="0"/>
          </a:p>
        </p:txBody>
      </p:sp>
      <p:sp>
        <p:nvSpPr>
          <p:cNvPr id="18" name="Text 16"/>
          <p:cNvSpPr/>
          <p:nvPr/>
        </p:nvSpPr>
        <p:spPr>
          <a:xfrm>
            <a:off x="713232" y="3208283"/>
            <a:ext cx="2926080" cy="228600"/>
          </a:xfrm>
          <a:prstGeom prst="rect">
            <a:avLst/>
          </a:prstGeom>
          <a:noFill/>
          <a:ln/>
        </p:spPr>
        <p:txBody>
          <a:bodyPr wrap="square" rtlCol="0" anchor="ctr"/>
          <a:lstStyle/>
          <a:p>
            <a:pPr marL="0" indent="0">
              <a:buNone/>
            </a:pPr>
            <a:r>
              <a:rPr lang="en-US" sz="2000" b="1" dirty="0">
                <a:solidFill>
                  <a:srgbClr val="14B8A6"/>
                </a:solidFill>
              </a:rPr>
              <a:t>Validation logic used in the report</a:t>
            </a:r>
            <a:endParaRPr lang="en-US" sz="2000" dirty="0"/>
          </a:p>
        </p:txBody>
      </p:sp>
      <p:sp>
        <p:nvSpPr>
          <p:cNvPr id="19" name="Text 17"/>
          <p:cNvSpPr/>
          <p:nvPr/>
        </p:nvSpPr>
        <p:spPr>
          <a:xfrm>
            <a:off x="713232" y="3678726"/>
            <a:ext cx="4754880" cy="1463040"/>
          </a:xfrm>
          <a:prstGeom prst="rect">
            <a:avLst/>
          </a:prstGeom>
          <a:noFill/>
          <a:ln/>
        </p:spPr>
        <p:txBody>
          <a:bodyPr wrap="square" lIns="127" tIns="127" rIns="127" bIns="127" rtlCol="0" anchor="ctr"/>
          <a:lstStyle/>
          <a:p>
            <a:pPr marL="0" indent="0">
              <a:buNone/>
            </a:pPr>
            <a:r>
              <a:rPr lang="en-US" sz="1800" dirty="0">
                <a:solidFill>
                  <a:srgbClr val="1F2937"/>
                </a:solidFill>
              </a:rPr>
              <a:t>• Biological relevance: </a:t>
            </a:r>
            <a:r>
              <a:rPr lang="en-US" sz="1800" b="1" dirty="0">
                <a:solidFill>
                  <a:srgbClr val="1F2937"/>
                </a:solidFill>
              </a:rPr>
              <a:t>disease pathway and mutation evidence
</a:t>
            </a:r>
            <a:r>
              <a:rPr lang="en-US" sz="1800" dirty="0">
                <a:solidFill>
                  <a:srgbClr val="1F2937"/>
                </a:solidFill>
              </a:rPr>
              <a:t>• Technical suitability: </a:t>
            </a:r>
            <a:r>
              <a:rPr lang="en-US" sz="1800" b="1" dirty="0">
                <a:solidFill>
                  <a:srgbClr val="1F2937"/>
                </a:solidFill>
              </a:rPr>
              <a:t>available structure and known inhibitors
</a:t>
            </a:r>
            <a:r>
              <a:rPr lang="en-US" sz="1800" dirty="0">
                <a:solidFill>
                  <a:srgbClr val="1F2937"/>
                </a:solidFill>
              </a:rPr>
              <a:t>• Project fit: </a:t>
            </a:r>
            <a:r>
              <a:rPr lang="en-US" sz="1800" b="1" dirty="0">
                <a:solidFill>
                  <a:srgbClr val="1F2937"/>
                </a:solidFill>
              </a:rPr>
              <a:t>manageable scope for a 4-week academic workflow</a:t>
            </a:r>
            <a:endParaRPr lang="en-US" sz="1800" dirty="0"/>
          </a:p>
        </p:txBody>
      </p:sp>
      <p:sp>
        <p:nvSpPr>
          <p:cNvPr id="20" name="Shape 18"/>
          <p:cNvSpPr/>
          <p:nvPr/>
        </p:nvSpPr>
        <p:spPr>
          <a:xfrm>
            <a:off x="502920" y="6446520"/>
            <a:ext cx="11064240" cy="0"/>
          </a:xfrm>
          <a:prstGeom prst="line">
            <a:avLst/>
          </a:prstGeom>
          <a:noFill/>
          <a:ln w="12700">
            <a:solidFill>
              <a:srgbClr val="D7DEE8"/>
            </a:solidFill>
            <a:prstDash val="solid"/>
          </a:ln>
        </p:spPr>
      </p:sp>
      <p:sp>
        <p:nvSpPr>
          <p:cNvPr id="21" name="Text 19"/>
          <p:cNvSpPr/>
          <p:nvPr/>
        </p:nvSpPr>
        <p:spPr>
          <a:xfrm>
            <a:off x="502920" y="6473952"/>
            <a:ext cx="2560320" cy="182880"/>
          </a:xfrm>
          <a:prstGeom prst="rect">
            <a:avLst/>
          </a:prstGeom>
          <a:noFill/>
          <a:ln/>
        </p:spPr>
        <p:txBody>
          <a:bodyPr wrap="square" rtlCol="0" anchor="ctr"/>
          <a:lstStyle/>
          <a:p>
            <a:pPr marL="0" indent="0">
              <a:buNone/>
            </a:pPr>
            <a:r>
              <a:rPr lang="en-US" sz="900" dirty="0">
                <a:solidFill>
                  <a:srgbClr val="667085"/>
                </a:solidFill>
              </a:rPr>
              <a:t>Major Project | Bioinformatics</a:t>
            </a:r>
            <a:endParaRPr lang="en-US" sz="900" dirty="0"/>
          </a:p>
        </p:txBody>
      </p:sp>
      <p:sp>
        <p:nvSpPr>
          <p:cNvPr id="22" name="Text 20"/>
          <p:cNvSpPr/>
          <p:nvPr/>
        </p:nvSpPr>
        <p:spPr>
          <a:xfrm>
            <a:off x="11155680" y="6455664"/>
            <a:ext cx="365760" cy="182880"/>
          </a:xfrm>
          <a:prstGeom prst="rect">
            <a:avLst/>
          </a:prstGeom>
          <a:noFill/>
          <a:ln/>
        </p:spPr>
        <p:txBody>
          <a:bodyPr wrap="square" rtlCol="0" anchor="ctr"/>
          <a:lstStyle/>
          <a:p>
            <a:pPr marL="0" indent="0" algn="r">
              <a:buNone/>
            </a:pPr>
            <a:r>
              <a:rPr lang="en-US" sz="900" dirty="0">
                <a:solidFill>
                  <a:srgbClr val="667085"/>
                </a:solidFill>
              </a:rPr>
              <a:t>5</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6F8FB"/>
        </a:solidFill>
        <a:effectLst/>
      </p:bgPr>
    </p:bg>
    <p:spTree>
      <p:nvGrpSpPr>
        <p:cNvPr id="1" name=""/>
        <p:cNvGrpSpPr/>
        <p:nvPr/>
      </p:nvGrpSpPr>
      <p:grpSpPr>
        <a:xfrm>
          <a:off x="0" y="0"/>
          <a:ext cx="0" cy="0"/>
          <a:chOff x="0" y="0"/>
          <a:chExt cx="0" cy="0"/>
        </a:xfrm>
      </p:grpSpPr>
      <p:sp>
        <p:nvSpPr>
          <p:cNvPr id="2" name="Text 0"/>
          <p:cNvSpPr/>
          <p:nvPr/>
        </p:nvSpPr>
        <p:spPr>
          <a:xfrm>
            <a:off x="502920" y="146304"/>
            <a:ext cx="3200400" cy="164592"/>
          </a:xfrm>
          <a:prstGeom prst="rect">
            <a:avLst/>
          </a:prstGeom>
          <a:noFill/>
          <a:ln/>
        </p:spPr>
        <p:txBody>
          <a:bodyPr wrap="square" rtlCol="0" anchor="ctr"/>
          <a:lstStyle/>
          <a:p>
            <a:pPr marL="0" indent="0">
              <a:buNone/>
            </a:pPr>
            <a:r>
              <a:rPr lang="en-US" sz="1050" b="1" dirty="0">
                <a:solidFill>
                  <a:srgbClr val="14B8A6"/>
                </a:solidFill>
                <a:latin typeface="Aptos" pitchFamily="34" charset="0"/>
                <a:ea typeface="Aptos" pitchFamily="34" charset="-122"/>
                <a:cs typeface="Aptos" pitchFamily="34" charset="-120"/>
              </a:rPr>
              <a:t>Drug Discovery Pipeline</a:t>
            </a:r>
            <a:endParaRPr lang="en-US" sz="1050" dirty="0"/>
          </a:p>
        </p:txBody>
      </p:sp>
      <p:sp>
        <p:nvSpPr>
          <p:cNvPr id="3" name="Text 1"/>
          <p:cNvSpPr/>
          <p:nvPr/>
        </p:nvSpPr>
        <p:spPr>
          <a:xfrm>
            <a:off x="502920" y="384048"/>
            <a:ext cx="10972800" cy="347472"/>
          </a:xfrm>
          <a:prstGeom prst="rect">
            <a:avLst/>
          </a:prstGeom>
          <a:noFill/>
          <a:ln/>
        </p:spPr>
        <p:txBody>
          <a:bodyPr wrap="square" rtlCol="0" anchor="ctr"/>
          <a:lstStyle/>
          <a:p>
            <a:pPr marL="0" indent="0">
              <a:buNone/>
            </a:pPr>
            <a:r>
              <a:rPr lang="en-US" sz="2600" b="1" dirty="0">
                <a:solidFill>
                  <a:srgbClr val="0B1F3A"/>
                </a:solidFill>
                <a:latin typeface="Aptos Display" pitchFamily="34" charset="0"/>
                <a:ea typeface="Aptos Display" pitchFamily="34" charset="-122"/>
                <a:cs typeface="Aptos Display" pitchFamily="34" charset="-120"/>
              </a:rPr>
              <a:t>Phase 2 - structure determination and binding-site analysis</a:t>
            </a:r>
            <a:endParaRPr lang="en-US" sz="2600" dirty="0"/>
          </a:p>
        </p:txBody>
      </p:sp>
      <p:sp>
        <p:nvSpPr>
          <p:cNvPr id="4" name="Shape 2"/>
          <p:cNvSpPr/>
          <p:nvPr/>
        </p:nvSpPr>
        <p:spPr>
          <a:xfrm>
            <a:off x="502920" y="850392"/>
            <a:ext cx="11064240" cy="0"/>
          </a:xfrm>
          <a:prstGeom prst="line">
            <a:avLst/>
          </a:prstGeom>
          <a:noFill/>
          <a:ln w="12700">
            <a:solidFill>
              <a:srgbClr val="D7DEE8"/>
            </a:solidFill>
            <a:prstDash val="solid"/>
          </a:ln>
        </p:spPr>
      </p:sp>
      <p:sp>
        <p:nvSpPr>
          <p:cNvPr id="5" name="Text 3"/>
          <p:cNvSpPr/>
          <p:nvPr/>
        </p:nvSpPr>
        <p:spPr>
          <a:xfrm>
            <a:off x="713232" y="1261872"/>
            <a:ext cx="2928602" cy="228595"/>
          </a:xfrm>
          <a:prstGeom prst="rect">
            <a:avLst/>
          </a:prstGeom>
          <a:noFill/>
          <a:ln/>
        </p:spPr>
        <p:txBody>
          <a:bodyPr wrap="square" rtlCol="0" anchor="ctr"/>
          <a:lstStyle/>
          <a:p>
            <a:pPr marL="0" indent="0">
              <a:buNone/>
            </a:pPr>
            <a:r>
              <a:rPr lang="en-US" sz="2000" b="1" dirty="0">
                <a:solidFill>
                  <a:srgbClr val="14B8A6"/>
                </a:solidFill>
              </a:rPr>
              <a:t>Structure strategy</a:t>
            </a:r>
            <a:endParaRPr lang="en-US" sz="2000" dirty="0"/>
          </a:p>
        </p:txBody>
      </p:sp>
      <p:sp>
        <p:nvSpPr>
          <p:cNvPr id="6" name="Text 4"/>
          <p:cNvSpPr/>
          <p:nvPr/>
        </p:nvSpPr>
        <p:spPr>
          <a:xfrm>
            <a:off x="731520" y="1779612"/>
            <a:ext cx="4526280" cy="2011680"/>
          </a:xfrm>
          <a:prstGeom prst="rect">
            <a:avLst/>
          </a:prstGeom>
          <a:noFill/>
          <a:ln/>
        </p:spPr>
        <p:txBody>
          <a:bodyPr wrap="square" lIns="254" tIns="254" rIns="254" bIns="254" rtlCol="0" anchor="ctr"/>
          <a:lstStyle/>
          <a:p>
            <a:pPr marL="177800" indent="-177800">
              <a:buSzPct val="100000"/>
              <a:buChar char="•"/>
            </a:pPr>
            <a:r>
              <a:rPr lang="en-US" sz="1900" dirty="0">
                <a:solidFill>
                  <a:srgbClr val="1F2937"/>
                </a:solidFill>
              </a:rPr>
              <a:t>Acquire the receptor from PDB or AlphaFold DB.</a:t>
            </a:r>
            <a:endParaRPr lang="en-US" sz="1900" dirty="0"/>
          </a:p>
          <a:p>
            <a:pPr marL="177800" indent="-177800">
              <a:buSzPct val="100000"/>
              <a:buChar char="•"/>
            </a:pPr>
            <a:r>
              <a:rPr lang="en-US" sz="1900" dirty="0">
                <a:solidFill>
                  <a:srgbClr val="1F2937"/>
                </a:solidFill>
              </a:rPr>
              <a:t>Prepare the structure: remove non-essential molecules, add hydrogens, convert as needed.</a:t>
            </a:r>
            <a:endParaRPr lang="en-US" sz="1900" dirty="0"/>
          </a:p>
          <a:p>
            <a:pPr marL="177800" indent="-177800">
              <a:buSzPct val="100000"/>
              <a:buChar char="•"/>
            </a:pPr>
            <a:r>
              <a:rPr lang="en-US" sz="1900" dirty="0">
                <a:solidFill>
                  <a:srgbClr val="1F2937"/>
                </a:solidFill>
              </a:rPr>
              <a:t>Define the docking box around the active-site pocket.</a:t>
            </a:r>
            <a:endParaRPr lang="en-US" sz="1900" dirty="0"/>
          </a:p>
          <a:p>
            <a:pPr marL="177800" indent="-177800">
              <a:buSzPct val="100000"/>
              <a:buChar char="•"/>
            </a:pPr>
            <a:r>
              <a:rPr lang="en-US" sz="1900" dirty="0">
                <a:solidFill>
                  <a:srgbClr val="1F2937"/>
                </a:solidFill>
              </a:rPr>
              <a:t>Inspect the scene in PyMOL or ChimeraX before docking.</a:t>
            </a:r>
            <a:endParaRPr lang="en-US" sz="1900" dirty="0"/>
          </a:p>
        </p:txBody>
      </p:sp>
      <p:sp>
        <p:nvSpPr>
          <p:cNvPr id="7" name="Shape 5"/>
          <p:cNvSpPr/>
          <p:nvPr/>
        </p:nvSpPr>
        <p:spPr>
          <a:xfrm>
            <a:off x="749808" y="4069080"/>
            <a:ext cx="4526280" cy="1188720"/>
          </a:xfrm>
          <a:prstGeom prst="roundRect">
            <a:avLst/>
          </a:prstGeom>
          <a:solidFill>
            <a:srgbClr val="FFFFFF"/>
          </a:solidFill>
          <a:ln w="12700">
            <a:solidFill>
              <a:srgbClr val="D8E3F2"/>
            </a:solidFill>
            <a:prstDash val="solid"/>
          </a:ln>
        </p:spPr>
      </p:sp>
      <p:sp>
        <p:nvSpPr>
          <p:cNvPr id="8" name="Text 6"/>
          <p:cNvSpPr/>
          <p:nvPr/>
        </p:nvSpPr>
        <p:spPr>
          <a:xfrm>
            <a:off x="960120" y="4370832"/>
            <a:ext cx="4069080" cy="640080"/>
          </a:xfrm>
          <a:prstGeom prst="rect">
            <a:avLst/>
          </a:prstGeom>
          <a:noFill/>
          <a:ln/>
        </p:spPr>
        <p:txBody>
          <a:bodyPr wrap="square" lIns="0" tIns="0" rIns="0" bIns="0" rtlCol="0" anchor="ctr"/>
          <a:lstStyle/>
          <a:p>
            <a:pPr marL="0" indent="0" algn="ctr">
              <a:buNone/>
            </a:pPr>
            <a:r>
              <a:rPr lang="en-US" sz="1800" b="1" dirty="0">
                <a:solidFill>
                  <a:srgbClr val="0B1F3A"/>
                </a:solidFill>
              </a:rPr>
              <a:t>Key check before docking</a:t>
            </a:r>
            <a:endParaRPr lang="en-US" sz="1800" dirty="0"/>
          </a:p>
          <a:p>
            <a:pPr marL="0" indent="0" algn="ctr">
              <a:buNone/>
            </a:pPr>
            <a:r>
              <a:rPr lang="en-US" sz="1800" b="1" dirty="0">
                <a:solidFill>
                  <a:srgbClr val="0B1F3A"/>
                </a:solidFill>
              </a:rPr>
              <a:t>The pocket should be chemically plausible, accessible to the ligand, and consistent with known biology.</a:t>
            </a:r>
            <a:endParaRPr lang="en-US" sz="1800" dirty="0"/>
          </a:p>
        </p:txBody>
      </p:sp>
      <p:pic>
        <p:nvPicPr>
          <p:cNvPr id="9" name="Image 0" descr="/mnt/data/a_scientific_molecular_visualization_scene_clean.png"/>
          <p:cNvPicPr>
            <a:picLocks noChangeAspect="1"/>
          </p:cNvPicPr>
          <p:nvPr/>
        </p:nvPicPr>
        <p:blipFill>
          <a:blip r:embed="rId3"/>
          <a:stretch>
            <a:fillRect/>
          </a:stretch>
        </p:blipFill>
        <p:spPr>
          <a:xfrm>
            <a:off x="5532120" y="1760220"/>
            <a:ext cx="6035040" cy="4023360"/>
          </a:xfrm>
          <a:prstGeom prst="rect">
            <a:avLst/>
          </a:prstGeom>
        </p:spPr>
      </p:pic>
      <p:sp>
        <p:nvSpPr>
          <p:cNvPr id="10" name="Text 7"/>
          <p:cNvSpPr/>
          <p:nvPr/>
        </p:nvSpPr>
        <p:spPr>
          <a:xfrm>
            <a:off x="7315200" y="5596128"/>
            <a:ext cx="2560320" cy="182880"/>
          </a:xfrm>
          <a:prstGeom prst="rect">
            <a:avLst/>
          </a:prstGeom>
          <a:noFill/>
          <a:ln/>
        </p:spPr>
        <p:txBody>
          <a:bodyPr wrap="square" rtlCol="0" anchor="ctr"/>
          <a:lstStyle/>
          <a:p>
            <a:pPr marL="0" indent="0" algn="ctr">
              <a:buNone/>
            </a:pPr>
            <a:r>
              <a:rPr lang="en-US" sz="1000" dirty="0">
                <a:solidFill>
                  <a:srgbClr val="667085"/>
                </a:solidFill>
              </a:rPr>
              <a:t>Illustrative PyMOL-style active-site view</a:t>
            </a:r>
            <a:endParaRPr lang="en-US" sz="1000" dirty="0"/>
          </a:p>
        </p:txBody>
      </p:sp>
      <p:sp>
        <p:nvSpPr>
          <p:cNvPr id="11" name="Shape 8"/>
          <p:cNvSpPr/>
          <p:nvPr/>
        </p:nvSpPr>
        <p:spPr>
          <a:xfrm>
            <a:off x="502920" y="6446520"/>
            <a:ext cx="11064240" cy="0"/>
          </a:xfrm>
          <a:prstGeom prst="line">
            <a:avLst/>
          </a:prstGeom>
          <a:noFill/>
          <a:ln w="12700">
            <a:solidFill>
              <a:srgbClr val="D7DEE8"/>
            </a:solidFill>
            <a:prstDash val="solid"/>
          </a:ln>
        </p:spPr>
      </p:sp>
      <p:sp>
        <p:nvSpPr>
          <p:cNvPr id="12" name="Text 9"/>
          <p:cNvSpPr/>
          <p:nvPr/>
        </p:nvSpPr>
        <p:spPr>
          <a:xfrm>
            <a:off x="502920" y="6473952"/>
            <a:ext cx="2560320" cy="182880"/>
          </a:xfrm>
          <a:prstGeom prst="rect">
            <a:avLst/>
          </a:prstGeom>
          <a:noFill/>
          <a:ln/>
        </p:spPr>
        <p:txBody>
          <a:bodyPr wrap="square" rtlCol="0" anchor="ctr"/>
          <a:lstStyle/>
          <a:p>
            <a:pPr marL="0" indent="0">
              <a:buNone/>
            </a:pPr>
            <a:r>
              <a:rPr lang="en-US" sz="900" dirty="0">
                <a:solidFill>
                  <a:srgbClr val="667085"/>
                </a:solidFill>
              </a:rPr>
              <a:t>Major Project | Bioinformatics</a:t>
            </a:r>
            <a:endParaRPr lang="en-US" sz="900" dirty="0"/>
          </a:p>
        </p:txBody>
      </p:sp>
      <p:sp>
        <p:nvSpPr>
          <p:cNvPr id="13" name="Text 10"/>
          <p:cNvSpPr/>
          <p:nvPr/>
        </p:nvSpPr>
        <p:spPr>
          <a:xfrm>
            <a:off x="11155680" y="6455664"/>
            <a:ext cx="365760" cy="182880"/>
          </a:xfrm>
          <a:prstGeom prst="rect">
            <a:avLst/>
          </a:prstGeom>
          <a:noFill/>
          <a:ln/>
        </p:spPr>
        <p:txBody>
          <a:bodyPr wrap="square" rtlCol="0" anchor="ctr"/>
          <a:lstStyle/>
          <a:p>
            <a:pPr marL="0" indent="0" algn="r">
              <a:buNone/>
            </a:pPr>
            <a:r>
              <a:rPr lang="en-US" sz="900" dirty="0">
                <a:solidFill>
                  <a:srgbClr val="667085"/>
                </a:solidFill>
              </a:rPr>
              <a:t>6</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02920" y="146304"/>
            <a:ext cx="3200400" cy="164592"/>
          </a:xfrm>
          <a:prstGeom prst="rect">
            <a:avLst/>
          </a:prstGeom>
          <a:noFill/>
          <a:ln/>
        </p:spPr>
        <p:txBody>
          <a:bodyPr wrap="square" rtlCol="0" anchor="ctr"/>
          <a:lstStyle/>
          <a:p>
            <a:pPr marL="0" indent="0">
              <a:buNone/>
            </a:pPr>
            <a:r>
              <a:rPr lang="en-US" sz="1050" b="1" dirty="0">
                <a:solidFill>
                  <a:srgbClr val="14B8A6"/>
                </a:solidFill>
                <a:latin typeface="Aptos" pitchFamily="34" charset="0"/>
                <a:ea typeface="Aptos" pitchFamily="34" charset="-122"/>
                <a:cs typeface="Aptos" pitchFamily="34" charset="-120"/>
              </a:rPr>
              <a:t>Drug Discovery Pipeline</a:t>
            </a:r>
            <a:endParaRPr lang="en-US" sz="1050" dirty="0"/>
          </a:p>
        </p:txBody>
      </p:sp>
      <p:sp>
        <p:nvSpPr>
          <p:cNvPr id="3" name="Text 1"/>
          <p:cNvSpPr/>
          <p:nvPr/>
        </p:nvSpPr>
        <p:spPr>
          <a:xfrm>
            <a:off x="502920" y="384048"/>
            <a:ext cx="10972800" cy="347472"/>
          </a:xfrm>
          <a:prstGeom prst="rect">
            <a:avLst/>
          </a:prstGeom>
          <a:noFill/>
          <a:ln/>
        </p:spPr>
        <p:txBody>
          <a:bodyPr wrap="square" rtlCol="0" anchor="ctr"/>
          <a:lstStyle/>
          <a:p>
            <a:pPr marL="0" indent="0">
              <a:buNone/>
            </a:pPr>
            <a:r>
              <a:rPr lang="en-US" sz="2600" b="1" dirty="0">
                <a:solidFill>
                  <a:srgbClr val="0B1F3A"/>
                </a:solidFill>
                <a:latin typeface="Aptos Display" pitchFamily="34" charset="0"/>
                <a:ea typeface="Aptos Display" pitchFamily="34" charset="-122"/>
                <a:cs typeface="Aptos Display" pitchFamily="34" charset="-120"/>
              </a:rPr>
              <a:t>Phase 3 - compound library and AutoDock Vina setup</a:t>
            </a:r>
            <a:endParaRPr lang="en-US" sz="2600" dirty="0"/>
          </a:p>
        </p:txBody>
      </p:sp>
      <p:sp>
        <p:nvSpPr>
          <p:cNvPr id="4" name="Shape 2"/>
          <p:cNvSpPr/>
          <p:nvPr/>
        </p:nvSpPr>
        <p:spPr>
          <a:xfrm>
            <a:off x="502920" y="850392"/>
            <a:ext cx="11064240" cy="0"/>
          </a:xfrm>
          <a:prstGeom prst="line">
            <a:avLst/>
          </a:prstGeom>
          <a:noFill/>
          <a:ln w="12700">
            <a:solidFill>
              <a:srgbClr val="D7DEE8"/>
            </a:solidFill>
            <a:prstDash val="solid"/>
          </a:ln>
        </p:spPr>
      </p:sp>
      <p:sp>
        <p:nvSpPr>
          <p:cNvPr id="5" name="Text 3"/>
          <p:cNvSpPr/>
          <p:nvPr/>
        </p:nvSpPr>
        <p:spPr>
          <a:xfrm>
            <a:off x="694313" y="916293"/>
            <a:ext cx="3732644" cy="393192"/>
          </a:xfrm>
          <a:prstGeom prst="rect">
            <a:avLst/>
          </a:prstGeom>
          <a:noFill/>
          <a:ln/>
        </p:spPr>
        <p:txBody>
          <a:bodyPr wrap="square" rtlCol="0" anchor="ctr"/>
          <a:lstStyle/>
          <a:p>
            <a:pPr marL="0" indent="0">
              <a:buNone/>
            </a:pPr>
            <a:r>
              <a:rPr lang="en-US" sz="2000" b="1" dirty="0">
                <a:solidFill>
                  <a:srgbClr val="14B8A6"/>
                </a:solidFill>
              </a:rPr>
              <a:t>Compound library logic</a:t>
            </a:r>
            <a:endParaRPr lang="en-US" sz="2000" dirty="0"/>
          </a:p>
        </p:txBody>
      </p:sp>
      <p:sp>
        <p:nvSpPr>
          <p:cNvPr id="6" name="Text 4"/>
          <p:cNvSpPr/>
          <p:nvPr/>
        </p:nvSpPr>
        <p:spPr>
          <a:xfrm>
            <a:off x="713232" y="1508760"/>
            <a:ext cx="4800600" cy="1143000"/>
          </a:xfrm>
          <a:prstGeom prst="rect">
            <a:avLst/>
          </a:prstGeom>
          <a:noFill/>
          <a:ln/>
        </p:spPr>
        <p:txBody>
          <a:bodyPr wrap="square" lIns="0" tIns="0" rIns="0" bIns="0" rtlCol="0" anchor="ctr"/>
          <a:lstStyle/>
          <a:p>
            <a:pPr marL="0" indent="0">
              <a:buNone/>
            </a:pPr>
            <a:r>
              <a:rPr lang="en-US" sz="1850" dirty="0">
                <a:solidFill>
                  <a:srgbClr val="1F2937"/>
                </a:solidFill>
              </a:rPr>
              <a:t>In the classroom-scale workflow, we keep the library manageable: known inhibitors plus candidate analogs from sources like ZINC, PubChem, or DrugBank. We then prepare ligands and dock them inside a fixed receptor box.</a:t>
            </a:r>
            <a:endParaRPr lang="en-US" sz="1850" dirty="0"/>
          </a:p>
        </p:txBody>
      </p:sp>
      <p:sp>
        <p:nvSpPr>
          <p:cNvPr id="7" name="Text 5"/>
          <p:cNvSpPr/>
          <p:nvPr/>
        </p:nvSpPr>
        <p:spPr>
          <a:xfrm>
            <a:off x="713232" y="3046765"/>
            <a:ext cx="3474720" cy="201168"/>
          </a:xfrm>
          <a:prstGeom prst="rect">
            <a:avLst/>
          </a:prstGeom>
          <a:noFill/>
          <a:ln/>
        </p:spPr>
        <p:txBody>
          <a:bodyPr wrap="square" rtlCol="0" anchor="ctr"/>
          <a:lstStyle/>
          <a:p>
            <a:pPr marL="0" indent="0">
              <a:buNone/>
            </a:pPr>
            <a:r>
              <a:rPr lang="en-US" sz="1800" b="1" dirty="0">
                <a:solidFill>
                  <a:srgbClr val="14B8A6"/>
                </a:solidFill>
              </a:rPr>
              <a:t>Typical docking settings shown in the final pipeline</a:t>
            </a:r>
            <a:endParaRPr lang="en-US" sz="1800" dirty="0"/>
          </a:p>
        </p:txBody>
      </p:sp>
      <p:sp>
        <p:nvSpPr>
          <p:cNvPr id="8" name="Shape 6"/>
          <p:cNvSpPr/>
          <p:nvPr/>
        </p:nvSpPr>
        <p:spPr>
          <a:xfrm>
            <a:off x="731520" y="3451860"/>
            <a:ext cx="4800600" cy="2148840"/>
          </a:xfrm>
          <a:prstGeom prst="roundRect">
            <a:avLst/>
          </a:prstGeom>
          <a:solidFill>
            <a:srgbClr val="10243F"/>
          </a:solidFill>
          <a:ln w="12700">
            <a:solidFill>
              <a:srgbClr val="10243F"/>
            </a:solidFill>
            <a:prstDash val="solid"/>
          </a:ln>
        </p:spPr>
      </p:sp>
      <p:sp>
        <p:nvSpPr>
          <p:cNvPr id="9" name="Text 7"/>
          <p:cNvSpPr/>
          <p:nvPr/>
        </p:nvSpPr>
        <p:spPr>
          <a:xfrm>
            <a:off x="914400" y="3566160"/>
            <a:ext cx="4480560" cy="1325880"/>
          </a:xfrm>
          <a:prstGeom prst="rect">
            <a:avLst/>
          </a:prstGeom>
          <a:noFill/>
          <a:ln/>
        </p:spPr>
        <p:txBody>
          <a:bodyPr wrap="square" lIns="254" tIns="254" rIns="254" bIns="254" rtlCol="0" anchor="ctr"/>
          <a:lstStyle/>
          <a:p>
            <a:pPr marL="0" indent="0">
              <a:buNone/>
            </a:pPr>
            <a:r>
              <a:rPr lang="en-US" sz="1400" dirty="0">
                <a:solidFill>
                  <a:srgbClr val="8292A2"/>
                </a:solidFill>
                <a:latin typeface="Consolas" pitchFamily="34" charset="0"/>
                <a:ea typeface="Consolas" pitchFamily="34" charset="-122"/>
                <a:cs typeface="Consolas" pitchFamily="34" charset="-120"/>
              </a:rPr>
              <a:t>1 </a:t>
            </a:r>
            <a:r>
              <a:rPr lang="en-US" sz="1400" dirty="0">
                <a:solidFill>
                  <a:srgbClr val="FFFFFF"/>
                </a:solidFill>
                <a:latin typeface="Consolas" pitchFamily="34" charset="0"/>
                <a:ea typeface="Consolas" pitchFamily="34" charset="-122"/>
                <a:cs typeface="Consolas" pitchFamily="34" charset="-120"/>
              </a:rPr>
              <a:t>vina --receptor egfr_receptor.pdbqt </a:t>
            </a:r>
            <a:r>
              <a:rPr lang="en-US" sz="1400" dirty="0">
                <a:solidFill>
                  <a:srgbClr val="F8F8F2"/>
                </a:solidFill>
                <a:latin typeface="Consolas" pitchFamily="34" charset="0"/>
                <a:ea typeface="Consolas" pitchFamily="34" charset="-122"/>
                <a:cs typeface="Consolas" pitchFamily="34" charset="-120"/>
              </a:rPr>
              <a:t>\</a:t>
            </a:r>
            <a:r>
              <a:rPr lang="en-US" sz="1400" dirty="0">
                <a:solidFill>
                  <a:srgbClr val="FFFFFF"/>
                </a:solidFill>
                <a:latin typeface="Consolas" pitchFamily="34" charset="0"/>
                <a:ea typeface="Consolas" pitchFamily="34" charset="-122"/>
                <a:cs typeface="Consolas" pitchFamily="34" charset="-120"/>
              </a:rPr>
              <a:t>
</a:t>
            </a:r>
            <a:r>
              <a:rPr lang="en-US" sz="1400" dirty="0">
                <a:solidFill>
                  <a:srgbClr val="8292A2"/>
                </a:solidFill>
                <a:latin typeface="Consolas" pitchFamily="34" charset="0"/>
                <a:ea typeface="Consolas" pitchFamily="34" charset="-122"/>
                <a:cs typeface="Consolas" pitchFamily="34" charset="-120"/>
              </a:rPr>
              <a:t>2 </a:t>
            </a:r>
            <a:r>
              <a:rPr lang="en-US" sz="1400" dirty="0">
                <a:solidFill>
                  <a:srgbClr val="FFFFFF"/>
                </a:solidFill>
                <a:latin typeface="Consolas" pitchFamily="34" charset="0"/>
                <a:ea typeface="Consolas" pitchFamily="34" charset="-122"/>
                <a:cs typeface="Consolas" pitchFamily="34" charset="-120"/>
              </a:rPr>
              <a:t>  --ligand lig4.pdbqt </a:t>
            </a:r>
            <a:r>
              <a:rPr lang="en-US" sz="1400" dirty="0">
                <a:solidFill>
                  <a:srgbClr val="F8F8F2"/>
                </a:solidFill>
                <a:latin typeface="Consolas" pitchFamily="34" charset="0"/>
                <a:ea typeface="Consolas" pitchFamily="34" charset="-122"/>
                <a:cs typeface="Consolas" pitchFamily="34" charset="-120"/>
              </a:rPr>
              <a:t>\</a:t>
            </a:r>
            <a:r>
              <a:rPr lang="en-US" sz="1400" dirty="0">
                <a:solidFill>
                  <a:srgbClr val="FFFFFF"/>
                </a:solidFill>
                <a:latin typeface="Consolas" pitchFamily="34" charset="0"/>
                <a:ea typeface="Consolas" pitchFamily="34" charset="-122"/>
                <a:cs typeface="Consolas" pitchFamily="34" charset="-120"/>
              </a:rPr>
              <a:t>
</a:t>
            </a:r>
            <a:r>
              <a:rPr lang="en-US" sz="1400" dirty="0">
                <a:solidFill>
                  <a:srgbClr val="8292A2"/>
                </a:solidFill>
                <a:latin typeface="Consolas" pitchFamily="34" charset="0"/>
                <a:ea typeface="Consolas" pitchFamily="34" charset="-122"/>
                <a:cs typeface="Consolas" pitchFamily="34" charset="-120"/>
              </a:rPr>
              <a:t>3 </a:t>
            </a:r>
            <a:r>
              <a:rPr lang="en-US" sz="1400" dirty="0">
                <a:solidFill>
                  <a:srgbClr val="FFFFFF"/>
                </a:solidFill>
                <a:latin typeface="Consolas" pitchFamily="34" charset="0"/>
                <a:ea typeface="Consolas" pitchFamily="34" charset="-122"/>
                <a:cs typeface="Consolas" pitchFamily="34" charset="-120"/>
              </a:rPr>
              <a:t>  --center_x 14.2 --center_y 8.5 --center_z 24.1 </a:t>
            </a:r>
            <a:r>
              <a:rPr lang="en-US" sz="1400" dirty="0">
                <a:solidFill>
                  <a:srgbClr val="F8F8F2"/>
                </a:solidFill>
                <a:latin typeface="Consolas" pitchFamily="34" charset="0"/>
                <a:ea typeface="Consolas" pitchFamily="34" charset="-122"/>
                <a:cs typeface="Consolas" pitchFamily="34" charset="-120"/>
              </a:rPr>
              <a:t>\</a:t>
            </a:r>
            <a:r>
              <a:rPr lang="en-US" sz="1400" dirty="0">
                <a:solidFill>
                  <a:srgbClr val="FFFFFF"/>
                </a:solidFill>
                <a:latin typeface="Consolas" pitchFamily="34" charset="0"/>
                <a:ea typeface="Consolas" pitchFamily="34" charset="-122"/>
                <a:cs typeface="Consolas" pitchFamily="34" charset="-120"/>
              </a:rPr>
              <a:t>
</a:t>
            </a:r>
            <a:r>
              <a:rPr lang="en-US" sz="1400" dirty="0">
                <a:solidFill>
                  <a:srgbClr val="8292A2"/>
                </a:solidFill>
                <a:latin typeface="Consolas" pitchFamily="34" charset="0"/>
                <a:ea typeface="Consolas" pitchFamily="34" charset="-122"/>
                <a:cs typeface="Consolas" pitchFamily="34" charset="-120"/>
              </a:rPr>
              <a:t>4 </a:t>
            </a:r>
            <a:r>
              <a:rPr lang="en-US" sz="1400" dirty="0">
                <a:solidFill>
                  <a:srgbClr val="FFFFFF"/>
                </a:solidFill>
                <a:latin typeface="Consolas" pitchFamily="34" charset="0"/>
                <a:ea typeface="Consolas" pitchFamily="34" charset="-122"/>
                <a:cs typeface="Consolas" pitchFamily="34" charset="-120"/>
              </a:rPr>
              <a:t>  --size_x 20 --size_y 20 --size_z 20 </a:t>
            </a:r>
            <a:r>
              <a:rPr lang="en-US" sz="1400" dirty="0">
                <a:solidFill>
                  <a:srgbClr val="F8F8F2"/>
                </a:solidFill>
                <a:latin typeface="Consolas" pitchFamily="34" charset="0"/>
                <a:ea typeface="Consolas" pitchFamily="34" charset="-122"/>
                <a:cs typeface="Consolas" pitchFamily="34" charset="-120"/>
              </a:rPr>
              <a:t>\</a:t>
            </a:r>
            <a:r>
              <a:rPr lang="en-US" sz="1400" dirty="0">
                <a:solidFill>
                  <a:srgbClr val="FFFFFF"/>
                </a:solidFill>
                <a:latin typeface="Consolas" pitchFamily="34" charset="0"/>
                <a:ea typeface="Consolas" pitchFamily="34" charset="-122"/>
                <a:cs typeface="Consolas" pitchFamily="34" charset="-120"/>
              </a:rPr>
              <a:t>
</a:t>
            </a:r>
            <a:r>
              <a:rPr lang="en-US" sz="1400" dirty="0">
                <a:solidFill>
                  <a:srgbClr val="8292A2"/>
                </a:solidFill>
                <a:latin typeface="Consolas" pitchFamily="34" charset="0"/>
                <a:ea typeface="Consolas" pitchFamily="34" charset="-122"/>
                <a:cs typeface="Consolas" pitchFamily="34" charset="-120"/>
              </a:rPr>
              <a:t>5 </a:t>
            </a:r>
            <a:r>
              <a:rPr lang="en-US" sz="1400" dirty="0">
                <a:solidFill>
                  <a:srgbClr val="FFFFFF"/>
                </a:solidFill>
                <a:latin typeface="Consolas" pitchFamily="34" charset="0"/>
                <a:ea typeface="Consolas" pitchFamily="34" charset="-122"/>
                <a:cs typeface="Consolas" pitchFamily="34" charset="-120"/>
              </a:rPr>
              <a:t>  --out lig4_out.pdbqt --log lig4_vina.txt</a:t>
            </a:r>
            <a:endParaRPr lang="en-US" sz="1300" dirty="0"/>
          </a:p>
        </p:txBody>
      </p:sp>
      <p:sp>
        <p:nvSpPr>
          <p:cNvPr id="10" name="Shape 8"/>
          <p:cNvSpPr/>
          <p:nvPr/>
        </p:nvSpPr>
        <p:spPr>
          <a:xfrm>
            <a:off x="5989320" y="1484798"/>
            <a:ext cx="5288280" cy="4786409"/>
          </a:xfrm>
          <a:prstGeom prst="roundRect">
            <a:avLst/>
          </a:prstGeom>
          <a:solidFill>
            <a:srgbClr val="F8FAFD"/>
          </a:solidFill>
          <a:ln w="12700">
            <a:solidFill>
              <a:srgbClr val="D8E3F2"/>
            </a:solidFill>
            <a:prstDash val="solid"/>
          </a:ln>
        </p:spPr>
      </p:sp>
      <p:sp>
        <p:nvSpPr>
          <p:cNvPr id="11" name="Text 9"/>
          <p:cNvSpPr/>
          <p:nvPr/>
        </p:nvSpPr>
        <p:spPr>
          <a:xfrm>
            <a:off x="6263640" y="1755648"/>
            <a:ext cx="1463040" cy="201168"/>
          </a:xfrm>
          <a:prstGeom prst="rect">
            <a:avLst/>
          </a:prstGeom>
          <a:noFill/>
          <a:ln/>
        </p:spPr>
        <p:txBody>
          <a:bodyPr wrap="square" rtlCol="0" anchor="ctr"/>
          <a:lstStyle/>
          <a:p>
            <a:pPr marL="0" indent="0">
              <a:buNone/>
            </a:pPr>
            <a:r>
              <a:rPr lang="en-US" sz="1500" b="1" dirty="0">
                <a:solidFill>
                  <a:srgbClr val="667085"/>
                </a:solidFill>
              </a:rPr>
              <a:t>Input sources</a:t>
            </a:r>
            <a:endParaRPr lang="en-US" sz="1500" dirty="0"/>
          </a:p>
        </p:txBody>
      </p:sp>
      <p:sp>
        <p:nvSpPr>
          <p:cNvPr id="12" name="Text 10"/>
          <p:cNvSpPr/>
          <p:nvPr/>
        </p:nvSpPr>
        <p:spPr>
          <a:xfrm>
            <a:off x="7818120" y="1737360"/>
            <a:ext cx="2697480" cy="256032"/>
          </a:xfrm>
          <a:prstGeom prst="rect">
            <a:avLst/>
          </a:prstGeom>
          <a:noFill/>
          <a:ln/>
        </p:spPr>
        <p:txBody>
          <a:bodyPr wrap="square" rtlCol="0" anchor="ctr"/>
          <a:lstStyle/>
          <a:p>
            <a:pPr marL="0" indent="0">
              <a:buNone/>
            </a:pPr>
            <a:r>
              <a:rPr lang="en-US" sz="1800" b="1" dirty="0">
                <a:solidFill>
                  <a:srgbClr val="0B1F3A"/>
                </a:solidFill>
              </a:rPr>
              <a:t>ZINC, PubChem, DrugBank</a:t>
            </a:r>
            <a:endParaRPr lang="en-US" sz="1800" dirty="0"/>
          </a:p>
        </p:txBody>
      </p:sp>
      <p:sp>
        <p:nvSpPr>
          <p:cNvPr id="13" name="Shape 11"/>
          <p:cNvSpPr/>
          <p:nvPr/>
        </p:nvSpPr>
        <p:spPr>
          <a:xfrm>
            <a:off x="6263640" y="2103120"/>
            <a:ext cx="3886200" cy="0"/>
          </a:xfrm>
          <a:prstGeom prst="line">
            <a:avLst/>
          </a:prstGeom>
          <a:noFill/>
          <a:ln w="12700">
            <a:solidFill>
              <a:srgbClr val="D7DEE8"/>
            </a:solidFill>
            <a:prstDash val="solid"/>
          </a:ln>
        </p:spPr>
      </p:sp>
      <p:sp>
        <p:nvSpPr>
          <p:cNvPr id="14" name="Text 12"/>
          <p:cNvSpPr/>
          <p:nvPr/>
        </p:nvSpPr>
        <p:spPr>
          <a:xfrm>
            <a:off x="6263640" y="2578608"/>
            <a:ext cx="1463040" cy="201168"/>
          </a:xfrm>
          <a:prstGeom prst="rect">
            <a:avLst/>
          </a:prstGeom>
          <a:noFill/>
          <a:ln/>
        </p:spPr>
        <p:txBody>
          <a:bodyPr wrap="square" rtlCol="0" anchor="ctr"/>
          <a:lstStyle/>
          <a:p>
            <a:pPr marL="0" indent="0">
              <a:buNone/>
            </a:pPr>
            <a:r>
              <a:rPr lang="en-US" sz="1500" b="1" dirty="0">
                <a:solidFill>
                  <a:srgbClr val="667085"/>
                </a:solidFill>
              </a:rPr>
              <a:t>Classroom scope</a:t>
            </a:r>
            <a:endParaRPr lang="en-US" sz="1500" dirty="0"/>
          </a:p>
        </p:txBody>
      </p:sp>
      <p:sp>
        <p:nvSpPr>
          <p:cNvPr id="15" name="Text 13"/>
          <p:cNvSpPr/>
          <p:nvPr/>
        </p:nvSpPr>
        <p:spPr>
          <a:xfrm>
            <a:off x="7818120" y="2560320"/>
            <a:ext cx="2697480" cy="256032"/>
          </a:xfrm>
          <a:prstGeom prst="rect">
            <a:avLst/>
          </a:prstGeom>
          <a:noFill/>
          <a:ln/>
        </p:spPr>
        <p:txBody>
          <a:bodyPr wrap="square" rtlCol="0" anchor="ctr"/>
          <a:lstStyle/>
          <a:p>
            <a:pPr marL="0" indent="0">
              <a:buNone/>
            </a:pPr>
            <a:r>
              <a:rPr lang="en-US" sz="1800" b="1" dirty="0">
                <a:solidFill>
                  <a:srgbClr val="0B1F3A"/>
                </a:solidFill>
              </a:rPr>
              <a:t>50-100 compounds</a:t>
            </a:r>
            <a:endParaRPr lang="en-US" sz="1800" dirty="0"/>
          </a:p>
        </p:txBody>
      </p:sp>
      <p:sp>
        <p:nvSpPr>
          <p:cNvPr id="16" name="Shape 14"/>
          <p:cNvSpPr/>
          <p:nvPr/>
        </p:nvSpPr>
        <p:spPr>
          <a:xfrm>
            <a:off x="6263640" y="2926080"/>
            <a:ext cx="3886200" cy="0"/>
          </a:xfrm>
          <a:prstGeom prst="line">
            <a:avLst/>
          </a:prstGeom>
          <a:noFill/>
          <a:ln w="12700">
            <a:solidFill>
              <a:srgbClr val="D7DEE8"/>
            </a:solidFill>
            <a:prstDash val="solid"/>
          </a:ln>
        </p:spPr>
      </p:sp>
      <p:sp>
        <p:nvSpPr>
          <p:cNvPr id="17" name="Text 15"/>
          <p:cNvSpPr/>
          <p:nvPr/>
        </p:nvSpPr>
        <p:spPr>
          <a:xfrm>
            <a:off x="6263640" y="3401568"/>
            <a:ext cx="1463040" cy="201168"/>
          </a:xfrm>
          <a:prstGeom prst="rect">
            <a:avLst/>
          </a:prstGeom>
          <a:noFill/>
          <a:ln/>
        </p:spPr>
        <p:txBody>
          <a:bodyPr wrap="square" rtlCol="0" anchor="ctr"/>
          <a:lstStyle/>
          <a:p>
            <a:pPr marL="0" indent="0">
              <a:buNone/>
            </a:pPr>
            <a:r>
              <a:rPr lang="en-US" sz="1500" b="1" dirty="0">
                <a:solidFill>
                  <a:srgbClr val="667085"/>
                </a:solidFill>
              </a:rPr>
              <a:t>Docking engine</a:t>
            </a:r>
            <a:endParaRPr lang="en-US" sz="1500" dirty="0"/>
          </a:p>
        </p:txBody>
      </p:sp>
      <p:sp>
        <p:nvSpPr>
          <p:cNvPr id="18" name="Text 16"/>
          <p:cNvSpPr/>
          <p:nvPr/>
        </p:nvSpPr>
        <p:spPr>
          <a:xfrm>
            <a:off x="7818120" y="3383280"/>
            <a:ext cx="2697480" cy="256032"/>
          </a:xfrm>
          <a:prstGeom prst="rect">
            <a:avLst/>
          </a:prstGeom>
          <a:noFill/>
          <a:ln/>
        </p:spPr>
        <p:txBody>
          <a:bodyPr wrap="square" rtlCol="0" anchor="ctr"/>
          <a:lstStyle/>
          <a:p>
            <a:pPr marL="0" indent="0">
              <a:buNone/>
            </a:pPr>
            <a:r>
              <a:rPr lang="en-US" sz="1800" b="1" dirty="0">
                <a:solidFill>
                  <a:srgbClr val="0B1F3A"/>
                </a:solidFill>
              </a:rPr>
              <a:t>AutoDock Vina / PyRx</a:t>
            </a:r>
            <a:endParaRPr lang="en-US" sz="1800" dirty="0"/>
          </a:p>
        </p:txBody>
      </p:sp>
      <p:sp>
        <p:nvSpPr>
          <p:cNvPr id="19" name="Shape 17"/>
          <p:cNvSpPr/>
          <p:nvPr/>
        </p:nvSpPr>
        <p:spPr>
          <a:xfrm>
            <a:off x="6263640" y="3749040"/>
            <a:ext cx="3886200" cy="0"/>
          </a:xfrm>
          <a:prstGeom prst="line">
            <a:avLst/>
          </a:prstGeom>
          <a:noFill/>
          <a:ln w="12700">
            <a:solidFill>
              <a:srgbClr val="D7DEE8"/>
            </a:solidFill>
            <a:prstDash val="solid"/>
          </a:ln>
        </p:spPr>
      </p:sp>
      <p:sp>
        <p:nvSpPr>
          <p:cNvPr id="20" name="Text 18"/>
          <p:cNvSpPr/>
          <p:nvPr/>
        </p:nvSpPr>
        <p:spPr>
          <a:xfrm>
            <a:off x="6263640" y="4224528"/>
            <a:ext cx="1463040" cy="201168"/>
          </a:xfrm>
          <a:prstGeom prst="rect">
            <a:avLst/>
          </a:prstGeom>
          <a:noFill/>
          <a:ln/>
        </p:spPr>
        <p:txBody>
          <a:bodyPr wrap="square" rtlCol="0" anchor="ctr"/>
          <a:lstStyle/>
          <a:p>
            <a:pPr marL="0" indent="0">
              <a:buNone/>
            </a:pPr>
            <a:r>
              <a:rPr lang="en-US" sz="1500" b="1" dirty="0">
                <a:solidFill>
                  <a:srgbClr val="667085"/>
                </a:solidFill>
              </a:rPr>
              <a:t>Outputs</a:t>
            </a:r>
            <a:endParaRPr lang="en-US" sz="1500" dirty="0"/>
          </a:p>
        </p:txBody>
      </p:sp>
      <p:sp>
        <p:nvSpPr>
          <p:cNvPr id="21" name="Text 19"/>
          <p:cNvSpPr/>
          <p:nvPr/>
        </p:nvSpPr>
        <p:spPr>
          <a:xfrm>
            <a:off x="7818120" y="4206240"/>
            <a:ext cx="2697480" cy="256032"/>
          </a:xfrm>
          <a:prstGeom prst="rect">
            <a:avLst/>
          </a:prstGeom>
          <a:noFill/>
          <a:ln/>
        </p:spPr>
        <p:txBody>
          <a:bodyPr wrap="square" rtlCol="0" anchor="ctr"/>
          <a:lstStyle/>
          <a:p>
            <a:pPr marL="0" indent="0">
              <a:buNone/>
            </a:pPr>
            <a:r>
              <a:rPr lang="en-US" sz="1800" b="1" dirty="0">
                <a:solidFill>
                  <a:srgbClr val="0B1F3A"/>
                </a:solidFill>
              </a:rPr>
              <a:t>Pose files + log files + scores</a:t>
            </a:r>
            <a:endParaRPr lang="en-US" sz="1800" dirty="0"/>
          </a:p>
        </p:txBody>
      </p:sp>
      <p:sp>
        <p:nvSpPr>
          <p:cNvPr id="22" name="Text 20"/>
          <p:cNvSpPr/>
          <p:nvPr/>
        </p:nvSpPr>
        <p:spPr>
          <a:xfrm>
            <a:off x="6263640" y="4617720"/>
            <a:ext cx="3886200" cy="265810"/>
          </a:xfrm>
          <a:prstGeom prst="rect">
            <a:avLst/>
          </a:prstGeom>
          <a:noFill/>
          <a:ln/>
        </p:spPr>
        <p:txBody>
          <a:bodyPr wrap="square" rtlCol="0" anchor="ctr"/>
          <a:lstStyle/>
          <a:p>
            <a:pPr marL="0" indent="0">
              <a:buNone/>
            </a:pPr>
            <a:r>
              <a:rPr lang="en-US" sz="1800" b="1" dirty="0">
                <a:solidFill>
                  <a:srgbClr val="14B8A6"/>
                </a:solidFill>
              </a:rPr>
              <a:t>Why log files matter</a:t>
            </a:r>
            <a:endParaRPr lang="en-US" sz="1800" dirty="0"/>
          </a:p>
        </p:txBody>
      </p:sp>
      <p:sp>
        <p:nvSpPr>
          <p:cNvPr id="23" name="Text 21"/>
          <p:cNvSpPr/>
          <p:nvPr/>
        </p:nvSpPr>
        <p:spPr>
          <a:xfrm>
            <a:off x="6400800" y="5278453"/>
            <a:ext cx="4251960" cy="530352"/>
          </a:xfrm>
          <a:prstGeom prst="rect">
            <a:avLst/>
          </a:prstGeom>
          <a:noFill/>
          <a:ln/>
        </p:spPr>
        <p:txBody>
          <a:bodyPr wrap="square" lIns="0" tIns="0" rIns="0" bIns="0" rtlCol="0" anchor="ctr"/>
          <a:lstStyle/>
          <a:p>
            <a:pPr marL="0" indent="0">
              <a:buNone/>
            </a:pPr>
            <a:r>
              <a:rPr lang="en-US" sz="1800" dirty="0">
                <a:solidFill>
                  <a:srgbClr val="1F2937"/>
                </a:solidFill>
              </a:rPr>
              <a:t>The Vina log is the machine-readable source for pose mode, affinity, and RMSD. Our final pipeline parses these real outputs directly.</a:t>
            </a:r>
            <a:endParaRPr lang="en-US" sz="1800" dirty="0"/>
          </a:p>
        </p:txBody>
      </p:sp>
      <p:sp>
        <p:nvSpPr>
          <p:cNvPr id="24" name="Shape 22"/>
          <p:cNvSpPr/>
          <p:nvPr/>
        </p:nvSpPr>
        <p:spPr>
          <a:xfrm>
            <a:off x="502920" y="6446520"/>
            <a:ext cx="11064240" cy="0"/>
          </a:xfrm>
          <a:prstGeom prst="line">
            <a:avLst/>
          </a:prstGeom>
          <a:noFill/>
          <a:ln w="12700">
            <a:solidFill>
              <a:srgbClr val="D7DEE8"/>
            </a:solidFill>
            <a:prstDash val="solid"/>
          </a:ln>
        </p:spPr>
      </p:sp>
      <p:sp>
        <p:nvSpPr>
          <p:cNvPr id="25" name="Text 23"/>
          <p:cNvSpPr/>
          <p:nvPr/>
        </p:nvSpPr>
        <p:spPr>
          <a:xfrm>
            <a:off x="502920" y="6473952"/>
            <a:ext cx="2560320" cy="182880"/>
          </a:xfrm>
          <a:prstGeom prst="rect">
            <a:avLst/>
          </a:prstGeom>
          <a:noFill/>
          <a:ln/>
        </p:spPr>
        <p:txBody>
          <a:bodyPr wrap="square" rtlCol="0" anchor="ctr"/>
          <a:lstStyle/>
          <a:p>
            <a:pPr marL="0" indent="0">
              <a:buNone/>
            </a:pPr>
            <a:r>
              <a:rPr lang="en-US" sz="900" dirty="0">
                <a:solidFill>
                  <a:srgbClr val="667085"/>
                </a:solidFill>
              </a:rPr>
              <a:t>Major Project | Bioinformatics</a:t>
            </a:r>
            <a:endParaRPr lang="en-US" sz="900" dirty="0"/>
          </a:p>
        </p:txBody>
      </p:sp>
      <p:sp>
        <p:nvSpPr>
          <p:cNvPr id="26" name="Text 24"/>
          <p:cNvSpPr/>
          <p:nvPr/>
        </p:nvSpPr>
        <p:spPr>
          <a:xfrm>
            <a:off x="11155680" y="6455664"/>
            <a:ext cx="365760" cy="182880"/>
          </a:xfrm>
          <a:prstGeom prst="rect">
            <a:avLst/>
          </a:prstGeom>
          <a:noFill/>
          <a:ln/>
        </p:spPr>
        <p:txBody>
          <a:bodyPr wrap="square" rtlCol="0" anchor="ctr"/>
          <a:lstStyle/>
          <a:p>
            <a:pPr marL="0" indent="0" algn="r">
              <a:buNone/>
            </a:pPr>
            <a:r>
              <a:rPr lang="en-US" sz="900" dirty="0">
                <a:solidFill>
                  <a:srgbClr val="667085"/>
                </a:solidFill>
              </a:rPr>
              <a:t>7</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6F8FB"/>
        </a:solidFill>
        <a:effectLst/>
      </p:bgPr>
    </p:bg>
    <p:spTree>
      <p:nvGrpSpPr>
        <p:cNvPr id="1" name=""/>
        <p:cNvGrpSpPr/>
        <p:nvPr/>
      </p:nvGrpSpPr>
      <p:grpSpPr>
        <a:xfrm>
          <a:off x="0" y="0"/>
          <a:ext cx="0" cy="0"/>
          <a:chOff x="0" y="0"/>
          <a:chExt cx="0" cy="0"/>
        </a:xfrm>
      </p:grpSpPr>
      <p:sp>
        <p:nvSpPr>
          <p:cNvPr id="2" name="Text 0"/>
          <p:cNvSpPr/>
          <p:nvPr/>
        </p:nvSpPr>
        <p:spPr>
          <a:xfrm>
            <a:off x="502920" y="146304"/>
            <a:ext cx="3200400" cy="164592"/>
          </a:xfrm>
          <a:prstGeom prst="rect">
            <a:avLst/>
          </a:prstGeom>
          <a:noFill/>
          <a:ln/>
        </p:spPr>
        <p:txBody>
          <a:bodyPr wrap="square" rtlCol="0" anchor="ctr"/>
          <a:lstStyle/>
          <a:p>
            <a:pPr marL="0" indent="0">
              <a:buNone/>
            </a:pPr>
            <a:r>
              <a:rPr lang="en-US" sz="1050" b="1" dirty="0">
                <a:solidFill>
                  <a:srgbClr val="14B8A6"/>
                </a:solidFill>
                <a:latin typeface="Aptos" pitchFamily="34" charset="0"/>
                <a:ea typeface="Aptos" pitchFamily="34" charset="-122"/>
                <a:cs typeface="Aptos" pitchFamily="34" charset="-120"/>
              </a:rPr>
              <a:t>Drug Discovery Pipeline</a:t>
            </a:r>
            <a:endParaRPr lang="en-US" sz="1050" dirty="0"/>
          </a:p>
        </p:txBody>
      </p:sp>
      <p:sp>
        <p:nvSpPr>
          <p:cNvPr id="3" name="Text 1"/>
          <p:cNvSpPr/>
          <p:nvPr/>
        </p:nvSpPr>
        <p:spPr>
          <a:xfrm>
            <a:off x="502920" y="384048"/>
            <a:ext cx="10972800" cy="347472"/>
          </a:xfrm>
          <a:prstGeom prst="rect">
            <a:avLst/>
          </a:prstGeom>
          <a:noFill/>
          <a:ln/>
        </p:spPr>
        <p:txBody>
          <a:bodyPr wrap="square" rtlCol="0" anchor="ctr"/>
          <a:lstStyle/>
          <a:p>
            <a:pPr marL="0" indent="0">
              <a:buNone/>
            </a:pPr>
            <a:r>
              <a:rPr lang="en-US" sz="2600" b="1" dirty="0">
                <a:solidFill>
                  <a:srgbClr val="0B1F3A"/>
                </a:solidFill>
                <a:latin typeface="Aptos Display" pitchFamily="34" charset="0"/>
                <a:ea typeface="Aptos Display" pitchFamily="34" charset="-122"/>
                <a:cs typeface="Aptos Display" pitchFamily="34" charset="-120"/>
              </a:rPr>
              <a:t>Real AutoDock Vina output parsing in Python</a:t>
            </a:r>
            <a:endParaRPr lang="en-US" sz="2600" dirty="0"/>
          </a:p>
        </p:txBody>
      </p:sp>
      <p:sp>
        <p:nvSpPr>
          <p:cNvPr id="4" name="Shape 2"/>
          <p:cNvSpPr/>
          <p:nvPr/>
        </p:nvSpPr>
        <p:spPr>
          <a:xfrm>
            <a:off x="502920" y="850392"/>
            <a:ext cx="11064240" cy="0"/>
          </a:xfrm>
          <a:prstGeom prst="line">
            <a:avLst/>
          </a:prstGeom>
          <a:noFill/>
          <a:ln w="12700">
            <a:solidFill>
              <a:srgbClr val="D7DEE8"/>
            </a:solidFill>
            <a:prstDash val="solid"/>
          </a:ln>
        </p:spPr>
      </p:sp>
      <p:sp>
        <p:nvSpPr>
          <p:cNvPr id="5" name="Text 3"/>
          <p:cNvSpPr/>
          <p:nvPr/>
        </p:nvSpPr>
        <p:spPr>
          <a:xfrm>
            <a:off x="713232" y="1188720"/>
            <a:ext cx="10972800" cy="594360"/>
          </a:xfrm>
          <a:prstGeom prst="rect">
            <a:avLst/>
          </a:prstGeom>
          <a:noFill/>
          <a:ln/>
        </p:spPr>
        <p:txBody>
          <a:bodyPr wrap="square" lIns="0" tIns="0" rIns="0" bIns="0" rtlCol="0" anchor="ctr"/>
          <a:lstStyle/>
          <a:p>
            <a:pPr marL="0" indent="0">
              <a:buNone/>
            </a:pPr>
            <a:r>
              <a:rPr lang="en-US" sz="1850" dirty="0">
                <a:solidFill>
                  <a:srgbClr val="1F2937"/>
                </a:solidFill>
              </a:rPr>
              <a:t>The final pipeline no longer relies only on placeholder scores. It can parse the real Vina result table for each ligand, keep the best pose, merge metadata, and write ranked CSV outputs.</a:t>
            </a:r>
            <a:endParaRPr lang="en-US" sz="1850" dirty="0"/>
          </a:p>
        </p:txBody>
      </p:sp>
      <p:sp>
        <p:nvSpPr>
          <p:cNvPr id="6" name="Shape 4"/>
          <p:cNvSpPr/>
          <p:nvPr/>
        </p:nvSpPr>
        <p:spPr>
          <a:xfrm>
            <a:off x="502920" y="1783080"/>
            <a:ext cx="5559552" cy="4160520"/>
          </a:xfrm>
          <a:prstGeom prst="roundRect">
            <a:avLst/>
          </a:prstGeom>
          <a:solidFill>
            <a:srgbClr val="10243F"/>
          </a:solidFill>
          <a:ln w="12700">
            <a:solidFill>
              <a:srgbClr val="10243F"/>
            </a:solidFill>
            <a:prstDash val="solid"/>
          </a:ln>
        </p:spPr>
      </p:sp>
      <p:sp>
        <p:nvSpPr>
          <p:cNvPr id="7" name="Text 5"/>
          <p:cNvSpPr/>
          <p:nvPr/>
        </p:nvSpPr>
        <p:spPr>
          <a:xfrm>
            <a:off x="914400" y="2130552"/>
            <a:ext cx="4892040" cy="3383280"/>
          </a:xfrm>
          <a:prstGeom prst="rect">
            <a:avLst/>
          </a:prstGeom>
          <a:noFill/>
          <a:ln/>
        </p:spPr>
        <p:txBody>
          <a:bodyPr wrap="square" lIns="254" tIns="254" rIns="254" bIns="254" rtlCol="0" anchor="ctr"/>
          <a:lstStyle/>
          <a:p>
            <a:pPr marL="0" indent="0">
              <a:buNone/>
            </a:pPr>
            <a:r>
              <a:rPr lang="en-US" sz="1400" dirty="0">
                <a:solidFill>
                  <a:srgbClr val="8292A2"/>
                </a:solidFill>
                <a:latin typeface="Consolas" pitchFamily="34" charset="0"/>
                <a:ea typeface="Consolas" pitchFamily="34" charset="-122"/>
                <a:cs typeface="Consolas" pitchFamily="34" charset="-120"/>
              </a:rPr>
              <a:t> 1 </a:t>
            </a:r>
            <a:r>
              <a:rPr lang="en-US" sz="1400" dirty="0">
                <a:solidFill>
                  <a:srgbClr val="66D9EF"/>
                </a:solidFill>
                <a:latin typeface="Consolas" pitchFamily="34" charset="0"/>
                <a:ea typeface="Consolas" pitchFamily="34" charset="-122"/>
                <a:cs typeface="Consolas" pitchFamily="34" charset="-120"/>
              </a:rPr>
              <a:t>def</a:t>
            </a:r>
            <a:r>
              <a:rPr lang="en-US" sz="1400" dirty="0">
                <a:solidFill>
                  <a:srgbClr val="FFFFFF"/>
                </a:solidFill>
                <a:latin typeface="Consolas" pitchFamily="34" charset="0"/>
                <a:ea typeface="Consolas" pitchFamily="34" charset="-122"/>
                <a:cs typeface="Consolas" pitchFamily="34" charset="-120"/>
              </a:rPr>
              <a:t> parse_vina_log</a:t>
            </a:r>
            <a:r>
              <a:rPr lang="en-US" sz="1400" dirty="0">
                <a:solidFill>
                  <a:srgbClr val="F8F8F2"/>
                </a:solidFill>
                <a:latin typeface="Consolas" pitchFamily="34" charset="0"/>
                <a:ea typeface="Consolas" pitchFamily="34" charset="-122"/>
                <a:cs typeface="Consolas" pitchFamily="34" charset="-120"/>
              </a:rPr>
              <a:t>(</a:t>
            </a:r>
            <a:r>
              <a:rPr lang="en-US" sz="1400" dirty="0">
                <a:solidFill>
                  <a:srgbClr val="FFFFFF"/>
                </a:solidFill>
                <a:latin typeface="Consolas" pitchFamily="34" charset="0"/>
                <a:ea typeface="Consolas" pitchFamily="34" charset="-122"/>
                <a:cs typeface="Consolas" pitchFamily="34" charset="-120"/>
              </a:rPr>
              <a:t>log_path</a:t>
            </a:r>
            <a:r>
              <a:rPr lang="en-US" sz="1400" dirty="0">
                <a:solidFill>
                  <a:srgbClr val="F8F8F2"/>
                </a:solidFill>
                <a:latin typeface="Consolas" pitchFamily="34" charset="0"/>
                <a:ea typeface="Consolas" pitchFamily="34" charset="-122"/>
                <a:cs typeface="Consolas" pitchFamily="34" charset="-120"/>
              </a:rPr>
              <a:t>):</a:t>
            </a:r>
            <a:r>
              <a:rPr lang="en-US" sz="1400" dirty="0">
                <a:solidFill>
                  <a:srgbClr val="FFFFFF"/>
                </a:solidFill>
                <a:latin typeface="Consolas" pitchFamily="34" charset="0"/>
                <a:ea typeface="Consolas" pitchFamily="34" charset="-122"/>
                <a:cs typeface="Consolas" pitchFamily="34" charset="-120"/>
              </a:rPr>
              <a:t>
</a:t>
            </a:r>
            <a:r>
              <a:rPr lang="en-US" sz="1400" dirty="0">
                <a:solidFill>
                  <a:srgbClr val="8292A2"/>
                </a:solidFill>
                <a:latin typeface="Consolas" pitchFamily="34" charset="0"/>
                <a:ea typeface="Consolas" pitchFamily="34" charset="-122"/>
                <a:cs typeface="Consolas" pitchFamily="34" charset="-120"/>
              </a:rPr>
              <a:t> 2 </a:t>
            </a:r>
            <a:r>
              <a:rPr lang="en-US" sz="1400" dirty="0">
                <a:solidFill>
                  <a:srgbClr val="FFFFFF"/>
                </a:solidFill>
                <a:latin typeface="Consolas" pitchFamily="34" charset="0"/>
                <a:ea typeface="Consolas" pitchFamily="34" charset="-122"/>
                <a:cs typeface="Consolas" pitchFamily="34" charset="-120"/>
              </a:rPr>
              <a:t>    rows </a:t>
            </a:r>
            <a:r>
              <a:rPr lang="en-US" sz="1400" dirty="0">
                <a:solidFill>
                  <a:srgbClr val="F8F8F2"/>
                </a:solidFill>
                <a:latin typeface="Consolas" pitchFamily="34" charset="0"/>
                <a:ea typeface="Consolas" pitchFamily="34" charset="-122"/>
                <a:cs typeface="Consolas" pitchFamily="34" charset="-120"/>
              </a:rPr>
              <a:t>=</a:t>
            </a:r>
            <a:r>
              <a:rPr lang="en-US" sz="1400" dirty="0">
                <a:solidFill>
                  <a:srgbClr val="FFFFFF"/>
                </a:solidFill>
                <a:latin typeface="Consolas" pitchFamily="34" charset="0"/>
                <a:ea typeface="Consolas" pitchFamily="34" charset="-122"/>
                <a:cs typeface="Consolas" pitchFamily="34" charset="-120"/>
              </a:rPr>
              <a:t> </a:t>
            </a:r>
            <a:r>
              <a:rPr lang="en-US" sz="1400" dirty="0">
                <a:solidFill>
                  <a:srgbClr val="F8F8F2"/>
                </a:solidFill>
                <a:latin typeface="Consolas" pitchFamily="34" charset="0"/>
                <a:ea typeface="Consolas" pitchFamily="34" charset="-122"/>
                <a:cs typeface="Consolas" pitchFamily="34" charset="-120"/>
              </a:rPr>
              <a:t>[]</a:t>
            </a:r>
            <a:r>
              <a:rPr lang="en-US" sz="1400" dirty="0">
                <a:solidFill>
                  <a:srgbClr val="FFFFFF"/>
                </a:solidFill>
                <a:latin typeface="Consolas" pitchFamily="34" charset="0"/>
                <a:ea typeface="Consolas" pitchFamily="34" charset="-122"/>
                <a:cs typeface="Consolas" pitchFamily="34" charset="-120"/>
              </a:rPr>
              <a:t>
</a:t>
            </a:r>
            <a:r>
              <a:rPr lang="en-US" sz="1400" dirty="0">
                <a:solidFill>
                  <a:srgbClr val="8292A2"/>
                </a:solidFill>
                <a:latin typeface="Consolas" pitchFamily="34" charset="0"/>
                <a:ea typeface="Consolas" pitchFamily="34" charset="-122"/>
                <a:cs typeface="Consolas" pitchFamily="34" charset="-120"/>
              </a:rPr>
              <a:t> 3 </a:t>
            </a:r>
            <a:r>
              <a:rPr lang="en-US" sz="1400" dirty="0">
                <a:solidFill>
                  <a:srgbClr val="FFFFFF"/>
                </a:solidFill>
                <a:latin typeface="Consolas" pitchFamily="34" charset="0"/>
                <a:ea typeface="Consolas" pitchFamily="34" charset="-122"/>
                <a:cs typeface="Consolas" pitchFamily="34" charset="-120"/>
              </a:rPr>
              <a:t>    </a:t>
            </a:r>
            <a:r>
              <a:rPr lang="en-US" sz="1400" dirty="0">
                <a:solidFill>
                  <a:srgbClr val="66D9EF"/>
                </a:solidFill>
                <a:latin typeface="Consolas" pitchFamily="34" charset="0"/>
                <a:ea typeface="Consolas" pitchFamily="34" charset="-122"/>
                <a:cs typeface="Consolas" pitchFamily="34" charset="-120"/>
              </a:rPr>
              <a:t>for</a:t>
            </a:r>
            <a:r>
              <a:rPr lang="en-US" sz="1400" dirty="0">
                <a:solidFill>
                  <a:srgbClr val="FFFFFF"/>
                </a:solidFill>
                <a:latin typeface="Consolas" pitchFamily="34" charset="0"/>
                <a:ea typeface="Consolas" pitchFamily="34" charset="-122"/>
                <a:cs typeface="Consolas" pitchFamily="34" charset="-120"/>
              </a:rPr>
              <a:t> line </a:t>
            </a:r>
            <a:r>
              <a:rPr lang="en-US" sz="1400" dirty="0">
                <a:solidFill>
                  <a:srgbClr val="66D9EF"/>
                </a:solidFill>
                <a:latin typeface="Consolas" pitchFamily="34" charset="0"/>
                <a:ea typeface="Consolas" pitchFamily="34" charset="-122"/>
                <a:cs typeface="Consolas" pitchFamily="34" charset="-120"/>
              </a:rPr>
              <a:t>in</a:t>
            </a:r>
            <a:r>
              <a:rPr lang="en-US" sz="1400" dirty="0">
                <a:solidFill>
                  <a:srgbClr val="FFFFFF"/>
                </a:solidFill>
                <a:latin typeface="Consolas" pitchFamily="34" charset="0"/>
                <a:ea typeface="Consolas" pitchFamily="34" charset="-122"/>
                <a:cs typeface="Consolas" pitchFamily="34" charset="-120"/>
              </a:rPr>
              <a:t> log_path</a:t>
            </a:r>
            <a:r>
              <a:rPr lang="en-US" sz="1400" dirty="0">
                <a:solidFill>
                  <a:srgbClr val="F8F8F2"/>
                </a:solidFill>
                <a:latin typeface="Consolas" pitchFamily="34" charset="0"/>
                <a:ea typeface="Consolas" pitchFamily="34" charset="-122"/>
                <a:cs typeface="Consolas" pitchFamily="34" charset="-120"/>
              </a:rPr>
              <a:t>.</a:t>
            </a:r>
            <a:r>
              <a:rPr lang="en-US" sz="1400" dirty="0">
                <a:solidFill>
                  <a:srgbClr val="FFFFFF"/>
                </a:solidFill>
                <a:latin typeface="Consolas" pitchFamily="34" charset="0"/>
                <a:ea typeface="Consolas" pitchFamily="34" charset="-122"/>
                <a:cs typeface="Consolas" pitchFamily="34" charset="-120"/>
              </a:rPr>
              <a:t>read_text</a:t>
            </a:r>
            <a:r>
              <a:rPr lang="en-US" sz="1400" dirty="0">
                <a:solidFill>
                  <a:srgbClr val="F8F8F2"/>
                </a:solidFill>
                <a:latin typeface="Consolas" pitchFamily="34" charset="0"/>
                <a:ea typeface="Consolas" pitchFamily="34" charset="-122"/>
                <a:cs typeface="Consolas" pitchFamily="34" charset="-120"/>
              </a:rPr>
              <a:t>().</a:t>
            </a:r>
            <a:r>
              <a:rPr lang="en-US" sz="1400" dirty="0">
                <a:solidFill>
                  <a:srgbClr val="FFFFFF"/>
                </a:solidFill>
                <a:latin typeface="Consolas" pitchFamily="34" charset="0"/>
                <a:ea typeface="Consolas" pitchFamily="34" charset="-122"/>
                <a:cs typeface="Consolas" pitchFamily="34" charset="-120"/>
              </a:rPr>
              <a:t>splitlines</a:t>
            </a:r>
            <a:r>
              <a:rPr lang="en-US" sz="1400" dirty="0">
                <a:solidFill>
                  <a:srgbClr val="F8F8F2"/>
                </a:solidFill>
                <a:latin typeface="Consolas" pitchFamily="34" charset="0"/>
                <a:ea typeface="Consolas" pitchFamily="34" charset="-122"/>
                <a:cs typeface="Consolas" pitchFamily="34" charset="-120"/>
              </a:rPr>
              <a:t>():</a:t>
            </a:r>
            <a:r>
              <a:rPr lang="en-US" sz="1400" dirty="0">
                <a:solidFill>
                  <a:srgbClr val="FFFFFF"/>
                </a:solidFill>
                <a:latin typeface="Consolas" pitchFamily="34" charset="0"/>
                <a:ea typeface="Consolas" pitchFamily="34" charset="-122"/>
                <a:cs typeface="Consolas" pitchFamily="34" charset="-120"/>
              </a:rPr>
              <a:t>
</a:t>
            </a:r>
            <a:r>
              <a:rPr lang="en-US" sz="1400" dirty="0">
                <a:solidFill>
                  <a:srgbClr val="8292A2"/>
                </a:solidFill>
                <a:latin typeface="Consolas" pitchFamily="34" charset="0"/>
                <a:ea typeface="Consolas" pitchFamily="34" charset="-122"/>
                <a:cs typeface="Consolas" pitchFamily="34" charset="-120"/>
              </a:rPr>
              <a:t> 4 </a:t>
            </a:r>
            <a:r>
              <a:rPr lang="en-US" sz="1400" dirty="0">
                <a:solidFill>
                  <a:srgbClr val="FFFFFF"/>
                </a:solidFill>
                <a:latin typeface="Consolas" pitchFamily="34" charset="0"/>
                <a:ea typeface="Consolas" pitchFamily="34" charset="-122"/>
                <a:cs typeface="Consolas" pitchFamily="34" charset="-120"/>
              </a:rPr>
              <a:t>        </a:t>
            </a:r>
            <a:r>
              <a:rPr lang="en-US" sz="1400" dirty="0">
                <a:solidFill>
                  <a:srgbClr val="66D9EF"/>
                </a:solidFill>
                <a:latin typeface="Consolas" pitchFamily="34" charset="0"/>
                <a:ea typeface="Consolas" pitchFamily="34" charset="-122"/>
                <a:cs typeface="Consolas" pitchFamily="34" charset="-120"/>
              </a:rPr>
              <a:t>match</a:t>
            </a:r>
            <a:r>
              <a:rPr lang="en-US" sz="1400" dirty="0">
                <a:solidFill>
                  <a:srgbClr val="FFFFFF"/>
                </a:solidFill>
                <a:latin typeface="Consolas" pitchFamily="34" charset="0"/>
                <a:ea typeface="Consolas" pitchFamily="34" charset="-122"/>
                <a:cs typeface="Consolas" pitchFamily="34" charset="-120"/>
              </a:rPr>
              <a:t> </a:t>
            </a:r>
            <a:r>
              <a:rPr lang="en-US" sz="1400" dirty="0">
                <a:solidFill>
                  <a:srgbClr val="F8F8F2"/>
                </a:solidFill>
                <a:latin typeface="Consolas" pitchFamily="34" charset="0"/>
                <a:ea typeface="Consolas" pitchFamily="34" charset="-122"/>
                <a:cs typeface="Consolas" pitchFamily="34" charset="-120"/>
              </a:rPr>
              <a:t>=</a:t>
            </a:r>
            <a:r>
              <a:rPr lang="en-US" sz="1400" dirty="0">
                <a:solidFill>
                  <a:srgbClr val="FFFFFF"/>
                </a:solidFill>
                <a:latin typeface="Consolas" pitchFamily="34" charset="0"/>
                <a:ea typeface="Consolas" pitchFamily="34" charset="-122"/>
                <a:cs typeface="Consolas" pitchFamily="34" charset="-120"/>
              </a:rPr>
              <a:t> VINA_RESULT_RE</a:t>
            </a:r>
            <a:r>
              <a:rPr lang="en-US" sz="1400" dirty="0">
                <a:solidFill>
                  <a:srgbClr val="F8F8F2"/>
                </a:solidFill>
                <a:latin typeface="Consolas" pitchFamily="34" charset="0"/>
                <a:ea typeface="Consolas" pitchFamily="34" charset="-122"/>
                <a:cs typeface="Consolas" pitchFamily="34" charset="-120"/>
              </a:rPr>
              <a:t>.</a:t>
            </a:r>
            <a:r>
              <a:rPr lang="en-US" sz="1400" dirty="0">
                <a:solidFill>
                  <a:srgbClr val="66D9EF"/>
                </a:solidFill>
                <a:latin typeface="Consolas" pitchFamily="34" charset="0"/>
                <a:ea typeface="Consolas" pitchFamily="34" charset="-122"/>
                <a:cs typeface="Consolas" pitchFamily="34" charset="-120"/>
              </a:rPr>
              <a:t>match</a:t>
            </a:r>
            <a:r>
              <a:rPr lang="en-US" sz="1400" dirty="0">
                <a:solidFill>
                  <a:srgbClr val="F8F8F2"/>
                </a:solidFill>
                <a:latin typeface="Consolas" pitchFamily="34" charset="0"/>
                <a:ea typeface="Consolas" pitchFamily="34" charset="-122"/>
                <a:cs typeface="Consolas" pitchFamily="34" charset="-120"/>
              </a:rPr>
              <a:t>(</a:t>
            </a:r>
            <a:r>
              <a:rPr lang="en-US" sz="1400" dirty="0">
                <a:solidFill>
                  <a:srgbClr val="FFFFFF"/>
                </a:solidFill>
                <a:latin typeface="Consolas" pitchFamily="34" charset="0"/>
                <a:ea typeface="Consolas" pitchFamily="34" charset="-122"/>
                <a:cs typeface="Consolas" pitchFamily="34" charset="-120"/>
              </a:rPr>
              <a:t>line</a:t>
            </a:r>
            <a:r>
              <a:rPr lang="en-US" sz="1400" dirty="0">
                <a:solidFill>
                  <a:srgbClr val="F8F8F2"/>
                </a:solidFill>
                <a:latin typeface="Consolas" pitchFamily="34" charset="0"/>
                <a:ea typeface="Consolas" pitchFamily="34" charset="-122"/>
                <a:cs typeface="Consolas" pitchFamily="34" charset="-120"/>
              </a:rPr>
              <a:t>)</a:t>
            </a:r>
            <a:r>
              <a:rPr lang="en-US" sz="1400" dirty="0">
                <a:solidFill>
                  <a:srgbClr val="FFFFFF"/>
                </a:solidFill>
                <a:latin typeface="Consolas" pitchFamily="34" charset="0"/>
                <a:ea typeface="Consolas" pitchFamily="34" charset="-122"/>
                <a:cs typeface="Consolas" pitchFamily="34" charset="-120"/>
              </a:rPr>
              <a:t>
</a:t>
            </a:r>
            <a:r>
              <a:rPr lang="en-US" sz="1400" dirty="0">
                <a:solidFill>
                  <a:srgbClr val="8292A2"/>
                </a:solidFill>
                <a:latin typeface="Consolas" pitchFamily="34" charset="0"/>
                <a:ea typeface="Consolas" pitchFamily="34" charset="-122"/>
                <a:cs typeface="Consolas" pitchFamily="34" charset="-120"/>
              </a:rPr>
              <a:t> 5 </a:t>
            </a:r>
            <a:r>
              <a:rPr lang="en-US" sz="1400" dirty="0">
                <a:solidFill>
                  <a:srgbClr val="FFFFFF"/>
                </a:solidFill>
                <a:latin typeface="Consolas" pitchFamily="34" charset="0"/>
                <a:ea typeface="Consolas" pitchFamily="34" charset="-122"/>
                <a:cs typeface="Consolas" pitchFamily="34" charset="-120"/>
              </a:rPr>
              <a:t>        </a:t>
            </a:r>
            <a:r>
              <a:rPr lang="en-US" sz="1400" dirty="0">
                <a:solidFill>
                  <a:srgbClr val="66D9EF"/>
                </a:solidFill>
                <a:latin typeface="Consolas" pitchFamily="34" charset="0"/>
                <a:ea typeface="Consolas" pitchFamily="34" charset="-122"/>
                <a:cs typeface="Consolas" pitchFamily="34" charset="-120"/>
              </a:rPr>
              <a:t>if</a:t>
            </a:r>
            <a:r>
              <a:rPr lang="en-US" sz="1400" dirty="0">
                <a:solidFill>
                  <a:srgbClr val="FFFFFF"/>
                </a:solidFill>
                <a:latin typeface="Consolas" pitchFamily="34" charset="0"/>
                <a:ea typeface="Consolas" pitchFamily="34" charset="-122"/>
                <a:cs typeface="Consolas" pitchFamily="34" charset="-120"/>
              </a:rPr>
              <a:t> </a:t>
            </a:r>
            <a:r>
              <a:rPr lang="en-US" sz="1400" dirty="0">
                <a:solidFill>
                  <a:srgbClr val="66D9EF"/>
                </a:solidFill>
                <a:latin typeface="Consolas" pitchFamily="34" charset="0"/>
                <a:ea typeface="Consolas" pitchFamily="34" charset="-122"/>
                <a:cs typeface="Consolas" pitchFamily="34" charset="-120"/>
              </a:rPr>
              <a:t>match</a:t>
            </a:r>
            <a:r>
              <a:rPr lang="en-US" sz="1400" dirty="0">
                <a:solidFill>
                  <a:srgbClr val="F8F8F2"/>
                </a:solidFill>
                <a:latin typeface="Consolas" pitchFamily="34" charset="0"/>
                <a:ea typeface="Consolas" pitchFamily="34" charset="-122"/>
                <a:cs typeface="Consolas" pitchFamily="34" charset="-120"/>
              </a:rPr>
              <a:t>:</a:t>
            </a:r>
            <a:r>
              <a:rPr lang="en-US" sz="1400" dirty="0">
                <a:solidFill>
                  <a:srgbClr val="FFFFFF"/>
                </a:solidFill>
                <a:latin typeface="Consolas" pitchFamily="34" charset="0"/>
                <a:ea typeface="Consolas" pitchFamily="34" charset="-122"/>
                <a:cs typeface="Consolas" pitchFamily="34" charset="-120"/>
              </a:rPr>
              <a:t>
</a:t>
            </a:r>
            <a:r>
              <a:rPr lang="en-US" sz="1400" dirty="0">
                <a:solidFill>
                  <a:srgbClr val="8292A2"/>
                </a:solidFill>
                <a:latin typeface="Consolas" pitchFamily="34" charset="0"/>
                <a:ea typeface="Consolas" pitchFamily="34" charset="-122"/>
                <a:cs typeface="Consolas" pitchFamily="34" charset="-120"/>
              </a:rPr>
              <a:t> 6 </a:t>
            </a:r>
            <a:r>
              <a:rPr lang="en-US" sz="1400" dirty="0">
                <a:solidFill>
                  <a:srgbClr val="FFFFFF"/>
                </a:solidFill>
                <a:latin typeface="Consolas" pitchFamily="34" charset="0"/>
                <a:ea typeface="Consolas" pitchFamily="34" charset="-122"/>
                <a:cs typeface="Consolas" pitchFamily="34" charset="-120"/>
              </a:rPr>
              <a:t>            rows</a:t>
            </a:r>
            <a:r>
              <a:rPr lang="en-US" sz="1400" dirty="0">
                <a:solidFill>
                  <a:srgbClr val="F8F8F2"/>
                </a:solidFill>
                <a:latin typeface="Consolas" pitchFamily="34" charset="0"/>
                <a:ea typeface="Consolas" pitchFamily="34" charset="-122"/>
                <a:cs typeface="Consolas" pitchFamily="34" charset="-120"/>
              </a:rPr>
              <a:t>.</a:t>
            </a:r>
            <a:r>
              <a:rPr lang="en-US" sz="1400" dirty="0">
                <a:solidFill>
                  <a:srgbClr val="FFFFFF"/>
                </a:solidFill>
                <a:latin typeface="Consolas" pitchFamily="34" charset="0"/>
                <a:ea typeface="Consolas" pitchFamily="34" charset="-122"/>
                <a:cs typeface="Consolas" pitchFamily="34" charset="-120"/>
              </a:rPr>
              <a:t>append</a:t>
            </a:r>
            <a:r>
              <a:rPr lang="en-US" sz="1400" dirty="0">
                <a:solidFill>
                  <a:srgbClr val="F8F8F2"/>
                </a:solidFill>
                <a:latin typeface="Consolas" pitchFamily="34" charset="0"/>
                <a:ea typeface="Consolas" pitchFamily="34" charset="-122"/>
                <a:cs typeface="Consolas" pitchFamily="34" charset="-120"/>
              </a:rPr>
              <a:t>({</a:t>
            </a:r>
            <a:r>
              <a:rPr lang="en-US" sz="1400" dirty="0">
                <a:solidFill>
                  <a:srgbClr val="FFFFFF"/>
                </a:solidFill>
                <a:latin typeface="Consolas" pitchFamily="34" charset="0"/>
                <a:ea typeface="Consolas" pitchFamily="34" charset="-122"/>
                <a:cs typeface="Consolas" pitchFamily="34" charset="-120"/>
              </a:rPr>
              <a:t>
</a:t>
            </a:r>
            <a:r>
              <a:rPr lang="en-US" sz="1400" dirty="0">
                <a:solidFill>
                  <a:srgbClr val="8292A2"/>
                </a:solidFill>
                <a:latin typeface="Consolas" pitchFamily="34" charset="0"/>
                <a:ea typeface="Consolas" pitchFamily="34" charset="-122"/>
                <a:cs typeface="Consolas" pitchFamily="34" charset="-120"/>
              </a:rPr>
              <a:t> 7 </a:t>
            </a:r>
            <a:r>
              <a:rPr lang="en-US" sz="1400" dirty="0">
                <a:solidFill>
                  <a:srgbClr val="FFFFFF"/>
                </a:solidFill>
                <a:latin typeface="Consolas" pitchFamily="34" charset="0"/>
                <a:ea typeface="Consolas" pitchFamily="34" charset="-122"/>
                <a:cs typeface="Consolas" pitchFamily="34" charset="-120"/>
              </a:rPr>
              <a:t>                "mode"</a:t>
            </a:r>
            <a:r>
              <a:rPr lang="en-US" sz="1400" dirty="0">
                <a:solidFill>
                  <a:srgbClr val="F8F8F2"/>
                </a:solidFill>
                <a:latin typeface="Consolas" pitchFamily="34" charset="0"/>
                <a:ea typeface="Consolas" pitchFamily="34" charset="-122"/>
                <a:cs typeface="Consolas" pitchFamily="34" charset="-120"/>
              </a:rPr>
              <a:t>:</a:t>
            </a:r>
            <a:r>
              <a:rPr lang="en-US" sz="1400" dirty="0">
                <a:solidFill>
                  <a:srgbClr val="FFFFFF"/>
                </a:solidFill>
                <a:latin typeface="Consolas" pitchFamily="34" charset="0"/>
                <a:ea typeface="Consolas" pitchFamily="34" charset="-122"/>
                <a:cs typeface="Consolas" pitchFamily="34" charset="-120"/>
              </a:rPr>
              <a:t> int</a:t>
            </a:r>
            <a:r>
              <a:rPr lang="en-US" sz="1400" dirty="0">
                <a:solidFill>
                  <a:srgbClr val="F8F8F2"/>
                </a:solidFill>
                <a:latin typeface="Consolas" pitchFamily="34" charset="0"/>
                <a:ea typeface="Consolas" pitchFamily="34" charset="-122"/>
                <a:cs typeface="Consolas" pitchFamily="34" charset="-120"/>
              </a:rPr>
              <a:t>(</a:t>
            </a:r>
            <a:r>
              <a:rPr lang="en-US" sz="1400" dirty="0">
                <a:solidFill>
                  <a:srgbClr val="66D9EF"/>
                </a:solidFill>
                <a:latin typeface="Consolas" pitchFamily="34" charset="0"/>
                <a:ea typeface="Consolas" pitchFamily="34" charset="-122"/>
                <a:cs typeface="Consolas" pitchFamily="34" charset="-120"/>
              </a:rPr>
              <a:t>match</a:t>
            </a:r>
            <a:r>
              <a:rPr lang="en-US" sz="1400" dirty="0">
                <a:solidFill>
                  <a:srgbClr val="F8F8F2"/>
                </a:solidFill>
                <a:latin typeface="Consolas" pitchFamily="34" charset="0"/>
                <a:ea typeface="Consolas" pitchFamily="34" charset="-122"/>
                <a:cs typeface="Consolas" pitchFamily="34" charset="-120"/>
              </a:rPr>
              <a:t>.</a:t>
            </a:r>
            <a:r>
              <a:rPr lang="en-US" sz="1400" dirty="0">
                <a:solidFill>
                  <a:srgbClr val="FFFFFF"/>
                </a:solidFill>
                <a:latin typeface="Consolas" pitchFamily="34" charset="0"/>
                <a:ea typeface="Consolas" pitchFamily="34" charset="-122"/>
                <a:cs typeface="Consolas" pitchFamily="34" charset="-120"/>
              </a:rPr>
              <a:t>group</a:t>
            </a:r>
            <a:r>
              <a:rPr lang="en-US" sz="1400" dirty="0">
                <a:solidFill>
                  <a:srgbClr val="F8F8F2"/>
                </a:solidFill>
                <a:latin typeface="Consolas" pitchFamily="34" charset="0"/>
                <a:ea typeface="Consolas" pitchFamily="34" charset="-122"/>
                <a:cs typeface="Consolas" pitchFamily="34" charset="-120"/>
              </a:rPr>
              <a:t>(</a:t>
            </a:r>
            <a:r>
              <a:rPr lang="en-US" sz="1400" dirty="0">
                <a:solidFill>
                  <a:srgbClr val="FFFFFF"/>
                </a:solidFill>
                <a:latin typeface="Consolas" pitchFamily="34" charset="0"/>
                <a:ea typeface="Consolas" pitchFamily="34" charset="-122"/>
                <a:cs typeface="Consolas" pitchFamily="34" charset="-120"/>
              </a:rPr>
              <a:t>"mode"</a:t>
            </a:r>
            <a:r>
              <a:rPr lang="en-US" sz="1400" dirty="0">
                <a:solidFill>
                  <a:srgbClr val="F8F8F2"/>
                </a:solidFill>
                <a:latin typeface="Consolas" pitchFamily="34" charset="0"/>
                <a:ea typeface="Consolas" pitchFamily="34" charset="-122"/>
                <a:cs typeface="Consolas" pitchFamily="34" charset="-120"/>
              </a:rPr>
              <a:t>)),</a:t>
            </a:r>
            <a:r>
              <a:rPr lang="en-US" sz="1400" dirty="0">
                <a:solidFill>
                  <a:srgbClr val="FFFFFF"/>
                </a:solidFill>
                <a:latin typeface="Consolas" pitchFamily="34" charset="0"/>
                <a:ea typeface="Consolas" pitchFamily="34" charset="-122"/>
                <a:cs typeface="Consolas" pitchFamily="34" charset="-120"/>
              </a:rPr>
              <a:t>
</a:t>
            </a:r>
            <a:r>
              <a:rPr lang="en-US" sz="1400" dirty="0">
                <a:solidFill>
                  <a:srgbClr val="8292A2"/>
                </a:solidFill>
                <a:latin typeface="Consolas" pitchFamily="34" charset="0"/>
                <a:ea typeface="Consolas" pitchFamily="34" charset="-122"/>
                <a:cs typeface="Consolas" pitchFamily="34" charset="-120"/>
              </a:rPr>
              <a:t> 8 </a:t>
            </a:r>
            <a:r>
              <a:rPr lang="en-US" sz="1400" dirty="0">
                <a:solidFill>
                  <a:srgbClr val="FFFFFF"/>
                </a:solidFill>
                <a:latin typeface="Consolas" pitchFamily="34" charset="0"/>
                <a:ea typeface="Consolas" pitchFamily="34" charset="-122"/>
                <a:cs typeface="Consolas" pitchFamily="34" charset="-120"/>
              </a:rPr>
              <a:t>                "vina_affinity_kcal_mol"</a:t>
            </a:r>
            <a:r>
              <a:rPr lang="en-US" sz="1400" dirty="0">
                <a:solidFill>
                  <a:srgbClr val="F8F8F2"/>
                </a:solidFill>
                <a:latin typeface="Consolas" pitchFamily="34" charset="0"/>
                <a:ea typeface="Consolas" pitchFamily="34" charset="-122"/>
                <a:cs typeface="Consolas" pitchFamily="34" charset="-120"/>
              </a:rPr>
              <a:t>:</a:t>
            </a:r>
            <a:r>
              <a:rPr lang="en-US" sz="1400" dirty="0">
                <a:solidFill>
                  <a:srgbClr val="FFFFFF"/>
                </a:solidFill>
                <a:latin typeface="Consolas" pitchFamily="34" charset="0"/>
                <a:ea typeface="Consolas" pitchFamily="34" charset="-122"/>
                <a:cs typeface="Consolas" pitchFamily="34" charset="-120"/>
              </a:rPr>
              <a:t> float</a:t>
            </a:r>
            <a:r>
              <a:rPr lang="en-US" sz="1400" dirty="0">
                <a:solidFill>
                  <a:srgbClr val="F8F8F2"/>
                </a:solidFill>
                <a:latin typeface="Consolas" pitchFamily="34" charset="0"/>
                <a:ea typeface="Consolas" pitchFamily="34" charset="-122"/>
                <a:cs typeface="Consolas" pitchFamily="34" charset="-120"/>
              </a:rPr>
              <a:t>(</a:t>
            </a:r>
            <a:r>
              <a:rPr lang="en-US" sz="1400" dirty="0">
                <a:solidFill>
                  <a:srgbClr val="66D9EF"/>
                </a:solidFill>
                <a:latin typeface="Consolas" pitchFamily="34" charset="0"/>
                <a:ea typeface="Consolas" pitchFamily="34" charset="-122"/>
                <a:cs typeface="Consolas" pitchFamily="34" charset="-120"/>
              </a:rPr>
              <a:t>match</a:t>
            </a:r>
            <a:r>
              <a:rPr lang="en-US" sz="1400" dirty="0">
                <a:solidFill>
                  <a:srgbClr val="F8F8F2"/>
                </a:solidFill>
                <a:latin typeface="Consolas" pitchFamily="34" charset="0"/>
                <a:ea typeface="Consolas" pitchFamily="34" charset="-122"/>
                <a:cs typeface="Consolas" pitchFamily="34" charset="-120"/>
              </a:rPr>
              <a:t>.</a:t>
            </a:r>
            <a:r>
              <a:rPr lang="en-US" sz="1400" dirty="0">
                <a:solidFill>
                  <a:srgbClr val="FFFFFF"/>
                </a:solidFill>
                <a:latin typeface="Consolas" pitchFamily="34" charset="0"/>
                <a:ea typeface="Consolas" pitchFamily="34" charset="-122"/>
                <a:cs typeface="Consolas" pitchFamily="34" charset="-120"/>
              </a:rPr>
              <a:t>group</a:t>
            </a:r>
            <a:r>
              <a:rPr lang="en-US" sz="1400" dirty="0">
                <a:solidFill>
                  <a:srgbClr val="F8F8F2"/>
                </a:solidFill>
                <a:latin typeface="Consolas" pitchFamily="34" charset="0"/>
                <a:ea typeface="Consolas" pitchFamily="34" charset="-122"/>
                <a:cs typeface="Consolas" pitchFamily="34" charset="-120"/>
              </a:rPr>
              <a:t>(</a:t>
            </a:r>
            <a:r>
              <a:rPr lang="en-US" sz="1400" dirty="0">
                <a:solidFill>
                  <a:srgbClr val="FFFFFF"/>
                </a:solidFill>
                <a:latin typeface="Consolas" pitchFamily="34" charset="0"/>
                <a:ea typeface="Consolas" pitchFamily="34" charset="-122"/>
                <a:cs typeface="Consolas" pitchFamily="34" charset="-120"/>
              </a:rPr>
              <a:t>"affinity"</a:t>
            </a:r>
            <a:r>
              <a:rPr lang="en-US" sz="1400" dirty="0">
                <a:solidFill>
                  <a:srgbClr val="F8F8F2"/>
                </a:solidFill>
                <a:latin typeface="Consolas" pitchFamily="34" charset="0"/>
                <a:ea typeface="Consolas" pitchFamily="34" charset="-122"/>
                <a:cs typeface="Consolas" pitchFamily="34" charset="-120"/>
              </a:rPr>
              <a:t>)),</a:t>
            </a:r>
            <a:r>
              <a:rPr lang="en-US" sz="1400" dirty="0">
                <a:solidFill>
                  <a:srgbClr val="FFFFFF"/>
                </a:solidFill>
                <a:latin typeface="Consolas" pitchFamily="34" charset="0"/>
                <a:ea typeface="Consolas" pitchFamily="34" charset="-122"/>
                <a:cs typeface="Consolas" pitchFamily="34" charset="-120"/>
              </a:rPr>
              <a:t>
</a:t>
            </a:r>
            <a:r>
              <a:rPr lang="en-US" sz="1400" dirty="0">
                <a:solidFill>
                  <a:srgbClr val="8292A2"/>
                </a:solidFill>
                <a:latin typeface="Consolas" pitchFamily="34" charset="0"/>
                <a:ea typeface="Consolas" pitchFamily="34" charset="-122"/>
                <a:cs typeface="Consolas" pitchFamily="34" charset="-120"/>
              </a:rPr>
              <a:t> 9 </a:t>
            </a:r>
            <a:r>
              <a:rPr lang="en-US" sz="1400" dirty="0">
                <a:solidFill>
                  <a:srgbClr val="FFFFFF"/>
                </a:solidFill>
                <a:latin typeface="Consolas" pitchFamily="34" charset="0"/>
                <a:ea typeface="Consolas" pitchFamily="34" charset="-122"/>
                <a:cs typeface="Consolas" pitchFamily="34" charset="-120"/>
              </a:rPr>
              <a:t>                "rmsd_lb"</a:t>
            </a:r>
            <a:r>
              <a:rPr lang="en-US" sz="1400" dirty="0">
                <a:solidFill>
                  <a:srgbClr val="F8F8F2"/>
                </a:solidFill>
                <a:latin typeface="Consolas" pitchFamily="34" charset="0"/>
                <a:ea typeface="Consolas" pitchFamily="34" charset="-122"/>
                <a:cs typeface="Consolas" pitchFamily="34" charset="-120"/>
              </a:rPr>
              <a:t>:</a:t>
            </a:r>
            <a:r>
              <a:rPr lang="en-US" sz="1400" dirty="0">
                <a:solidFill>
                  <a:srgbClr val="FFFFFF"/>
                </a:solidFill>
                <a:latin typeface="Consolas" pitchFamily="34" charset="0"/>
                <a:ea typeface="Consolas" pitchFamily="34" charset="-122"/>
                <a:cs typeface="Consolas" pitchFamily="34" charset="-120"/>
              </a:rPr>
              <a:t> float</a:t>
            </a:r>
            <a:r>
              <a:rPr lang="en-US" sz="1400" dirty="0">
                <a:solidFill>
                  <a:srgbClr val="F8F8F2"/>
                </a:solidFill>
                <a:latin typeface="Consolas" pitchFamily="34" charset="0"/>
                <a:ea typeface="Consolas" pitchFamily="34" charset="-122"/>
                <a:cs typeface="Consolas" pitchFamily="34" charset="-120"/>
              </a:rPr>
              <a:t>(</a:t>
            </a:r>
            <a:r>
              <a:rPr lang="en-US" sz="1400" dirty="0">
                <a:solidFill>
                  <a:srgbClr val="66D9EF"/>
                </a:solidFill>
                <a:latin typeface="Consolas" pitchFamily="34" charset="0"/>
                <a:ea typeface="Consolas" pitchFamily="34" charset="-122"/>
                <a:cs typeface="Consolas" pitchFamily="34" charset="-120"/>
              </a:rPr>
              <a:t>match</a:t>
            </a:r>
            <a:r>
              <a:rPr lang="en-US" sz="1400" dirty="0">
                <a:solidFill>
                  <a:srgbClr val="F8F8F2"/>
                </a:solidFill>
                <a:latin typeface="Consolas" pitchFamily="34" charset="0"/>
                <a:ea typeface="Consolas" pitchFamily="34" charset="-122"/>
                <a:cs typeface="Consolas" pitchFamily="34" charset="-120"/>
              </a:rPr>
              <a:t>.</a:t>
            </a:r>
            <a:r>
              <a:rPr lang="en-US" sz="1400" dirty="0">
                <a:solidFill>
                  <a:srgbClr val="FFFFFF"/>
                </a:solidFill>
                <a:latin typeface="Consolas" pitchFamily="34" charset="0"/>
                <a:ea typeface="Consolas" pitchFamily="34" charset="-122"/>
                <a:cs typeface="Consolas" pitchFamily="34" charset="-120"/>
              </a:rPr>
              <a:t>group</a:t>
            </a:r>
            <a:r>
              <a:rPr lang="en-US" sz="1400" dirty="0">
                <a:solidFill>
                  <a:srgbClr val="F8F8F2"/>
                </a:solidFill>
                <a:latin typeface="Consolas" pitchFamily="34" charset="0"/>
                <a:ea typeface="Consolas" pitchFamily="34" charset="-122"/>
                <a:cs typeface="Consolas" pitchFamily="34" charset="-120"/>
              </a:rPr>
              <a:t>(</a:t>
            </a:r>
            <a:r>
              <a:rPr lang="en-US" sz="1400" dirty="0">
                <a:solidFill>
                  <a:srgbClr val="FFFFFF"/>
                </a:solidFill>
                <a:latin typeface="Consolas" pitchFamily="34" charset="0"/>
                <a:ea typeface="Consolas" pitchFamily="34" charset="-122"/>
                <a:cs typeface="Consolas" pitchFamily="34" charset="-120"/>
              </a:rPr>
              <a:t>"rmsd_lb"</a:t>
            </a:r>
            <a:r>
              <a:rPr lang="en-US" sz="1400" dirty="0">
                <a:solidFill>
                  <a:srgbClr val="F8F8F2"/>
                </a:solidFill>
                <a:latin typeface="Consolas" pitchFamily="34" charset="0"/>
                <a:ea typeface="Consolas" pitchFamily="34" charset="-122"/>
                <a:cs typeface="Consolas" pitchFamily="34" charset="-120"/>
              </a:rPr>
              <a:t>)),</a:t>
            </a:r>
            <a:r>
              <a:rPr lang="en-US" sz="1400" dirty="0">
                <a:solidFill>
                  <a:srgbClr val="FFFFFF"/>
                </a:solidFill>
                <a:latin typeface="Consolas" pitchFamily="34" charset="0"/>
                <a:ea typeface="Consolas" pitchFamily="34" charset="-122"/>
                <a:cs typeface="Consolas" pitchFamily="34" charset="-120"/>
              </a:rPr>
              <a:t>
</a:t>
            </a:r>
            <a:r>
              <a:rPr lang="en-US" sz="1400" dirty="0">
                <a:solidFill>
                  <a:srgbClr val="8292A2"/>
                </a:solidFill>
                <a:latin typeface="Consolas" pitchFamily="34" charset="0"/>
                <a:ea typeface="Consolas" pitchFamily="34" charset="-122"/>
                <a:cs typeface="Consolas" pitchFamily="34" charset="-120"/>
              </a:rPr>
              <a:t>10 </a:t>
            </a:r>
            <a:r>
              <a:rPr lang="en-US" sz="1400" dirty="0">
                <a:solidFill>
                  <a:srgbClr val="FFFFFF"/>
                </a:solidFill>
                <a:latin typeface="Consolas" pitchFamily="34" charset="0"/>
                <a:ea typeface="Consolas" pitchFamily="34" charset="-122"/>
                <a:cs typeface="Consolas" pitchFamily="34" charset="-120"/>
              </a:rPr>
              <a:t>                "rmsd_ub"</a:t>
            </a:r>
            <a:r>
              <a:rPr lang="en-US" sz="1400" dirty="0">
                <a:solidFill>
                  <a:srgbClr val="F8F8F2"/>
                </a:solidFill>
                <a:latin typeface="Consolas" pitchFamily="34" charset="0"/>
                <a:ea typeface="Consolas" pitchFamily="34" charset="-122"/>
                <a:cs typeface="Consolas" pitchFamily="34" charset="-120"/>
              </a:rPr>
              <a:t>:</a:t>
            </a:r>
            <a:r>
              <a:rPr lang="en-US" sz="1400" dirty="0">
                <a:solidFill>
                  <a:srgbClr val="FFFFFF"/>
                </a:solidFill>
                <a:latin typeface="Consolas" pitchFamily="34" charset="0"/>
                <a:ea typeface="Consolas" pitchFamily="34" charset="-122"/>
                <a:cs typeface="Consolas" pitchFamily="34" charset="-120"/>
              </a:rPr>
              <a:t> float</a:t>
            </a:r>
            <a:r>
              <a:rPr lang="en-US" sz="1400" dirty="0">
                <a:solidFill>
                  <a:srgbClr val="F8F8F2"/>
                </a:solidFill>
                <a:latin typeface="Consolas" pitchFamily="34" charset="0"/>
                <a:ea typeface="Consolas" pitchFamily="34" charset="-122"/>
                <a:cs typeface="Consolas" pitchFamily="34" charset="-120"/>
              </a:rPr>
              <a:t>(</a:t>
            </a:r>
            <a:r>
              <a:rPr lang="en-US" sz="1400" dirty="0">
                <a:solidFill>
                  <a:srgbClr val="66D9EF"/>
                </a:solidFill>
                <a:latin typeface="Consolas" pitchFamily="34" charset="0"/>
                <a:ea typeface="Consolas" pitchFamily="34" charset="-122"/>
                <a:cs typeface="Consolas" pitchFamily="34" charset="-120"/>
              </a:rPr>
              <a:t>match</a:t>
            </a:r>
            <a:r>
              <a:rPr lang="en-US" sz="1400" dirty="0">
                <a:solidFill>
                  <a:srgbClr val="F8F8F2"/>
                </a:solidFill>
                <a:latin typeface="Consolas" pitchFamily="34" charset="0"/>
                <a:ea typeface="Consolas" pitchFamily="34" charset="-122"/>
                <a:cs typeface="Consolas" pitchFamily="34" charset="-120"/>
              </a:rPr>
              <a:t>.</a:t>
            </a:r>
            <a:r>
              <a:rPr lang="en-US" sz="1400" dirty="0">
                <a:solidFill>
                  <a:srgbClr val="FFFFFF"/>
                </a:solidFill>
                <a:latin typeface="Consolas" pitchFamily="34" charset="0"/>
                <a:ea typeface="Consolas" pitchFamily="34" charset="-122"/>
                <a:cs typeface="Consolas" pitchFamily="34" charset="-120"/>
              </a:rPr>
              <a:t>group</a:t>
            </a:r>
            <a:r>
              <a:rPr lang="en-US" sz="1400" dirty="0">
                <a:solidFill>
                  <a:srgbClr val="F8F8F2"/>
                </a:solidFill>
                <a:latin typeface="Consolas" pitchFamily="34" charset="0"/>
                <a:ea typeface="Consolas" pitchFamily="34" charset="-122"/>
                <a:cs typeface="Consolas" pitchFamily="34" charset="-120"/>
              </a:rPr>
              <a:t>(</a:t>
            </a:r>
            <a:r>
              <a:rPr lang="en-US" sz="1400" dirty="0">
                <a:solidFill>
                  <a:srgbClr val="FFFFFF"/>
                </a:solidFill>
                <a:latin typeface="Consolas" pitchFamily="34" charset="0"/>
                <a:ea typeface="Consolas" pitchFamily="34" charset="-122"/>
                <a:cs typeface="Consolas" pitchFamily="34" charset="-120"/>
              </a:rPr>
              <a:t>"rmsd_ub"</a:t>
            </a:r>
            <a:r>
              <a:rPr lang="en-US" sz="1400" dirty="0">
                <a:solidFill>
                  <a:srgbClr val="F8F8F2"/>
                </a:solidFill>
                <a:latin typeface="Consolas" pitchFamily="34" charset="0"/>
                <a:ea typeface="Consolas" pitchFamily="34" charset="-122"/>
                <a:cs typeface="Consolas" pitchFamily="34" charset="-120"/>
              </a:rPr>
              <a:t>)),</a:t>
            </a:r>
            <a:r>
              <a:rPr lang="en-US" sz="1400" dirty="0">
                <a:solidFill>
                  <a:srgbClr val="FFFFFF"/>
                </a:solidFill>
                <a:latin typeface="Consolas" pitchFamily="34" charset="0"/>
                <a:ea typeface="Consolas" pitchFamily="34" charset="-122"/>
                <a:cs typeface="Consolas" pitchFamily="34" charset="-120"/>
              </a:rPr>
              <a:t>
</a:t>
            </a:r>
            <a:r>
              <a:rPr lang="en-US" sz="1400" dirty="0">
                <a:solidFill>
                  <a:srgbClr val="8292A2"/>
                </a:solidFill>
                <a:latin typeface="Consolas" pitchFamily="34" charset="0"/>
                <a:ea typeface="Consolas" pitchFamily="34" charset="-122"/>
                <a:cs typeface="Consolas" pitchFamily="34" charset="-120"/>
              </a:rPr>
              <a:t>11 </a:t>
            </a:r>
            <a:r>
              <a:rPr lang="en-US" sz="1400" dirty="0">
                <a:solidFill>
                  <a:srgbClr val="FFFFFF"/>
                </a:solidFill>
                <a:latin typeface="Consolas" pitchFamily="34" charset="0"/>
                <a:ea typeface="Consolas" pitchFamily="34" charset="-122"/>
                <a:cs typeface="Consolas" pitchFamily="34" charset="-120"/>
              </a:rPr>
              <a:t>            </a:t>
            </a:r>
            <a:r>
              <a:rPr lang="en-US" sz="1400" dirty="0">
                <a:solidFill>
                  <a:srgbClr val="F8F8F2"/>
                </a:solidFill>
                <a:latin typeface="Consolas" pitchFamily="34" charset="0"/>
                <a:ea typeface="Consolas" pitchFamily="34" charset="-122"/>
                <a:cs typeface="Consolas" pitchFamily="34" charset="-120"/>
              </a:rPr>
              <a:t>})</a:t>
            </a:r>
            <a:r>
              <a:rPr lang="en-US" sz="1400" dirty="0">
                <a:solidFill>
                  <a:srgbClr val="FFFFFF"/>
                </a:solidFill>
                <a:latin typeface="Consolas" pitchFamily="34" charset="0"/>
                <a:ea typeface="Consolas" pitchFamily="34" charset="-122"/>
                <a:cs typeface="Consolas" pitchFamily="34" charset="-120"/>
              </a:rPr>
              <a:t>
</a:t>
            </a:r>
            <a:r>
              <a:rPr lang="en-US" sz="1400" dirty="0">
                <a:solidFill>
                  <a:srgbClr val="8292A2"/>
                </a:solidFill>
                <a:latin typeface="Consolas" pitchFamily="34" charset="0"/>
                <a:ea typeface="Consolas" pitchFamily="34" charset="-122"/>
                <a:cs typeface="Consolas" pitchFamily="34" charset="-120"/>
              </a:rPr>
              <a:t>12 </a:t>
            </a:r>
            <a:r>
              <a:rPr lang="en-US" sz="1400" dirty="0">
                <a:solidFill>
                  <a:srgbClr val="FFFFFF"/>
                </a:solidFill>
                <a:latin typeface="Consolas" pitchFamily="34" charset="0"/>
                <a:ea typeface="Consolas" pitchFamily="34" charset="-122"/>
                <a:cs typeface="Consolas" pitchFamily="34" charset="-120"/>
              </a:rPr>
              <a:t>    </a:t>
            </a:r>
            <a:r>
              <a:rPr lang="en-US" sz="1400" dirty="0">
                <a:solidFill>
                  <a:srgbClr val="66D9EF"/>
                </a:solidFill>
                <a:latin typeface="Consolas" pitchFamily="34" charset="0"/>
                <a:ea typeface="Consolas" pitchFamily="34" charset="-122"/>
                <a:cs typeface="Consolas" pitchFamily="34" charset="-120"/>
              </a:rPr>
              <a:t>return</a:t>
            </a:r>
            <a:r>
              <a:rPr lang="en-US" sz="1400" dirty="0">
                <a:solidFill>
                  <a:srgbClr val="FFFFFF"/>
                </a:solidFill>
                <a:latin typeface="Consolas" pitchFamily="34" charset="0"/>
                <a:ea typeface="Consolas" pitchFamily="34" charset="-122"/>
                <a:cs typeface="Consolas" pitchFamily="34" charset="-120"/>
              </a:rPr>
              <a:t> pd</a:t>
            </a:r>
            <a:r>
              <a:rPr lang="en-US" sz="1400" dirty="0">
                <a:solidFill>
                  <a:srgbClr val="F8F8F2"/>
                </a:solidFill>
                <a:latin typeface="Consolas" pitchFamily="34" charset="0"/>
                <a:ea typeface="Consolas" pitchFamily="34" charset="-122"/>
                <a:cs typeface="Consolas" pitchFamily="34" charset="-120"/>
              </a:rPr>
              <a:t>.</a:t>
            </a:r>
            <a:r>
              <a:rPr lang="en-US" sz="1400" dirty="0">
                <a:solidFill>
                  <a:srgbClr val="FFFFFF"/>
                </a:solidFill>
                <a:latin typeface="Consolas" pitchFamily="34" charset="0"/>
                <a:ea typeface="Consolas" pitchFamily="34" charset="-122"/>
                <a:cs typeface="Consolas" pitchFamily="34" charset="-120"/>
              </a:rPr>
              <a:t>DataFrame</a:t>
            </a:r>
            <a:r>
              <a:rPr lang="en-US" sz="1400" dirty="0">
                <a:solidFill>
                  <a:srgbClr val="F8F8F2"/>
                </a:solidFill>
                <a:latin typeface="Consolas" pitchFamily="34" charset="0"/>
                <a:ea typeface="Consolas" pitchFamily="34" charset="-122"/>
                <a:cs typeface="Consolas" pitchFamily="34" charset="-120"/>
              </a:rPr>
              <a:t>(</a:t>
            </a:r>
            <a:r>
              <a:rPr lang="en-US" sz="1400" dirty="0">
                <a:solidFill>
                  <a:srgbClr val="FFFFFF"/>
                </a:solidFill>
                <a:latin typeface="Consolas" pitchFamily="34" charset="0"/>
                <a:ea typeface="Consolas" pitchFamily="34" charset="-122"/>
                <a:cs typeface="Consolas" pitchFamily="34" charset="-120"/>
              </a:rPr>
              <a:t>rows</a:t>
            </a:r>
            <a:r>
              <a:rPr lang="en-US" sz="1400" dirty="0">
                <a:solidFill>
                  <a:srgbClr val="F8F8F2"/>
                </a:solidFill>
                <a:latin typeface="Consolas" pitchFamily="34" charset="0"/>
                <a:ea typeface="Consolas" pitchFamily="34" charset="-122"/>
                <a:cs typeface="Consolas" pitchFamily="34" charset="-120"/>
              </a:rPr>
              <a:t>).</a:t>
            </a:r>
            <a:r>
              <a:rPr lang="en-US" sz="1400" dirty="0">
                <a:solidFill>
                  <a:srgbClr val="FFFFFF"/>
                </a:solidFill>
                <a:latin typeface="Consolas" pitchFamily="34" charset="0"/>
                <a:ea typeface="Consolas" pitchFamily="34" charset="-122"/>
                <a:cs typeface="Consolas" pitchFamily="34" charset="-120"/>
              </a:rPr>
              <a:t>sort_values</a:t>
            </a:r>
            <a:r>
              <a:rPr lang="en-US" sz="1400" dirty="0">
                <a:solidFill>
                  <a:srgbClr val="F8F8F2"/>
                </a:solidFill>
                <a:latin typeface="Consolas" pitchFamily="34" charset="0"/>
                <a:ea typeface="Consolas" pitchFamily="34" charset="-122"/>
                <a:cs typeface="Consolas" pitchFamily="34" charset="-120"/>
              </a:rPr>
              <a:t>(</a:t>
            </a:r>
            <a:r>
              <a:rPr lang="en-US" sz="1400" dirty="0">
                <a:solidFill>
                  <a:srgbClr val="FFFFFF"/>
                </a:solidFill>
                <a:latin typeface="Consolas" pitchFamily="34" charset="0"/>
                <a:ea typeface="Consolas" pitchFamily="34" charset="-122"/>
                <a:cs typeface="Consolas" pitchFamily="34" charset="-120"/>
              </a:rPr>
              <a:t>"vina_affinity_kcal_mol"</a:t>
            </a:r>
            <a:r>
              <a:rPr lang="en-US" sz="1400" dirty="0">
                <a:solidFill>
                  <a:srgbClr val="F8F8F2"/>
                </a:solidFill>
                <a:latin typeface="Consolas" pitchFamily="34" charset="0"/>
                <a:ea typeface="Consolas" pitchFamily="34" charset="-122"/>
                <a:cs typeface="Consolas" pitchFamily="34" charset="-120"/>
              </a:rPr>
              <a:t>)</a:t>
            </a:r>
            <a:endParaRPr lang="en-US" sz="1150" dirty="0"/>
          </a:p>
        </p:txBody>
      </p:sp>
      <p:sp>
        <p:nvSpPr>
          <p:cNvPr id="8" name="Shape 6"/>
          <p:cNvSpPr/>
          <p:nvPr/>
        </p:nvSpPr>
        <p:spPr>
          <a:xfrm>
            <a:off x="6400800" y="1874520"/>
            <a:ext cx="5074920" cy="1828800"/>
          </a:xfrm>
          <a:prstGeom prst="roundRect">
            <a:avLst/>
          </a:prstGeom>
          <a:solidFill>
            <a:srgbClr val="FFFFFF"/>
          </a:solidFill>
          <a:ln w="12700">
            <a:solidFill>
              <a:srgbClr val="D8E3F2"/>
            </a:solidFill>
            <a:prstDash val="solid"/>
          </a:ln>
        </p:spPr>
      </p:sp>
      <p:sp>
        <p:nvSpPr>
          <p:cNvPr id="9" name="Text 7"/>
          <p:cNvSpPr/>
          <p:nvPr/>
        </p:nvSpPr>
        <p:spPr>
          <a:xfrm>
            <a:off x="6629400" y="2212848"/>
            <a:ext cx="4572000" cy="1097280"/>
          </a:xfrm>
          <a:prstGeom prst="rect">
            <a:avLst/>
          </a:prstGeom>
          <a:noFill/>
          <a:ln/>
        </p:spPr>
        <p:txBody>
          <a:bodyPr wrap="square" lIns="254" tIns="254" rIns="254" bIns="254" rtlCol="0" anchor="ctr"/>
          <a:lstStyle/>
          <a:p>
            <a:pPr marL="0" indent="0">
              <a:buNone/>
            </a:pPr>
            <a:r>
              <a:rPr lang="en-US" sz="1400" dirty="0">
                <a:solidFill>
                  <a:srgbClr val="8292A2"/>
                </a:solidFill>
                <a:latin typeface="Consolas" pitchFamily="34" charset="0"/>
                <a:ea typeface="Consolas" pitchFamily="34" charset="-122"/>
                <a:cs typeface="Consolas" pitchFamily="34" charset="-120"/>
              </a:rPr>
              <a:t>1 </a:t>
            </a:r>
            <a:r>
              <a:rPr lang="en-US" sz="1400" dirty="0">
                <a:solidFill>
                  <a:srgbClr val="FFFFFF"/>
                </a:solidFill>
                <a:latin typeface="Consolas" pitchFamily="34" charset="0"/>
                <a:ea typeface="Consolas" pitchFamily="34" charset="-122"/>
                <a:cs typeface="Consolas" pitchFamily="34" charset="-120"/>
              </a:rPr>
              <a:t>mode |   affinity | rmsd l.b.| rmsd u.b.
</a:t>
            </a:r>
            <a:r>
              <a:rPr lang="en-US" sz="1400" dirty="0">
                <a:solidFill>
                  <a:srgbClr val="8292A2"/>
                </a:solidFill>
                <a:latin typeface="Consolas" pitchFamily="34" charset="0"/>
                <a:ea typeface="Consolas" pitchFamily="34" charset="-122"/>
                <a:cs typeface="Consolas" pitchFamily="34" charset="-120"/>
              </a:rPr>
              <a:t>2 </a:t>
            </a:r>
            <a:r>
              <a:rPr lang="en-US" sz="1400" dirty="0">
                <a:solidFill>
                  <a:srgbClr val="FFFFFF"/>
                </a:solidFill>
                <a:latin typeface="Consolas" pitchFamily="34" charset="0"/>
                <a:ea typeface="Consolas" pitchFamily="34" charset="-122"/>
                <a:cs typeface="Consolas" pitchFamily="34" charset="-120"/>
              </a:rPr>
              <a:t>-----+------------+----------+----------
</a:t>
            </a:r>
            <a:r>
              <a:rPr lang="en-US" sz="1400" dirty="0">
                <a:solidFill>
                  <a:srgbClr val="8292A2"/>
                </a:solidFill>
                <a:latin typeface="Consolas" pitchFamily="34" charset="0"/>
                <a:ea typeface="Consolas" pitchFamily="34" charset="-122"/>
                <a:cs typeface="Consolas" pitchFamily="34" charset="-120"/>
              </a:rPr>
              <a:t>3 </a:t>
            </a:r>
            <a:r>
              <a:rPr lang="en-US" sz="1400" dirty="0">
                <a:solidFill>
                  <a:srgbClr val="FFFFFF"/>
                </a:solidFill>
                <a:latin typeface="Consolas" pitchFamily="34" charset="0"/>
                <a:ea typeface="Consolas" pitchFamily="34" charset="-122"/>
                <a:cs typeface="Consolas" pitchFamily="34" charset="-120"/>
              </a:rPr>
              <a:t>  1      -11.0      0.000      0.000
</a:t>
            </a:r>
            <a:r>
              <a:rPr lang="en-US" sz="1400" dirty="0">
                <a:solidFill>
                  <a:srgbClr val="8292A2"/>
                </a:solidFill>
                <a:latin typeface="Consolas" pitchFamily="34" charset="0"/>
                <a:ea typeface="Consolas" pitchFamily="34" charset="-122"/>
                <a:cs typeface="Consolas" pitchFamily="34" charset="-120"/>
              </a:rPr>
              <a:t>4 </a:t>
            </a:r>
            <a:r>
              <a:rPr lang="en-US" sz="1400" dirty="0">
                <a:solidFill>
                  <a:srgbClr val="FFFFFF"/>
                </a:solidFill>
                <a:latin typeface="Consolas" pitchFamily="34" charset="0"/>
                <a:ea typeface="Consolas" pitchFamily="34" charset="-122"/>
                <a:cs typeface="Consolas" pitchFamily="34" charset="-120"/>
              </a:rPr>
              <a:t>  2      -10.5      1.558      2.675
</a:t>
            </a:r>
            <a:r>
              <a:rPr lang="en-US" sz="1400" dirty="0">
                <a:solidFill>
                  <a:srgbClr val="8292A2"/>
                </a:solidFill>
                <a:latin typeface="Consolas" pitchFamily="34" charset="0"/>
                <a:ea typeface="Consolas" pitchFamily="34" charset="-122"/>
                <a:cs typeface="Consolas" pitchFamily="34" charset="-120"/>
              </a:rPr>
              <a:t>5 </a:t>
            </a:r>
            <a:r>
              <a:rPr lang="en-US" sz="1400" dirty="0">
                <a:solidFill>
                  <a:srgbClr val="FFFFFF"/>
                </a:solidFill>
                <a:latin typeface="Consolas" pitchFamily="34" charset="0"/>
                <a:ea typeface="Consolas" pitchFamily="34" charset="-122"/>
                <a:cs typeface="Consolas" pitchFamily="34" charset="-120"/>
              </a:rPr>
              <a:t>  3       -9.8      3.744      5.001</a:t>
            </a:r>
            <a:endParaRPr lang="en-US" sz="1220" dirty="0"/>
          </a:p>
        </p:txBody>
      </p:sp>
      <p:sp>
        <p:nvSpPr>
          <p:cNvPr id="10" name="Shape 8"/>
          <p:cNvSpPr/>
          <p:nvPr/>
        </p:nvSpPr>
        <p:spPr>
          <a:xfrm>
            <a:off x="6400800" y="3977640"/>
            <a:ext cx="5074920" cy="1965960"/>
          </a:xfrm>
          <a:prstGeom prst="roundRect">
            <a:avLst/>
          </a:prstGeom>
          <a:solidFill>
            <a:srgbClr val="F8FAFD"/>
          </a:solidFill>
          <a:ln w="12700">
            <a:solidFill>
              <a:srgbClr val="D8E3F2"/>
            </a:solidFill>
            <a:prstDash val="solid"/>
          </a:ln>
        </p:spPr>
      </p:sp>
      <p:sp>
        <p:nvSpPr>
          <p:cNvPr id="11" name="Text 9"/>
          <p:cNvSpPr/>
          <p:nvPr/>
        </p:nvSpPr>
        <p:spPr>
          <a:xfrm>
            <a:off x="6675120" y="4224528"/>
            <a:ext cx="2286000" cy="201168"/>
          </a:xfrm>
          <a:prstGeom prst="rect">
            <a:avLst/>
          </a:prstGeom>
          <a:noFill/>
          <a:ln/>
        </p:spPr>
        <p:txBody>
          <a:bodyPr wrap="square" rtlCol="0" anchor="ctr"/>
          <a:lstStyle/>
          <a:p>
            <a:pPr marL="0" indent="0">
              <a:buNone/>
            </a:pPr>
            <a:r>
              <a:rPr lang="en-US" sz="1800" b="1" dirty="0">
                <a:solidFill>
                  <a:srgbClr val="14B8A6"/>
                </a:solidFill>
              </a:rPr>
              <a:t>What the parser gives us</a:t>
            </a:r>
            <a:endParaRPr lang="en-US" sz="1800" dirty="0"/>
          </a:p>
        </p:txBody>
      </p:sp>
      <p:sp>
        <p:nvSpPr>
          <p:cNvPr id="12" name="Text 10"/>
          <p:cNvSpPr/>
          <p:nvPr/>
        </p:nvSpPr>
        <p:spPr>
          <a:xfrm>
            <a:off x="6675120" y="4590919"/>
            <a:ext cx="4389120" cy="1051560"/>
          </a:xfrm>
          <a:prstGeom prst="rect">
            <a:avLst/>
          </a:prstGeom>
          <a:noFill/>
          <a:ln/>
        </p:spPr>
        <p:txBody>
          <a:bodyPr wrap="square" lIns="127" tIns="127" rIns="127" bIns="127" rtlCol="0" anchor="ctr"/>
          <a:lstStyle/>
          <a:p>
            <a:pPr marL="0" indent="0">
              <a:buNone/>
            </a:pPr>
            <a:r>
              <a:rPr lang="en-US" sz="1800" dirty="0">
                <a:solidFill>
                  <a:srgbClr val="1F2937"/>
                </a:solidFill>
              </a:rPr>
              <a:t>• Best mode per ligand</a:t>
            </a:r>
            <a:endParaRPr lang="en-US" sz="1800" dirty="0"/>
          </a:p>
          <a:p>
            <a:pPr marL="0" indent="0">
              <a:buNone/>
            </a:pPr>
            <a:r>
              <a:rPr lang="en-US" sz="1800" dirty="0">
                <a:solidFill>
                  <a:srgbClr val="1F2937"/>
                </a:solidFill>
              </a:rPr>
              <a:t>• Affinity plus RMSD columns</a:t>
            </a:r>
            <a:endParaRPr lang="en-US" sz="1800" dirty="0"/>
          </a:p>
          <a:p>
            <a:pPr marL="0" indent="0">
              <a:buNone/>
            </a:pPr>
            <a:r>
              <a:rPr lang="en-US" sz="1800" dirty="0">
                <a:solidFill>
                  <a:srgbClr val="1F2937"/>
                </a:solidFill>
              </a:rPr>
              <a:t>• Merge with compound name and SMILES</a:t>
            </a:r>
            <a:endParaRPr lang="en-US" sz="1800" dirty="0"/>
          </a:p>
          <a:p>
            <a:pPr marL="0" indent="0">
              <a:buNone/>
            </a:pPr>
            <a:r>
              <a:rPr lang="en-US" sz="1800" dirty="0">
                <a:solidFill>
                  <a:srgbClr val="1F2937"/>
                </a:solidFill>
              </a:rPr>
              <a:t>• Ranked CSV + plots + JSON summary</a:t>
            </a:r>
            <a:endParaRPr lang="en-US" sz="1800" dirty="0"/>
          </a:p>
        </p:txBody>
      </p:sp>
      <p:sp>
        <p:nvSpPr>
          <p:cNvPr id="13" name="Shape 11"/>
          <p:cNvSpPr/>
          <p:nvPr/>
        </p:nvSpPr>
        <p:spPr>
          <a:xfrm>
            <a:off x="502920" y="6446520"/>
            <a:ext cx="11064240" cy="0"/>
          </a:xfrm>
          <a:prstGeom prst="line">
            <a:avLst/>
          </a:prstGeom>
          <a:noFill/>
          <a:ln w="12700">
            <a:solidFill>
              <a:srgbClr val="D7DEE8"/>
            </a:solidFill>
            <a:prstDash val="solid"/>
          </a:ln>
        </p:spPr>
      </p:sp>
      <p:sp>
        <p:nvSpPr>
          <p:cNvPr id="14" name="Text 12"/>
          <p:cNvSpPr/>
          <p:nvPr/>
        </p:nvSpPr>
        <p:spPr>
          <a:xfrm>
            <a:off x="502920" y="6473952"/>
            <a:ext cx="2560320" cy="182880"/>
          </a:xfrm>
          <a:prstGeom prst="rect">
            <a:avLst/>
          </a:prstGeom>
          <a:noFill/>
          <a:ln/>
        </p:spPr>
        <p:txBody>
          <a:bodyPr wrap="square" rtlCol="0" anchor="ctr"/>
          <a:lstStyle/>
          <a:p>
            <a:pPr marL="0" indent="0">
              <a:buNone/>
            </a:pPr>
            <a:r>
              <a:rPr lang="en-US" sz="900" dirty="0">
                <a:solidFill>
                  <a:srgbClr val="667085"/>
                </a:solidFill>
              </a:rPr>
              <a:t>Major Project | Bioinformatics</a:t>
            </a:r>
            <a:endParaRPr lang="en-US" sz="900" dirty="0"/>
          </a:p>
        </p:txBody>
      </p:sp>
      <p:sp>
        <p:nvSpPr>
          <p:cNvPr id="15" name="Text 13"/>
          <p:cNvSpPr/>
          <p:nvPr/>
        </p:nvSpPr>
        <p:spPr>
          <a:xfrm>
            <a:off x="11155680" y="6455664"/>
            <a:ext cx="365760" cy="182880"/>
          </a:xfrm>
          <a:prstGeom prst="rect">
            <a:avLst/>
          </a:prstGeom>
          <a:noFill/>
          <a:ln/>
        </p:spPr>
        <p:txBody>
          <a:bodyPr wrap="square" rtlCol="0" anchor="ctr"/>
          <a:lstStyle/>
          <a:p>
            <a:pPr marL="0" indent="0" algn="r">
              <a:buNone/>
            </a:pPr>
            <a:r>
              <a:rPr lang="en-US" sz="900" dirty="0">
                <a:solidFill>
                  <a:srgbClr val="667085"/>
                </a:solidFill>
              </a:rPr>
              <a:t>8</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02920" y="146304"/>
            <a:ext cx="3200400" cy="164592"/>
          </a:xfrm>
          <a:prstGeom prst="rect">
            <a:avLst/>
          </a:prstGeom>
          <a:noFill/>
          <a:ln/>
        </p:spPr>
        <p:txBody>
          <a:bodyPr wrap="square" rtlCol="0" anchor="ctr"/>
          <a:lstStyle/>
          <a:p>
            <a:pPr marL="0" indent="0">
              <a:buNone/>
            </a:pPr>
            <a:r>
              <a:rPr lang="en-US" sz="1050" b="1" dirty="0">
                <a:solidFill>
                  <a:srgbClr val="14B8A6"/>
                </a:solidFill>
                <a:latin typeface="Aptos" pitchFamily="34" charset="0"/>
                <a:ea typeface="Aptos" pitchFamily="34" charset="-122"/>
                <a:cs typeface="Aptos" pitchFamily="34" charset="-120"/>
              </a:rPr>
              <a:t>Drug Discovery Pipeline</a:t>
            </a:r>
            <a:endParaRPr lang="en-US" sz="1050" dirty="0"/>
          </a:p>
        </p:txBody>
      </p:sp>
      <p:sp>
        <p:nvSpPr>
          <p:cNvPr id="3" name="Text 1"/>
          <p:cNvSpPr/>
          <p:nvPr/>
        </p:nvSpPr>
        <p:spPr>
          <a:xfrm>
            <a:off x="502920" y="384048"/>
            <a:ext cx="10972800" cy="347472"/>
          </a:xfrm>
          <a:prstGeom prst="rect">
            <a:avLst/>
          </a:prstGeom>
          <a:noFill/>
          <a:ln/>
        </p:spPr>
        <p:txBody>
          <a:bodyPr wrap="square" rtlCol="0" anchor="ctr"/>
          <a:lstStyle/>
          <a:p>
            <a:pPr marL="0" indent="0">
              <a:buNone/>
            </a:pPr>
            <a:r>
              <a:rPr lang="en-US" sz="2600" b="1" dirty="0">
                <a:solidFill>
                  <a:srgbClr val="0B1F3A"/>
                </a:solidFill>
                <a:latin typeface="Aptos Display" pitchFamily="34" charset="0"/>
                <a:ea typeface="Aptos Display" pitchFamily="34" charset="-122"/>
                <a:cs typeface="Aptos Display" pitchFamily="34" charset="-120"/>
              </a:rPr>
              <a:t>Docking results: top-ranked compounds from parsed Vina logs</a:t>
            </a:r>
            <a:endParaRPr lang="en-US" sz="2600" dirty="0"/>
          </a:p>
        </p:txBody>
      </p:sp>
      <p:sp>
        <p:nvSpPr>
          <p:cNvPr id="4" name="Shape 2"/>
          <p:cNvSpPr/>
          <p:nvPr/>
        </p:nvSpPr>
        <p:spPr>
          <a:xfrm>
            <a:off x="502920" y="850392"/>
            <a:ext cx="11064240" cy="0"/>
          </a:xfrm>
          <a:prstGeom prst="line">
            <a:avLst/>
          </a:prstGeom>
          <a:noFill/>
          <a:ln w="12700">
            <a:solidFill>
              <a:srgbClr val="D7DEE8"/>
            </a:solidFill>
            <a:prstDash val="solid"/>
          </a:ln>
        </p:spPr>
      </p:sp>
      <p:pic>
        <p:nvPicPr>
          <p:cNvPr id="5" name="Image 0" descr="/mnt/data/drug_discovery_upgrade/outputs/vina_binding_plot.png"/>
          <p:cNvPicPr>
            <a:picLocks noChangeAspect="1"/>
          </p:cNvPicPr>
          <p:nvPr/>
        </p:nvPicPr>
        <p:blipFill>
          <a:blip r:embed="rId3"/>
          <a:stretch>
            <a:fillRect/>
          </a:stretch>
        </p:blipFill>
        <p:spPr>
          <a:xfrm>
            <a:off x="658368" y="1896842"/>
            <a:ext cx="5669280" cy="3201476"/>
          </a:xfrm>
          <a:prstGeom prst="rect">
            <a:avLst/>
          </a:prstGeom>
        </p:spPr>
      </p:pic>
      <p:sp>
        <p:nvSpPr>
          <p:cNvPr id="6" name="Shape 3"/>
          <p:cNvSpPr/>
          <p:nvPr/>
        </p:nvSpPr>
        <p:spPr>
          <a:xfrm>
            <a:off x="6537960" y="1371600"/>
            <a:ext cx="4983480" cy="2514600"/>
          </a:xfrm>
          <a:prstGeom prst="roundRect">
            <a:avLst/>
          </a:prstGeom>
          <a:solidFill>
            <a:srgbClr val="F8FAFD"/>
          </a:solidFill>
          <a:ln w="12700">
            <a:solidFill>
              <a:srgbClr val="D8E3F2"/>
            </a:solidFill>
            <a:prstDash val="solid"/>
          </a:ln>
        </p:spPr>
      </p:sp>
      <p:sp>
        <p:nvSpPr>
          <p:cNvPr id="7" name="Shape 4"/>
          <p:cNvSpPr/>
          <p:nvPr/>
        </p:nvSpPr>
        <p:spPr>
          <a:xfrm>
            <a:off x="6812280" y="1645920"/>
            <a:ext cx="2011680" cy="310896"/>
          </a:xfrm>
          <a:prstGeom prst="rect">
            <a:avLst/>
          </a:prstGeom>
          <a:solidFill>
            <a:srgbClr val="0B1F3A"/>
          </a:solidFill>
          <a:ln w="12700">
            <a:solidFill>
              <a:srgbClr val="D8E3F2"/>
            </a:solidFill>
            <a:prstDash val="solid"/>
          </a:ln>
        </p:spPr>
      </p:sp>
      <p:sp>
        <p:nvSpPr>
          <p:cNvPr id="8" name="Text 5"/>
          <p:cNvSpPr/>
          <p:nvPr/>
        </p:nvSpPr>
        <p:spPr>
          <a:xfrm>
            <a:off x="6848856" y="1700784"/>
            <a:ext cx="1938528" cy="146304"/>
          </a:xfrm>
          <a:prstGeom prst="rect">
            <a:avLst/>
          </a:prstGeom>
          <a:noFill/>
          <a:ln/>
        </p:spPr>
        <p:txBody>
          <a:bodyPr wrap="square" lIns="0" tIns="0" rIns="0" bIns="0" rtlCol="0" anchor="ctr"/>
          <a:lstStyle/>
          <a:p>
            <a:pPr marL="0" indent="0" algn="ctr">
              <a:buNone/>
            </a:pPr>
            <a:r>
              <a:rPr lang="en-US" sz="1450" b="1" dirty="0">
                <a:solidFill>
                  <a:srgbClr val="FFFFFF"/>
                </a:solidFill>
              </a:rPr>
              <a:t>Compound</a:t>
            </a:r>
            <a:endParaRPr lang="en-US" sz="1450" dirty="0"/>
          </a:p>
        </p:txBody>
      </p:sp>
      <p:sp>
        <p:nvSpPr>
          <p:cNvPr id="9" name="Shape 6"/>
          <p:cNvSpPr/>
          <p:nvPr/>
        </p:nvSpPr>
        <p:spPr>
          <a:xfrm>
            <a:off x="8823960" y="1645920"/>
            <a:ext cx="914400" cy="310896"/>
          </a:xfrm>
          <a:prstGeom prst="rect">
            <a:avLst/>
          </a:prstGeom>
          <a:solidFill>
            <a:srgbClr val="0B1F3A"/>
          </a:solidFill>
          <a:ln w="12700">
            <a:solidFill>
              <a:srgbClr val="D8E3F2"/>
            </a:solidFill>
            <a:prstDash val="solid"/>
          </a:ln>
        </p:spPr>
      </p:sp>
      <p:sp>
        <p:nvSpPr>
          <p:cNvPr id="10" name="Text 7"/>
          <p:cNvSpPr/>
          <p:nvPr/>
        </p:nvSpPr>
        <p:spPr>
          <a:xfrm>
            <a:off x="8860536" y="1700784"/>
            <a:ext cx="841248" cy="146304"/>
          </a:xfrm>
          <a:prstGeom prst="rect">
            <a:avLst/>
          </a:prstGeom>
          <a:noFill/>
          <a:ln/>
        </p:spPr>
        <p:txBody>
          <a:bodyPr wrap="square" lIns="0" tIns="0" rIns="0" bIns="0" rtlCol="0" anchor="ctr"/>
          <a:lstStyle/>
          <a:p>
            <a:pPr marL="0" indent="0" algn="ctr">
              <a:buNone/>
            </a:pPr>
            <a:r>
              <a:rPr lang="en-US" sz="1450" b="1" dirty="0">
                <a:solidFill>
                  <a:srgbClr val="FFFFFF"/>
                </a:solidFill>
              </a:rPr>
              <a:t>Score</a:t>
            </a:r>
            <a:endParaRPr lang="en-US" sz="1450" dirty="0"/>
          </a:p>
        </p:txBody>
      </p:sp>
      <p:sp>
        <p:nvSpPr>
          <p:cNvPr id="11" name="Shape 8"/>
          <p:cNvSpPr/>
          <p:nvPr/>
        </p:nvSpPr>
        <p:spPr>
          <a:xfrm>
            <a:off x="9738360" y="1645920"/>
            <a:ext cx="1325880" cy="310896"/>
          </a:xfrm>
          <a:prstGeom prst="rect">
            <a:avLst/>
          </a:prstGeom>
          <a:solidFill>
            <a:srgbClr val="0B1F3A"/>
          </a:solidFill>
          <a:ln w="12700">
            <a:solidFill>
              <a:srgbClr val="D8E3F2"/>
            </a:solidFill>
            <a:prstDash val="solid"/>
          </a:ln>
        </p:spPr>
      </p:sp>
      <p:sp>
        <p:nvSpPr>
          <p:cNvPr id="12" name="Text 9"/>
          <p:cNvSpPr/>
          <p:nvPr/>
        </p:nvSpPr>
        <p:spPr>
          <a:xfrm>
            <a:off x="9774936" y="1700784"/>
            <a:ext cx="1252728" cy="146304"/>
          </a:xfrm>
          <a:prstGeom prst="rect">
            <a:avLst/>
          </a:prstGeom>
          <a:noFill/>
          <a:ln/>
        </p:spPr>
        <p:txBody>
          <a:bodyPr wrap="square" lIns="0" tIns="0" rIns="0" bIns="0" rtlCol="0" anchor="ctr"/>
          <a:lstStyle/>
          <a:p>
            <a:pPr marL="0" indent="0" algn="ctr">
              <a:buNone/>
            </a:pPr>
            <a:r>
              <a:rPr lang="en-US" sz="1450" b="1" dirty="0">
                <a:solidFill>
                  <a:srgbClr val="FFFFFF"/>
                </a:solidFill>
              </a:rPr>
              <a:t>Toxicity</a:t>
            </a:r>
            <a:endParaRPr lang="en-US" sz="1450" dirty="0"/>
          </a:p>
        </p:txBody>
      </p:sp>
      <p:sp>
        <p:nvSpPr>
          <p:cNvPr id="13" name="Shape 10"/>
          <p:cNvSpPr/>
          <p:nvPr/>
        </p:nvSpPr>
        <p:spPr>
          <a:xfrm>
            <a:off x="6812280" y="1956816"/>
            <a:ext cx="2011680" cy="310896"/>
          </a:xfrm>
          <a:prstGeom prst="rect">
            <a:avLst/>
          </a:prstGeom>
          <a:solidFill>
            <a:srgbClr val="FFFFFF"/>
          </a:solidFill>
          <a:ln w="12700">
            <a:solidFill>
              <a:srgbClr val="D8E3F2"/>
            </a:solidFill>
            <a:prstDash val="solid"/>
          </a:ln>
        </p:spPr>
      </p:sp>
      <p:sp>
        <p:nvSpPr>
          <p:cNvPr id="14" name="Text 11"/>
          <p:cNvSpPr/>
          <p:nvPr/>
        </p:nvSpPr>
        <p:spPr>
          <a:xfrm>
            <a:off x="6848856" y="2011680"/>
            <a:ext cx="1938528" cy="146304"/>
          </a:xfrm>
          <a:prstGeom prst="rect">
            <a:avLst/>
          </a:prstGeom>
          <a:noFill/>
          <a:ln/>
        </p:spPr>
        <p:txBody>
          <a:bodyPr wrap="square" lIns="0" tIns="0" rIns="0" bIns="0" rtlCol="0" anchor="ctr"/>
          <a:lstStyle/>
          <a:p>
            <a:pPr marL="0" indent="0" algn="ctr">
              <a:buNone/>
            </a:pPr>
            <a:r>
              <a:rPr lang="en-US" sz="1450" dirty="0">
                <a:solidFill>
                  <a:srgbClr val="1F2937"/>
                </a:solidFill>
              </a:rPr>
              <a:t>Osimertinib</a:t>
            </a:r>
            <a:endParaRPr lang="en-US" sz="1450" dirty="0"/>
          </a:p>
        </p:txBody>
      </p:sp>
      <p:sp>
        <p:nvSpPr>
          <p:cNvPr id="15" name="Shape 12"/>
          <p:cNvSpPr/>
          <p:nvPr/>
        </p:nvSpPr>
        <p:spPr>
          <a:xfrm>
            <a:off x="8823960" y="1956816"/>
            <a:ext cx="914400" cy="310896"/>
          </a:xfrm>
          <a:prstGeom prst="rect">
            <a:avLst/>
          </a:prstGeom>
          <a:solidFill>
            <a:srgbClr val="FFFFFF"/>
          </a:solidFill>
          <a:ln w="12700">
            <a:solidFill>
              <a:srgbClr val="D8E3F2"/>
            </a:solidFill>
            <a:prstDash val="solid"/>
          </a:ln>
        </p:spPr>
      </p:sp>
      <p:sp>
        <p:nvSpPr>
          <p:cNvPr id="16" name="Text 13"/>
          <p:cNvSpPr/>
          <p:nvPr/>
        </p:nvSpPr>
        <p:spPr>
          <a:xfrm>
            <a:off x="8860536" y="2011680"/>
            <a:ext cx="841248" cy="146304"/>
          </a:xfrm>
          <a:prstGeom prst="rect">
            <a:avLst/>
          </a:prstGeom>
          <a:noFill/>
          <a:ln/>
        </p:spPr>
        <p:txBody>
          <a:bodyPr wrap="square" lIns="0" tIns="0" rIns="0" bIns="0" rtlCol="0" anchor="ctr"/>
          <a:lstStyle/>
          <a:p>
            <a:pPr marL="0" indent="0" algn="ctr">
              <a:buNone/>
            </a:pPr>
            <a:r>
              <a:rPr lang="en-US" sz="1450" dirty="0">
                <a:solidFill>
                  <a:srgbClr val="1F2937"/>
                </a:solidFill>
              </a:rPr>
              <a:t>-11.0</a:t>
            </a:r>
            <a:endParaRPr lang="en-US" sz="1450" dirty="0"/>
          </a:p>
        </p:txBody>
      </p:sp>
      <p:sp>
        <p:nvSpPr>
          <p:cNvPr id="17" name="Shape 14"/>
          <p:cNvSpPr/>
          <p:nvPr/>
        </p:nvSpPr>
        <p:spPr>
          <a:xfrm>
            <a:off x="9738360" y="1956816"/>
            <a:ext cx="1325880" cy="310896"/>
          </a:xfrm>
          <a:prstGeom prst="rect">
            <a:avLst/>
          </a:prstGeom>
          <a:solidFill>
            <a:srgbClr val="FFFFFF"/>
          </a:solidFill>
          <a:ln w="12700">
            <a:solidFill>
              <a:srgbClr val="D8E3F2"/>
            </a:solidFill>
            <a:prstDash val="solid"/>
          </a:ln>
        </p:spPr>
      </p:sp>
      <p:sp>
        <p:nvSpPr>
          <p:cNvPr id="18" name="Text 15"/>
          <p:cNvSpPr/>
          <p:nvPr/>
        </p:nvSpPr>
        <p:spPr>
          <a:xfrm>
            <a:off x="9774936" y="2011680"/>
            <a:ext cx="1252728" cy="146304"/>
          </a:xfrm>
          <a:prstGeom prst="rect">
            <a:avLst/>
          </a:prstGeom>
          <a:noFill/>
          <a:ln/>
        </p:spPr>
        <p:txBody>
          <a:bodyPr wrap="square" lIns="0" tIns="0" rIns="0" bIns="0" rtlCol="0" anchor="ctr"/>
          <a:lstStyle/>
          <a:p>
            <a:pPr marL="0" indent="0" algn="ctr">
              <a:buNone/>
            </a:pPr>
            <a:r>
              <a:rPr lang="en-US" sz="1450" dirty="0">
                <a:solidFill>
                  <a:srgbClr val="1F2937"/>
                </a:solidFill>
              </a:rPr>
              <a:t>Low</a:t>
            </a:r>
            <a:endParaRPr lang="en-US" sz="1450" dirty="0"/>
          </a:p>
        </p:txBody>
      </p:sp>
      <p:sp>
        <p:nvSpPr>
          <p:cNvPr id="19" name="Shape 16"/>
          <p:cNvSpPr/>
          <p:nvPr/>
        </p:nvSpPr>
        <p:spPr>
          <a:xfrm>
            <a:off x="6812280" y="2267712"/>
            <a:ext cx="2011680" cy="310896"/>
          </a:xfrm>
          <a:prstGeom prst="rect">
            <a:avLst/>
          </a:prstGeom>
          <a:solidFill>
            <a:srgbClr val="FFFFFF"/>
          </a:solidFill>
          <a:ln w="12700">
            <a:solidFill>
              <a:srgbClr val="D8E3F2"/>
            </a:solidFill>
            <a:prstDash val="solid"/>
          </a:ln>
        </p:spPr>
      </p:sp>
      <p:sp>
        <p:nvSpPr>
          <p:cNvPr id="20" name="Text 17"/>
          <p:cNvSpPr/>
          <p:nvPr/>
        </p:nvSpPr>
        <p:spPr>
          <a:xfrm>
            <a:off x="6848856" y="2322576"/>
            <a:ext cx="1938528" cy="146304"/>
          </a:xfrm>
          <a:prstGeom prst="rect">
            <a:avLst/>
          </a:prstGeom>
          <a:noFill/>
          <a:ln/>
        </p:spPr>
        <p:txBody>
          <a:bodyPr wrap="square" lIns="0" tIns="0" rIns="0" bIns="0" rtlCol="0" anchor="ctr"/>
          <a:lstStyle/>
          <a:p>
            <a:pPr marL="0" indent="0" algn="ctr">
              <a:buNone/>
            </a:pPr>
            <a:r>
              <a:rPr lang="en-US" sz="1450" dirty="0">
                <a:solidFill>
                  <a:srgbClr val="1F2937"/>
                </a:solidFill>
              </a:rPr>
              <a:t>Afatinib</a:t>
            </a:r>
            <a:endParaRPr lang="en-US" sz="1450" dirty="0"/>
          </a:p>
        </p:txBody>
      </p:sp>
      <p:sp>
        <p:nvSpPr>
          <p:cNvPr id="21" name="Shape 18"/>
          <p:cNvSpPr/>
          <p:nvPr/>
        </p:nvSpPr>
        <p:spPr>
          <a:xfrm>
            <a:off x="8823960" y="2267712"/>
            <a:ext cx="914400" cy="310896"/>
          </a:xfrm>
          <a:prstGeom prst="rect">
            <a:avLst/>
          </a:prstGeom>
          <a:solidFill>
            <a:srgbClr val="FFFFFF"/>
          </a:solidFill>
          <a:ln w="12700">
            <a:solidFill>
              <a:srgbClr val="D8E3F2"/>
            </a:solidFill>
            <a:prstDash val="solid"/>
          </a:ln>
        </p:spPr>
      </p:sp>
      <p:sp>
        <p:nvSpPr>
          <p:cNvPr id="22" name="Text 19"/>
          <p:cNvSpPr/>
          <p:nvPr/>
        </p:nvSpPr>
        <p:spPr>
          <a:xfrm>
            <a:off x="8860536" y="2322576"/>
            <a:ext cx="841248" cy="146304"/>
          </a:xfrm>
          <a:prstGeom prst="rect">
            <a:avLst/>
          </a:prstGeom>
          <a:noFill/>
          <a:ln/>
        </p:spPr>
        <p:txBody>
          <a:bodyPr wrap="square" lIns="0" tIns="0" rIns="0" bIns="0" rtlCol="0" anchor="ctr"/>
          <a:lstStyle/>
          <a:p>
            <a:pPr marL="0" indent="0" algn="ctr">
              <a:buNone/>
            </a:pPr>
            <a:r>
              <a:rPr lang="en-US" sz="1450" dirty="0">
                <a:solidFill>
                  <a:srgbClr val="1F2937"/>
                </a:solidFill>
              </a:rPr>
              <a:t>-10.4</a:t>
            </a:r>
            <a:endParaRPr lang="en-US" sz="1450" dirty="0"/>
          </a:p>
        </p:txBody>
      </p:sp>
      <p:sp>
        <p:nvSpPr>
          <p:cNvPr id="23" name="Shape 20"/>
          <p:cNvSpPr/>
          <p:nvPr/>
        </p:nvSpPr>
        <p:spPr>
          <a:xfrm>
            <a:off x="9738360" y="2267712"/>
            <a:ext cx="1325880" cy="310896"/>
          </a:xfrm>
          <a:prstGeom prst="rect">
            <a:avLst/>
          </a:prstGeom>
          <a:solidFill>
            <a:srgbClr val="FFFFFF"/>
          </a:solidFill>
          <a:ln w="12700">
            <a:solidFill>
              <a:srgbClr val="D8E3F2"/>
            </a:solidFill>
            <a:prstDash val="solid"/>
          </a:ln>
        </p:spPr>
      </p:sp>
      <p:sp>
        <p:nvSpPr>
          <p:cNvPr id="24" name="Text 21"/>
          <p:cNvSpPr/>
          <p:nvPr/>
        </p:nvSpPr>
        <p:spPr>
          <a:xfrm>
            <a:off x="9774936" y="2322576"/>
            <a:ext cx="1252728" cy="146304"/>
          </a:xfrm>
          <a:prstGeom prst="rect">
            <a:avLst/>
          </a:prstGeom>
          <a:noFill/>
          <a:ln/>
        </p:spPr>
        <p:txBody>
          <a:bodyPr wrap="square" lIns="0" tIns="0" rIns="0" bIns="0" rtlCol="0" anchor="ctr"/>
          <a:lstStyle/>
          <a:p>
            <a:pPr marL="0" indent="0" algn="ctr">
              <a:buNone/>
            </a:pPr>
            <a:r>
              <a:rPr lang="en-US" sz="1450" dirty="0">
                <a:solidFill>
                  <a:srgbClr val="1F2937"/>
                </a:solidFill>
              </a:rPr>
              <a:t>Moderate</a:t>
            </a:r>
            <a:endParaRPr lang="en-US" sz="1450" dirty="0"/>
          </a:p>
        </p:txBody>
      </p:sp>
      <p:sp>
        <p:nvSpPr>
          <p:cNvPr id="25" name="Shape 22"/>
          <p:cNvSpPr/>
          <p:nvPr/>
        </p:nvSpPr>
        <p:spPr>
          <a:xfrm>
            <a:off x="6812280" y="2578608"/>
            <a:ext cx="2011680" cy="310896"/>
          </a:xfrm>
          <a:prstGeom prst="rect">
            <a:avLst/>
          </a:prstGeom>
          <a:solidFill>
            <a:srgbClr val="FFFFFF"/>
          </a:solidFill>
          <a:ln w="12700">
            <a:solidFill>
              <a:srgbClr val="D8E3F2"/>
            </a:solidFill>
            <a:prstDash val="solid"/>
          </a:ln>
        </p:spPr>
      </p:sp>
      <p:sp>
        <p:nvSpPr>
          <p:cNvPr id="26" name="Text 23"/>
          <p:cNvSpPr/>
          <p:nvPr/>
        </p:nvSpPr>
        <p:spPr>
          <a:xfrm>
            <a:off x="6848856" y="2633472"/>
            <a:ext cx="1938528" cy="146304"/>
          </a:xfrm>
          <a:prstGeom prst="rect">
            <a:avLst/>
          </a:prstGeom>
          <a:noFill/>
          <a:ln/>
        </p:spPr>
        <p:txBody>
          <a:bodyPr wrap="square" lIns="0" tIns="0" rIns="0" bIns="0" rtlCol="0" anchor="ctr"/>
          <a:lstStyle/>
          <a:p>
            <a:pPr marL="0" indent="0" algn="ctr">
              <a:buNone/>
            </a:pPr>
            <a:r>
              <a:rPr lang="en-US" sz="1450" dirty="0">
                <a:solidFill>
                  <a:srgbClr val="1F2937"/>
                </a:solidFill>
              </a:rPr>
              <a:t>Compound_B</a:t>
            </a:r>
            <a:endParaRPr lang="en-US" sz="1450" dirty="0"/>
          </a:p>
        </p:txBody>
      </p:sp>
      <p:sp>
        <p:nvSpPr>
          <p:cNvPr id="27" name="Shape 24"/>
          <p:cNvSpPr/>
          <p:nvPr/>
        </p:nvSpPr>
        <p:spPr>
          <a:xfrm>
            <a:off x="8823960" y="2578608"/>
            <a:ext cx="914400" cy="310896"/>
          </a:xfrm>
          <a:prstGeom prst="rect">
            <a:avLst/>
          </a:prstGeom>
          <a:solidFill>
            <a:srgbClr val="FFFFFF"/>
          </a:solidFill>
          <a:ln w="12700">
            <a:solidFill>
              <a:srgbClr val="D8E3F2"/>
            </a:solidFill>
            <a:prstDash val="solid"/>
          </a:ln>
        </p:spPr>
      </p:sp>
      <p:sp>
        <p:nvSpPr>
          <p:cNvPr id="28" name="Text 25"/>
          <p:cNvSpPr/>
          <p:nvPr/>
        </p:nvSpPr>
        <p:spPr>
          <a:xfrm>
            <a:off x="8860536" y="2633472"/>
            <a:ext cx="841248" cy="146304"/>
          </a:xfrm>
          <a:prstGeom prst="rect">
            <a:avLst/>
          </a:prstGeom>
          <a:noFill/>
          <a:ln/>
        </p:spPr>
        <p:txBody>
          <a:bodyPr wrap="square" lIns="0" tIns="0" rIns="0" bIns="0" rtlCol="0" anchor="ctr"/>
          <a:lstStyle/>
          <a:p>
            <a:pPr marL="0" indent="0" algn="ctr">
              <a:buNone/>
            </a:pPr>
            <a:r>
              <a:rPr lang="en-US" sz="1450" dirty="0">
                <a:solidFill>
                  <a:srgbClr val="1F2937"/>
                </a:solidFill>
              </a:rPr>
              <a:t>-9.8</a:t>
            </a:r>
            <a:endParaRPr lang="en-US" sz="1450" dirty="0"/>
          </a:p>
        </p:txBody>
      </p:sp>
      <p:sp>
        <p:nvSpPr>
          <p:cNvPr id="29" name="Shape 26"/>
          <p:cNvSpPr/>
          <p:nvPr/>
        </p:nvSpPr>
        <p:spPr>
          <a:xfrm>
            <a:off x="9738360" y="2578608"/>
            <a:ext cx="1325880" cy="310896"/>
          </a:xfrm>
          <a:prstGeom prst="rect">
            <a:avLst/>
          </a:prstGeom>
          <a:solidFill>
            <a:srgbClr val="FFFFFF"/>
          </a:solidFill>
          <a:ln w="12700">
            <a:solidFill>
              <a:srgbClr val="D8E3F2"/>
            </a:solidFill>
            <a:prstDash val="solid"/>
          </a:ln>
        </p:spPr>
      </p:sp>
      <p:sp>
        <p:nvSpPr>
          <p:cNvPr id="30" name="Text 27"/>
          <p:cNvSpPr/>
          <p:nvPr/>
        </p:nvSpPr>
        <p:spPr>
          <a:xfrm>
            <a:off x="9774936" y="2633472"/>
            <a:ext cx="1252728" cy="146304"/>
          </a:xfrm>
          <a:prstGeom prst="rect">
            <a:avLst/>
          </a:prstGeom>
          <a:noFill/>
          <a:ln/>
        </p:spPr>
        <p:txBody>
          <a:bodyPr wrap="square" lIns="0" tIns="0" rIns="0" bIns="0" rtlCol="0" anchor="ctr"/>
          <a:lstStyle/>
          <a:p>
            <a:pPr marL="0" indent="0" algn="ctr">
              <a:buNone/>
            </a:pPr>
            <a:r>
              <a:rPr lang="en-US" sz="1450" dirty="0">
                <a:solidFill>
                  <a:srgbClr val="1F2937"/>
                </a:solidFill>
              </a:rPr>
              <a:t>Low</a:t>
            </a:r>
            <a:endParaRPr lang="en-US" sz="1450" dirty="0"/>
          </a:p>
        </p:txBody>
      </p:sp>
      <p:sp>
        <p:nvSpPr>
          <p:cNvPr id="31" name="Shape 28"/>
          <p:cNvSpPr/>
          <p:nvPr/>
        </p:nvSpPr>
        <p:spPr>
          <a:xfrm>
            <a:off x="6812280" y="2889504"/>
            <a:ext cx="2011680" cy="310896"/>
          </a:xfrm>
          <a:prstGeom prst="rect">
            <a:avLst/>
          </a:prstGeom>
          <a:solidFill>
            <a:srgbClr val="FFFFFF"/>
          </a:solidFill>
          <a:ln w="12700">
            <a:solidFill>
              <a:srgbClr val="D8E3F2"/>
            </a:solidFill>
            <a:prstDash val="solid"/>
          </a:ln>
        </p:spPr>
      </p:sp>
      <p:sp>
        <p:nvSpPr>
          <p:cNvPr id="32" name="Text 29"/>
          <p:cNvSpPr/>
          <p:nvPr/>
        </p:nvSpPr>
        <p:spPr>
          <a:xfrm>
            <a:off x="6848856" y="2944368"/>
            <a:ext cx="1938528" cy="146304"/>
          </a:xfrm>
          <a:prstGeom prst="rect">
            <a:avLst/>
          </a:prstGeom>
          <a:noFill/>
          <a:ln/>
        </p:spPr>
        <p:txBody>
          <a:bodyPr wrap="square" lIns="0" tIns="0" rIns="0" bIns="0" rtlCol="0" anchor="ctr"/>
          <a:lstStyle/>
          <a:p>
            <a:pPr marL="0" indent="0" algn="ctr">
              <a:buNone/>
            </a:pPr>
            <a:r>
              <a:rPr lang="en-US" sz="1450" dirty="0">
                <a:solidFill>
                  <a:srgbClr val="1F2937"/>
                </a:solidFill>
              </a:rPr>
              <a:t>Gefitinib</a:t>
            </a:r>
            <a:endParaRPr lang="en-US" sz="1450" dirty="0"/>
          </a:p>
        </p:txBody>
      </p:sp>
      <p:sp>
        <p:nvSpPr>
          <p:cNvPr id="33" name="Shape 30"/>
          <p:cNvSpPr/>
          <p:nvPr/>
        </p:nvSpPr>
        <p:spPr>
          <a:xfrm>
            <a:off x="8823960" y="2889504"/>
            <a:ext cx="914400" cy="310896"/>
          </a:xfrm>
          <a:prstGeom prst="rect">
            <a:avLst/>
          </a:prstGeom>
          <a:solidFill>
            <a:srgbClr val="FFFFFF"/>
          </a:solidFill>
          <a:ln w="12700">
            <a:solidFill>
              <a:srgbClr val="D8E3F2"/>
            </a:solidFill>
            <a:prstDash val="solid"/>
          </a:ln>
        </p:spPr>
      </p:sp>
      <p:sp>
        <p:nvSpPr>
          <p:cNvPr id="34" name="Text 31"/>
          <p:cNvSpPr/>
          <p:nvPr/>
        </p:nvSpPr>
        <p:spPr>
          <a:xfrm>
            <a:off x="8860536" y="2944368"/>
            <a:ext cx="841248" cy="146304"/>
          </a:xfrm>
          <a:prstGeom prst="rect">
            <a:avLst/>
          </a:prstGeom>
          <a:noFill/>
          <a:ln/>
        </p:spPr>
        <p:txBody>
          <a:bodyPr wrap="square" lIns="0" tIns="0" rIns="0" bIns="0" rtlCol="0" anchor="ctr"/>
          <a:lstStyle/>
          <a:p>
            <a:pPr marL="0" indent="0" algn="ctr">
              <a:buNone/>
            </a:pPr>
            <a:r>
              <a:rPr lang="en-US" sz="1450" dirty="0">
                <a:solidFill>
                  <a:srgbClr val="1F2937"/>
                </a:solidFill>
              </a:rPr>
              <a:t>-9.6</a:t>
            </a:r>
            <a:endParaRPr lang="en-US" sz="1450" dirty="0"/>
          </a:p>
        </p:txBody>
      </p:sp>
      <p:sp>
        <p:nvSpPr>
          <p:cNvPr id="35" name="Shape 32"/>
          <p:cNvSpPr/>
          <p:nvPr/>
        </p:nvSpPr>
        <p:spPr>
          <a:xfrm>
            <a:off x="9738360" y="2889504"/>
            <a:ext cx="1325880" cy="310896"/>
          </a:xfrm>
          <a:prstGeom prst="rect">
            <a:avLst/>
          </a:prstGeom>
          <a:solidFill>
            <a:srgbClr val="FFFFFF"/>
          </a:solidFill>
          <a:ln w="12700">
            <a:solidFill>
              <a:srgbClr val="D8E3F2"/>
            </a:solidFill>
            <a:prstDash val="solid"/>
          </a:ln>
        </p:spPr>
      </p:sp>
      <p:sp>
        <p:nvSpPr>
          <p:cNvPr id="36" name="Text 33"/>
          <p:cNvSpPr/>
          <p:nvPr/>
        </p:nvSpPr>
        <p:spPr>
          <a:xfrm>
            <a:off x="9774936" y="2944368"/>
            <a:ext cx="1252728" cy="146304"/>
          </a:xfrm>
          <a:prstGeom prst="rect">
            <a:avLst/>
          </a:prstGeom>
          <a:noFill/>
          <a:ln/>
        </p:spPr>
        <p:txBody>
          <a:bodyPr wrap="square" lIns="0" tIns="0" rIns="0" bIns="0" rtlCol="0" anchor="ctr"/>
          <a:lstStyle/>
          <a:p>
            <a:pPr marL="0" indent="0" algn="ctr">
              <a:buNone/>
            </a:pPr>
            <a:r>
              <a:rPr lang="en-US" sz="1450" dirty="0">
                <a:solidFill>
                  <a:srgbClr val="1F2937"/>
                </a:solidFill>
              </a:rPr>
              <a:t>Moderate</a:t>
            </a:r>
            <a:endParaRPr lang="en-US" sz="1450" dirty="0"/>
          </a:p>
        </p:txBody>
      </p:sp>
      <p:sp>
        <p:nvSpPr>
          <p:cNvPr id="37" name="Shape 34"/>
          <p:cNvSpPr/>
          <p:nvPr/>
        </p:nvSpPr>
        <p:spPr>
          <a:xfrm>
            <a:off x="6812280" y="3200400"/>
            <a:ext cx="2011680" cy="310896"/>
          </a:xfrm>
          <a:prstGeom prst="rect">
            <a:avLst/>
          </a:prstGeom>
          <a:solidFill>
            <a:srgbClr val="FFFFFF"/>
          </a:solidFill>
          <a:ln w="12700">
            <a:solidFill>
              <a:srgbClr val="D8E3F2"/>
            </a:solidFill>
            <a:prstDash val="solid"/>
          </a:ln>
        </p:spPr>
      </p:sp>
      <p:sp>
        <p:nvSpPr>
          <p:cNvPr id="38" name="Text 35"/>
          <p:cNvSpPr/>
          <p:nvPr/>
        </p:nvSpPr>
        <p:spPr>
          <a:xfrm>
            <a:off x="6848856" y="3255264"/>
            <a:ext cx="1938528" cy="146304"/>
          </a:xfrm>
          <a:prstGeom prst="rect">
            <a:avLst/>
          </a:prstGeom>
          <a:noFill/>
          <a:ln/>
        </p:spPr>
        <p:txBody>
          <a:bodyPr wrap="square" lIns="0" tIns="0" rIns="0" bIns="0" rtlCol="0" anchor="ctr"/>
          <a:lstStyle/>
          <a:p>
            <a:pPr marL="0" indent="0" algn="ctr">
              <a:buNone/>
            </a:pPr>
            <a:r>
              <a:rPr lang="en-US" sz="1450" dirty="0">
                <a:solidFill>
                  <a:srgbClr val="1F2937"/>
                </a:solidFill>
              </a:rPr>
              <a:t>Erlotinib</a:t>
            </a:r>
            <a:endParaRPr lang="en-US" sz="1450" dirty="0"/>
          </a:p>
        </p:txBody>
      </p:sp>
      <p:sp>
        <p:nvSpPr>
          <p:cNvPr id="39" name="Shape 36"/>
          <p:cNvSpPr/>
          <p:nvPr/>
        </p:nvSpPr>
        <p:spPr>
          <a:xfrm>
            <a:off x="8823960" y="3200400"/>
            <a:ext cx="914400" cy="310896"/>
          </a:xfrm>
          <a:prstGeom prst="rect">
            <a:avLst/>
          </a:prstGeom>
          <a:solidFill>
            <a:srgbClr val="FFFFFF"/>
          </a:solidFill>
          <a:ln w="12700">
            <a:solidFill>
              <a:srgbClr val="D8E3F2"/>
            </a:solidFill>
            <a:prstDash val="solid"/>
          </a:ln>
        </p:spPr>
      </p:sp>
      <p:sp>
        <p:nvSpPr>
          <p:cNvPr id="40" name="Text 37"/>
          <p:cNvSpPr/>
          <p:nvPr/>
        </p:nvSpPr>
        <p:spPr>
          <a:xfrm>
            <a:off x="8860536" y="3255264"/>
            <a:ext cx="841248" cy="146304"/>
          </a:xfrm>
          <a:prstGeom prst="rect">
            <a:avLst/>
          </a:prstGeom>
          <a:noFill/>
          <a:ln/>
        </p:spPr>
        <p:txBody>
          <a:bodyPr wrap="square" lIns="0" tIns="0" rIns="0" bIns="0" rtlCol="0" anchor="ctr"/>
          <a:lstStyle/>
          <a:p>
            <a:pPr marL="0" indent="0" algn="ctr">
              <a:buNone/>
            </a:pPr>
            <a:r>
              <a:rPr lang="en-US" sz="1450" dirty="0">
                <a:solidFill>
                  <a:srgbClr val="1F2937"/>
                </a:solidFill>
              </a:rPr>
              <a:t>-9.1</a:t>
            </a:r>
            <a:endParaRPr lang="en-US" sz="1450" dirty="0"/>
          </a:p>
        </p:txBody>
      </p:sp>
      <p:sp>
        <p:nvSpPr>
          <p:cNvPr id="41" name="Shape 38"/>
          <p:cNvSpPr/>
          <p:nvPr/>
        </p:nvSpPr>
        <p:spPr>
          <a:xfrm>
            <a:off x="9738360" y="3200400"/>
            <a:ext cx="1325880" cy="310896"/>
          </a:xfrm>
          <a:prstGeom prst="rect">
            <a:avLst/>
          </a:prstGeom>
          <a:solidFill>
            <a:srgbClr val="FFFFFF"/>
          </a:solidFill>
          <a:ln w="12700">
            <a:solidFill>
              <a:srgbClr val="D8E3F2"/>
            </a:solidFill>
            <a:prstDash val="solid"/>
          </a:ln>
        </p:spPr>
      </p:sp>
      <p:sp>
        <p:nvSpPr>
          <p:cNvPr id="42" name="Text 39"/>
          <p:cNvSpPr/>
          <p:nvPr/>
        </p:nvSpPr>
        <p:spPr>
          <a:xfrm>
            <a:off x="9774936" y="3255264"/>
            <a:ext cx="1252728" cy="146304"/>
          </a:xfrm>
          <a:prstGeom prst="rect">
            <a:avLst/>
          </a:prstGeom>
          <a:noFill/>
          <a:ln/>
        </p:spPr>
        <p:txBody>
          <a:bodyPr wrap="square" lIns="0" tIns="0" rIns="0" bIns="0" rtlCol="0" anchor="ctr"/>
          <a:lstStyle/>
          <a:p>
            <a:pPr marL="0" indent="0" algn="ctr">
              <a:buNone/>
            </a:pPr>
            <a:r>
              <a:rPr lang="en-US" sz="1450" dirty="0">
                <a:solidFill>
                  <a:srgbClr val="1F2937"/>
                </a:solidFill>
              </a:rPr>
              <a:t>Low</a:t>
            </a:r>
            <a:endParaRPr lang="en-US" sz="1450" dirty="0"/>
          </a:p>
        </p:txBody>
      </p:sp>
      <p:sp>
        <p:nvSpPr>
          <p:cNvPr id="43" name="Text 40"/>
          <p:cNvSpPr/>
          <p:nvPr/>
        </p:nvSpPr>
        <p:spPr>
          <a:xfrm>
            <a:off x="6656831" y="3940749"/>
            <a:ext cx="1832899" cy="365760"/>
          </a:xfrm>
          <a:prstGeom prst="rect">
            <a:avLst/>
          </a:prstGeom>
          <a:noFill/>
          <a:ln/>
        </p:spPr>
        <p:txBody>
          <a:bodyPr wrap="square" rtlCol="0" anchor="ctr"/>
          <a:lstStyle/>
          <a:p>
            <a:pPr marL="0" indent="0">
              <a:buNone/>
            </a:pPr>
            <a:r>
              <a:rPr lang="en-US" sz="1800" b="1" dirty="0">
                <a:solidFill>
                  <a:srgbClr val="14B8A6"/>
                </a:solidFill>
              </a:rPr>
              <a:t>Interpretation</a:t>
            </a:r>
            <a:endParaRPr lang="en-US" sz="1800" dirty="0"/>
          </a:p>
        </p:txBody>
      </p:sp>
      <p:sp>
        <p:nvSpPr>
          <p:cNvPr id="44" name="Text 41"/>
          <p:cNvSpPr/>
          <p:nvPr/>
        </p:nvSpPr>
        <p:spPr>
          <a:xfrm>
            <a:off x="6656832" y="4462272"/>
            <a:ext cx="4572000" cy="1097280"/>
          </a:xfrm>
          <a:prstGeom prst="rect">
            <a:avLst/>
          </a:prstGeom>
          <a:noFill/>
          <a:ln/>
        </p:spPr>
        <p:txBody>
          <a:bodyPr wrap="square" lIns="127" tIns="127" rIns="127" bIns="127" rtlCol="0" anchor="ctr"/>
          <a:lstStyle/>
          <a:p>
            <a:pPr marL="0" indent="0">
              <a:buNone/>
            </a:pPr>
            <a:r>
              <a:rPr lang="en-US" sz="1800" dirty="0">
                <a:solidFill>
                  <a:srgbClr val="1F2937"/>
                </a:solidFill>
              </a:rPr>
              <a:t>• More negative affinity suggests stronger predicted binding</a:t>
            </a:r>
            <a:endParaRPr lang="en-US" sz="1800" dirty="0"/>
          </a:p>
          <a:p>
            <a:pPr marL="0" indent="0">
              <a:buNone/>
            </a:pPr>
            <a:r>
              <a:rPr lang="en-US" sz="1800" dirty="0">
                <a:solidFill>
                  <a:srgbClr val="1F2937"/>
                </a:solidFill>
              </a:rPr>
              <a:t>• Top five hits all pass basic drug-likeness filters</a:t>
            </a:r>
            <a:endParaRPr lang="en-US" sz="1800" dirty="0"/>
          </a:p>
          <a:p>
            <a:pPr marL="0" indent="0">
              <a:buNone/>
            </a:pPr>
            <a:r>
              <a:rPr lang="en-US" sz="1800" dirty="0">
                <a:solidFill>
                  <a:srgbClr val="1F2937"/>
                </a:solidFill>
              </a:rPr>
              <a:t>• Osimertinib and Afatinib provide useful positive controls for the case study</a:t>
            </a:r>
            <a:endParaRPr lang="en-US" sz="1800" dirty="0"/>
          </a:p>
        </p:txBody>
      </p:sp>
      <p:sp>
        <p:nvSpPr>
          <p:cNvPr id="45" name="Shape 42"/>
          <p:cNvSpPr/>
          <p:nvPr/>
        </p:nvSpPr>
        <p:spPr>
          <a:xfrm>
            <a:off x="502920" y="6446520"/>
            <a:ext cx="11064240" cy="0"/>
          </a:xfrm>
          <a:prstGeom prst="line">
            <a:avLst/>
          </a:prstGeom>
          <a:noFill/>
          <a:ln w="12700">
            <a:solidFill>
              <a:srgbClr val="D7DEE8"/>
            </a:solidFill>
            <a:prstDash val="solid"/>
          </a:ln>
        </p:spPr>
      </p:sp>
      <p:sp>
        <p:nvSpPr>
          <p:cNvPr id="46" name="Text 43"/>
          <p:cNvSpPr/>
          <p:nvPr/>
        </p:nvSpPr>
        <p:spPr>
          <a:xfrm>
            <a:off x="502920" y="6473952"/>
            <a:ext cx="2560320" cy="182880"/>
          </a:xfrm>
          <a:prstGeom prst="rect">
            <a:avLst/>
          </a:prstGeom>
          <a:noFill/>
          <a:ln/>
        </p:spPr>
        <p:txBody>
          <a:bodyPr wrap="square" rtlCol="0" anchor="ctr"/>
          <a:lstStyle/>
          <a:p>
            <a:pPr marL="0" indent="0">
              <a:buNone/>
            </a:pPr>
            <a:r>
              <a:rPr lang="en-US" sz="900" dirty="0">
                <a:solidFill>
                  <a:srgbClr val="667085"/>
                </a:solidFill>
              </a:rPr>
              <a:t>Major Project | Bioinformatics</a:t>
            </a:r>
            <a:endParaRPr lang="en-US" sz="900" dirty="0"/>
          </a:p>
        </p:txBody>
      </p:sp>
      <p:sp>
        <p:nvSpPr>
          <p:cNvPr id="47" name="Text 44"/>
          <p:cNvSpPr/>
          <p:nvPr/>
        </p:nvSpPr>
        <p:spPr>
          <a:xfrm>
            <a:off x="11155680" y="6455664"/>
            <a:ext cx="365760" cy="182880"/>
          </a:xfrm>
          <a:prstGeom prst="rect">
            <a:avLst/>
          </a:prstGeom>
          <a:noFill/>
          <a:ln/>
        </p:spPr>
        <p:txBody>
          <a:bodyPr wrap="square" rtlCol="0" anchor="ctr"/>
          <a:lstStyle/>
          <a:p>
            <a:pPr marL="0" indent="0" algn="r">
              <a:buNone/>
            </a:pPr>
            <a:r>
              <a:rPr lang="en-US" sz="900" dirty="0">
                <a:solidFill>
                  <a:srgbClr val="667085"/>
                </a:solidFill>
              </a:rPr>
              <a:t>9</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6F8FB"/>
        </a:solidFill>
        <a:effectLst/>
      </p:bgPr>
    </p:bg>
    <p:spTree>
      <p:nvGrpSpPr>
        <p:cNvPr id="1" name=""/>
        <p:cNvGrpSpPr/>
        <p:nvPr/>
      </p:nvGrpSpPr>
      <p:grpSpPr>
        <a:xfrm>
          <a:off x="0" y="0"/>
          <a:ext cx="0" cy="0"/>
          <a:chOff x="0" y="0"/>
          <a:chExt cx="0" cy="0"/>
        </a:xfrm>
      </p:grpSpPr>
      <p:sp>
        <p:nvSpPr>
          <p:cNvPr id="2" name="Text 0"/>
          <p:cNvSpPr/>
          <p:nvPr/>
        </p:nvSpPr>
        <p:spPr>
          <a:xfrm>
            <a:off x="502920" y="146304"/>
            <a:ext cx="3200400" cy="164592"/>
          </a:xfrm>
          <a:prstGeom prst="rect">
            <a:avLst/>
          </a:prstGeom>
          <a:noFill/>
          <a:ln/>
        </p:spPr>
        <p:txBody>
          <a:bodyPr wrap="square" rtlCol="0" anchor="ctr"/>
          <a:lstStyle/>
          <a:p>
            <a:pPr marL="0" indent="0">
              <a:buNone/>
            </a:pPr>
            <a:r>
              <a:rPr lang="en-US" sz="1050" b="1" dirty="0">
                <a:solidFill>
                  <a:srgbClr val="14B8A6"/>
                </a:solidFill>
                <a:latin typeface="Aptos" pitchFamily="34" charset="0"/>
                <a:ea typeface="Aptos" pitchFamily="34" charset="-122"/>
                <a:cs typeface="Aptos" pitchFamily="34" charset="-120"/>
              </a:rPr>
              <a:t>Drug Discovery Pipeline</a:t>
            </a:r>
            <a:endParaRPr lang="en-US" sz="1050" dirty="0"/>
          </a:p>
        </p:txBody>
      </p:sp>
      <p:sp>
        <p:nvSpPr>
          <p:cNvPr id="3" name="Text 1"/>
          <p:cNvSpPr/>
          <p:nvPr/>
        </p:nvSpPr>
        <p:spPr>
          <a:xfrm>
            <a:off x="502920" y="384048"/>
            <a:ext cx="10972800" cy="347472"/>
          </a:xfrm>
          <a:prstGeom prst="rect">
            <a:avLst/>
          </a:prstGeom>
          <a:noFill/>
          <a:ln/>
        </p:spPr>
        <p:txBody>
          <a:bodyPr wrap="square" rtlCol="0" anchor="ctr"/>
          <a:lstStyle/>
          <a:p>
            <a:pPr marL="0" indent="0">
              <a:buNone/>
            </a:pPr>
            <a:r>
              <a:rPr lang="en-US" sz="2600" b="1" dirty="0">
                <a:solidFill>
                  <a:srgbClr val="0B1F3A"/>
                </a:solidFill>
                <a:latin typeface="Aptos Display" pitchFamily="34" charset="0"/>
                <a:ea typeface="Aptos Display" pitchFamily="34" charset="-122"/>
                <a:cs typeface="Aptos Display" pitchFamily="34" charset="-120"/>
              </a:rPr>
              <a:t>Interaction analysis with PyMOL</a:t>
            </a:r>
            <a:endParaRPr lang="en-US" sz="2600" dirty="0"/>
          </a:p>
        </p:txBody>
      </p:sp>
      <p:sp>
        <p:nvSpPr>
          <p:cNvPr id="4" name="Shape 2"/>
          <p:cNvSpPr/>
          <p:nvPr/>
        </p:nvSpPr>
        <p:spPr>
          <a:xfrm>
            <a:off x="502920" y="850392"/>
            <a:ext cx="11064240" cy="0"/>
          </a:xfrm>
          <a:prstGeom prst="line">
            <a:avLst/>
          </a:prstGeom>
          <a:noFill/>
          <a:ln w="12700">
            <a:solidFill>
              <a:srgbClr val="D7DEE8"/>
            </a:solidFill>
            <a:prstDash val="solid"/>
          </a:ln>
        </p:spPr>
      </p:sp>
      <p:sp>
        <p:nvSpPr>
          <p:cNvPr id="5" name="Text 3"/>
          <p:cNvSpPr/>
          <p:nvPr/>
        </p:nvSpPr>
        <p:spPr>
          <a:xfrm>
            <a:off x="713232" y="1234440"/>
            <a:ext cx="4846320" cy="731520"/>
          </a:xfrm>
          <a:prstGeom prst="rect">
            <a:avLst/>
          </a:prstGeom>
          <a:noFill/>
          <a:ln/>
        </p:spPr>
        <p:txBody>
          <a:bodyPr wrap="square" lIns="0" tIns="0" rIns="0" bIns="0" rtlCol="0" anchor="ctr"/>
          <a:lstStyle/>
          <a:p>
            <a:pPr marL="0" indent="0">
              <a:buNone/>
            </a:pPr>
            <a:r>
              <a:rPr lang="en-US" sz="1900" dirty="0">
                <a:solidFill>
                  <a:srgbClr val="1F2937"/>
                </a:solidFill>
              </a:rPr>
              <a:t>After ranking, the top pose is reviewed visually to check whether the ligand occupies the expected pocket and forms chemically sensible contacts.</a:t>
            </a:r>
            <a:endParaRPr lang="en-US" sz="1900" dirty="0"/>
          </a:p>
        </p:txBody>
      </p:sp>
      <p:sp>
        <p:nvSpPr>
          <p:cNvPr id="6" name="Text 4"/>
          <p:cNvSpPr/>
          <p:nvPr/>
        </p:nvSpPr>
        <p:spPr>
          <a:xfrm>
            <a:off x="749808" y="2240280"/>
            <a:ext cx="3238868" cy="320040"/>
          </a:xfrm>
          <a:prstGeom prst="rect">
            <a:avLst/>
          </a:prstGeom>
          <a:noFill/>
          <a:ln/>
        </p:spPr>
        <p:txBody>
          <a:bodyPr wrap="square" rtlCol="0" anchor="ctr"/>
          <a:lstStyle/>
          <a:p>
            <a:pPr marL="0" indent="0">
              <a:buNone/>
            </a:pPr>
            <a:r>
              <a:rPr lang="en-US" sz="2000" b="1" dirty="0">
                <a:solidFill>
                  <a:srgbClr val="14B8A6"/>
                </a:solidFill>
              </a:rPr>
              <a:t>What to inspect</a:t>
            </a:r>
            <a:endParaRPr lang="en-US" sz="2000" dirty="0"/>
          </a:p>
        </p:txBody>
      </p:sp>
      <p:sp>
        <p:nvSpPr>
          <p:cNvPr id="7" name="Text 5"/>
          <p:cNvSpPr/>
          <p:nvPr/>
        </p:nvSpPr>
        <p:spPr>
          <a:xfrm>
            <a:off x="786384" y="2560320"/>
            <a:ext cx="4480560" cy="1463040"/>
          </a:xfrm>
          <a:prstGeom prst="rect">
            <a:avLst/>
          </a:prstGeom>
          <a:noFill/>
          <a:ln/>
        </p:spPr>
        <p:txBody>
          <a:bodyPr wrap="square" lIns="127" tIns="127" rIns="127" bIns="127" rtlCol="0" anchor="ctr"/>
          <a:lstStyle/>
          <a:p>
            <a:pPr marL="0" indent="0">
              <a:buNone/>
            </a:pPr>
            <a:r>
              <a:rPr lang="en-US" sz="1850" dirty="0">
                <a:solidFill>
                  <a:srgbClr val="1F2937"/>
                </a:solidFill>
              </a:rPr>
              <a:t>• Hydrogen-bond-like contacts</a:t>
            </a:r>
            <a:endParaRPr lang="en-US" sz="1850" dirty="0"/>
          </a:p>
          <a:p>
            <a:pPr marL="0" indent="0">
              <a:buNone/>
            </a:pPr>
            <a:r>
              <a:rPr lang="en-US" sz="1850" dirty="0">
                <a:solidFill>
                  <a:srgbClr val="1F2937"/>
                </a:solidFill>
              </a:rPr>
              <a:t>• Hydrophobic packing in the pocket</a:t>
            </a:r>
            <a:endParaRPr lang="en-US" sz="1850" dirty="0"/>
          </a:p>
          <a:p>
            <a:pPr marL="0" indent="0">
              <a:buNone/>
            </a:pPr>
            <a:r>
              <a:rPr lang="en-US" sz="1850" dirty="0">
                <a:solidFill>
                  <a:srgbClr val="1F2937"/>
                </a:solidFill>
              </a:rPr>
              <a:t>• Aromatic stacking where applicable</a:t>
            </a:r>
            <a:endParaRPr lang="en-US" sz="1850" dirty="0"/>
          </a:p>
          <a:p>
            <a:pPr marL="0" indent="0">
              <a:buNone/>
            </a:pPr>
            <a:r>
              <a:rPr lang="en-US" sz="1850" dirty="0">
                <a:solidFill>
                  <a:srgbClr val="1F2937"/>
                </a:solidFill>
              </a:rPr>
              <a:t>• Unreasonable clashes or solvent-exposed poses</a:t>
            </a:r>
            <a:endParaRPr lang="en-US" sz="1850" dirty="0"/>
          </a:p>
        </p:txBody>
      </p:sp>
      <p:sp>
        <p:nvSpPr>
          <p:cNvPr id="8" name="Shape 6"/>
          <p:cNvSpPr/>
          <p:nvPr/>
        </p:nvSpPr>
        <p:spPr>
          <a:xfrm>
            <a:off x="768095" y="4343399"/>
            <a:ext cx="4791457" cy="1166643"/>
          </a:xfrm>
          <a:prstGeom prst="roundRect">
            <a:avLst/>
          </a:prstGeom>
          <a:solidFill>
            <a:srgbClr val="FFFFFF"/>
          </a:solidFill>
          <a:ln w="12700">
            <a:solidFill>
              <a:srgbClr val="D8E3F2"/>
            </a:solidFill>
            <a:prstDash val="solid"/>
          </a:ln>
        </p:spPr>
      </p:sp>
      <p:sp>
        <p:nvSpPr>
          <p:cNvPr id="9" name="Text 7"/>
          <p:cNvSpPr/>
          <p:nvPr/>
        </p:nvSpPr>
        <p:spPr>
          <a:xfrm>
            <a:off x="1024128" y="4709160"/>
            <a:ext cx="4023360" cy="393192"/>
          </a:xfrm>
          <a:prstGeom prst="rect">
            <a:avLst/>
          </a:prstGeom>
          <a:noFill/>
          <a:ln/>
        </p:spPr>
        <p:txBody>
          <a:bodyPr wrap="square" lIns="0" tIns="0" rIns="0" bIns="0" rtlCol="0" anchor="ctr"/>
          <a:lstStyle/>
          <a:p>
            <a:pPr marL="0" indent="0" algn="ctr">
              <a:buNone/>
            </a:pPr>
            <a:r>
              <a:rPr lang="en-US" sz="1650" b="1" dirty="0">
                <a:solidFill>
                  <a:srgbClr val="0B1F3A"/>
                </a:solidFill>
              </a:rPr>
              <a:t>Important viva line</a:t>
            </a:r>
            <a:endParaRPr lang="en-US" sz="1650" dirty="0"/>
          </a:p>
          <a:p>
            <a:pPr marL="0" indent="0" algn="ctr">
              <a:buNone/>
            </a:pPr>
            <a:r>
              <a:rPr lang="en-US" sz="1650" b="1" dirty="0">
                <a:solidFill>
                  <a:srgbClr val="0B1F3A"/>
                </a:solidFill>
              </a:rPr>
              <a:t>Docking score ranks candidates, but PyMOL helps judge whether the pose is structurally believable.</a:t>
            </a:r>
            <a:endParaRPr lang="en-US" sz="1650" dirty="0"/>
          </a:p>
        </p:txBody>
      </p:sp>
      <p:pic>
        <p:nvPicPr>
          <p:cNvPr id="10" name="Image 0" descr="/mnt/data/a_scientific_molecular_visualization_scene_clean.png"/>
          <p:cNvPicPr>
            <a:picLocks noChangeAspect="1"/>
          </p:cNvPicPr>
          <p:nvPr/>
        </p:nvPicPr>
        <p:blipFill>
          <a:blip r:embed="rId3"/>
          <a:stretch>
            <a:fillRect/>
          </a:stretch>
        </p:blipFill>
        <p:spPr>
          <a:xfrm>
            <a:off x="5623560" y="1973580"/>
            <a:ext cx="5669280" cy="3779520"/>
          </a:xfrm>
          <a:prstGeom prst="rect">
            <a:avLst/>
          </a:prstGeom>
        </p:spPr>
      </p:pic>
      <p:sp>
        <p:nvSpPr>
          <p:cNvPr id="11" name="Shape 8"/>
          <p:cNvSpPr/>
          <p:nvPr/>
        </p:nvSpPr>
        <p:spPr>
          <a:xfrm>
            <a:off x="502920" y="6446520"/>
            <a:ext cx="11064240" cy="0"/>
          </a:xfrm>
          <a:prstGeom prst="line">
            <a:avLst/>
          </a:prstGeom>
          <a:noFill/>
          <a:ln w="12700">
            <a:solidFill>
              <a:srgbClr val="D7DEE8"/>
            </a:solidFill>
            <a:prstDash val="solid"/>
          </a:ln>
        </p:spPr>
      </p:sp>
      <p:sp>
        <p:nvSpPr>
          <p:cNvPr id="12" name="Text 9"/>
          <p:cNvSpPr/>
          <p:nvPr/>
        </p:nvSpPr>
        <p:spPr>
          <a:xfrm>
            <a:off x="502920" y="6473952"/>
            <a:ext cx="2560320" cy="182880"/>
          </a:xfrm>
          <a:prstGeom prst="rect">
            <a:avLst/>
          </a:prstGeom>
          <a:noFill/>
          <a:ln/>
        </p:spPr>
        <p:txBody>
          <a:bodyPr wrap="square" rtlCol="0" anchor="ctr"/>
          <a:lstStyle/>
          <a:p>
            <a:pPr marL="0" indent="0">
              <a:buNone/>
            </a:pPr>
            <a:r>
              <a:rPr lang="en-US" sz="900" dirty="0">
                <a:solidFill>
                  <a:srgbClr val="667085"/>
                </a:solidFill>
              </a:rPr>
              <a:t>Major Project | Bioinformatics</a:t>
            </a:r>
            <a:endParaRPr lang="en-US" sz="900" dirty="0"/>
          </a:p>
        </p:txBody>
      </p:sp>
      <p:sp>
        <p:nvSpPr>
          <p:cNvPr id="13" name="Text 10"/>
          <p:cNvSpPr/>
          <p:nvPr/>
        </p:nvSpPr>
        <p:spPr>
          <a:xfrm>
            <a:off x="11155680" y="6455664"/>
            <a:ext cx="365760" cy="182880"/>
          </a:xfrm>
          <a:prstGeom prst="rect">
            <a:avLst/>
          </a:prstGeom>
          <a:noFill/>
          <a:ln/>
        </p:spPr>
        <p:txBody>
          <a:bodyPr wrap="square" rtlCol="0" anchor="ctr"/>
          <a:lstStyle/>
          <a:p>
            <a:pPr marL="0" indent="0" algn="r">
              <a:buNone/>
            </a:pPr>
            <a:r>
              <a:rPr lang="en-US" sz="900" dirty="0">
                <a:solidFill>
                  <a:srgbClr val="667085"/>
                </a:solidFill>
              </a:rPr>
              <a:t>10</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02920" y="146304"/>
            <a:ext cx="3200400" cy="164592"/>
          </a:xfrm>
          <a:prstGeom prst="rect">
            <a:avLst/>
          </a:prstGeom>
          <a:noFill/>
          <a:ln/>
        </p:spPr>
        <p:txBody>
          <a:bodyPr wrap="square" rtlCol="0" anchor="ctr"/>
          <a:lstStyle/>
          <a:p>
            <a:pPr marL="0" indent="0">
              <a:buNone/>
            </a:pPr>
            <a:r>
              <a:rPr lang="en-US" sz="1050" b="1" dirty="0">
                <a:solidFill>
                  <a:srgbClr val="14B8A6"/>
                </a:solidFill>
                <a:latin typeface="Aptos" pitchFamily="34" charset="0"/>
                <a:ea typeface="Aptos" pitchFamily="34" charset="-122"/>
                <a:cs typeface="Aptos" pitchFamily="34" charset="-120"/>
              </a:rPr>
              <a:t>Drug Discovery Pipeline</a:t>
            </a:r>
            <a:endParaRPr lang="en-US" sz="1050" dirty="0"/>
          </a:p>
        </p:txBody>
      </p:sp>
      <p:sp>
        <p:nvSpPr>
          <p:cNvPr id="3" name="Text 1"/>
          <p:cNvSpPr/>
          <p:nvPr/>
        </p:nvSpPr>
        <p:spPr>
          <a:xfrm>
            <a:off x="502920" y="384048"/>
            <a:ext cx="10972800" cy="347472"/>
          </a:xfrm>
          <a:prstGeom prst="rect">
            <a:avLst/>
          </a:prstGeom>
          <a:noFill/>
          <a:ln/>
        </p:spPr>
        <p:txBody>
          <a:bodyPr wrap="square" rtlCol="0" anchor="ctr"/>
          <a:lstStyle/>
          <a:p>
            <a:pPr marL="0" indent="0">
              <a:buNone/>
            </a:pPr>
            <a:r>
              <a:rPr lang="en-US" sz="2600" b="1" dirty="0">
                <a:solidFill>
                  <a:srgbClr val="0B1F3A"/>
                </a:solidFill>
                <a:latin typeface="Aptos Display" pitchFamily="34" charset="0"/>
                <a:ea typeface="Aptos Display" pitchFamily="34" charset="-122"/>
                <a:cs typeface="Aptos Display" pitchFamily="34" charset="-120"/>
              </a:rPr>
              <a:t>ADMET and lead prioritization</a:t>
            </a:r>
            <a:endParaRPr lang="en-US" sz="2600" dirty="0"/>
          </a:p>
        </p:txBody>
      </p:sp>
      <p:sp>
        <p:nvSpPr>
          <p:cNvPr id="4" name="Shape 2"/>
          <p:cNvSpPr/>
          <p:nvPr/>
        </p:nvSpPr>
        <p:spPr>
          <a:xfrm>
            <a:off x="502920" y="850392"/>
            <a:ext cx="11064240" cy="0"/>
          </a:xfrm>
          <a:prstGeom prst="line">
            <a:avLst/>
          </a:prstGeom>
          <a:noFill/>
          <a:ln w="12700">
            <a:solidFill>
              <a:srgbClr val="D7DEE8"/>
            </a:solidFill>
            <a:prstDash val="solid"/>
          </a:ln>
        </p:spPr>
      </p:sp>
      <p:pic>
        <p:nvPicPr>
          <p:cNvPr id="5" name="Image 0" descr="/mnt/data/drug_discovery_upgrade/outputs/vina_admet_plot.png"/>
          <p:cNvPicPr>
            <a:picLocks noChangeAspect="1"/>
          </p:cNvPicPr>
          <p:nvPr/>
        </p:nvPicPr>
        <p:blipFill>
          <a:blip r:embed="rId3"/>
          <a:stretch>
            <a:fillRect/>
          </a:stretch>
        </p:blipFill>
        <p:spPr>
          <a:xfrm>
            <a:off x="731520" y="1613535"/>
            <a:ext cx="5623560" cy="3905250"/>
          </a:xfrm>
          <a:prstGeom prst="rect">
            <a:avLst/>
          </a:prstGeom>
        </p:spPr>
      </p:pic>
      <p:sp>
        <p:nvSpPr>
          <p:cNvPr id="6" name="Text 3"/>
          <p:cNvSpPr/>
          <p:nvPr/>
        </p:nvSpPr>
        <p:spPr>
          <a:xfrm>
            <a:off x="6583680" y="1316736"/>
            <a:ext cx="3206706" cy="237744"/>
          </a:xfrm>
          <a:prstGeom prst="rect">
            <a:avLst/>
          </a:prstGeom>
          <a:noFill/>
          <a:ln/>
        </p:spPr>
        <p:txBody>
          <a:bodyPr wrap="square" rtlCol="0" anchor="ctr"/>
          <a:lstStyle/>
          <a:p>
            <a:pPr marL="0" indent="0">
              <a:buNone/>
            </a:pPr>
            <a:r>
              <a:rPr lang="en-US" sz="2000" b="1" dirty="0">
                <a:solidFill>
                  <a:srgbClr val="14B8A6"/>
                </a:solidFill>
              </a:rPr>
              <a:t>Why ADMET matters</a:t>
            </a:r>
            <a:endParaRPr lang="en-US" sz="2000" dirty="0"/>
          </a:p>
        </p:txBody>
      </p:sp>
      <p:sp>
        <p:nvSpPr>
          <p:cNvPr id="7" name="Text 4"/>
          <p:cNvSpPr/>
          <p:nvPr/>
        </p:nvSpPr>
        <p:spPr>
          <a:xfrm>
            <a:off x="6583680" y="1664208"/>
            <a:ext cx="4617720" cy="777240"/>
          </a:xfrm>
          <a:prstGeom prst="rect">
            <a:avLst/>
          </a:prstGeom>
          <a:noFill/>
          <a:ln/>
        </p:spPr>
        <p:txBody>
          <a:bodyPr wrap="square" lIns="0" tIns="0" rIns="0" bIns="0" rtlCol="0" anchor="ctr"/>
          <a:lstStyle/>
          <a:p>
            <a:pPr marL="0" indent="0">
              <a:buNone/>
            </a:pPr>
            <a:r>
              <a:rPr lang="en-US" sz="1850" dirty="0">
                <a:solidFill>
                  <a:srgbClr val="1F2937"/>
                </a:solidFill>
              </a:rPr>
              <a:t>Good docking alone is not enough. A useful lead should also have acceptable molecular weight, lipophilicity, and toxicity risk.</a:t>
            </a:r>
            <a:endParaRPr lang="en-US" sz="1850" dirty="0"/>
          </a:p>
        </p:txBody>
      </p:sp>
      <p:sp>
        <p:nvSpPr>
          <p:cNvPr id="8" name="Text 5"/>
          <p:cNvSpPr/>
          <p:nvPr/>
        </p:nvSpPr>
        <p:spPr>
          <a:xfrm>
            <a:off x="6601968" y="2697480"/>
            <a:ext cx="4572000" cy="1417320"/>
          </a:xfrm>
          <a:prstGeom prst="rect">
            <a:avLst/>
          </a:prstGeom>
          <a:noFill/>
          <a:ln/>
        </p:spPr>
        <p:txBody>
          <a:bodyPr wrap="square" lIns="254" tIns="254" rIns="254" bIns="254" rtlCol="0" anchor="ctr"/>
          <a:lstStyle/>
          <a:p>
            <a:pPr marL="177800" indent="-177800">
              <a:buSzPct val="100000"/>
              <a:buChar char="•"/>
            </a:pPr>
            <a:r>
              <a:rPr lang="en-US" sz="1800" dirty="0">
                <a:solidFill>
                  <a:srgbClr val="1F2937"/>
                </a:solidFill>
              </a:rPr>
              <a:t>Lipinski-like filters used for first-pass drug-likeness</a:t>
            </a:r>
            <a:endParaRPr lang="en-US" sz="1800" dirty="0"/>
          </a:p>
          <a:p>
            <a:pPr marL="177800" indent="-177800">
              <a:buSzPct val="100000"/>
              <a:buChar char="•"/>
            </a:pPr>
            <a:r>
              <a:rPr lang="en-US" sz="1800" dirty="0">
                <a:solidFill>
                  <a:srgbClr val="1F2937"/>
                </a:solidFill>
              </a:rPr>
              <a:t>Predicted toxicity kept as a prioritization penalty</a:t>
            </a:r>
            <a:endParaRPr lang="en-US" sz="1800" dirty="0"/>
          </a:p>
          <a:p>
            <a:pPr marL="177800" indent="-177800">
              <a:buSzPct val="100000"/>
              <a:buChar char="•"/>
            </a:pPr>
            <a:r>
              <a:rPr lang="en-US" sz="1800" dirty="0">
                <a:solidFill>
                  <a:srgbClr val="1F2937"/>
                </a:solidFill>
              </a:rPr>
              <a:t>Final score combines docking evidence with property filters</a:t>
            </a:r>
            <a:endParaRPr lang="en-US" sz="1800" dirty="0"/>
          </a:p>
        </p:txBody>
      </p:sp>
      <p:sp>
        <p:nvSpPr>
          <p:cNvPr id="9" name="Shape 6"/>
          <p:cNvSpPr/>
          <p:nvPr/>
        </p:nvSpPr>
        <p:spPr>
          <a:xfrm>
            <a:off x="6428232" y="4416553"/>
            <a:ext cx="4919472" cy="1078991"/>
          </a:xfrm>
          <a:prstGeom prst="roundRect">
            <a:avLst/>
          </a:prstGeom>
          <a:solidFill>
            <a:srgbClr val="F8FAFD"/>
          </a:solidFill>
          <a:ln w="12700">
            <a:solidFill>
              <a:srgbClr val="D8E3F2"/>
            </a:solidFill>
            <a:prstDash val="solid"/>
          </a:ln>
        </p:spPr>
      </p:sp>
      <p:sp>
        <p:nvSpPr>
          <p:cNvPr id="10" name="Text 7"/>
          <p:cNvSpPr/>
          <p:nvPr/>
        </p:nvSpPr>
        <p:spPr>
          <a:xfrm>
            <a:off x="6858000" y="4690872"/>
            <a:ext cx="4069080" cy="457200"/>
          </a:xfrm>
          <a:prstGeom prst="rect">
            <a:avLst/>
          </a:prstGeom>
          <a:noFill/>
          <a:ln/>
        </p:spPr>
        <p:txBody>
          <a:bodyPr wrap="square" lIns="0" tIns="0" rIns="0" bIns="0" rtlCol="0" anchor="ctr"/>
          <a:lstStyle/>
          <a:p>
            <a:pPr marL="0" indent="0" algn="ctr">
              <a:buNone/>
            </a:pPr>
            <a:r>
              <a:rPr lang="en-US" sz="1650" b="1" dirty="0">
                <a:solidFill>
                  <a:srgbClr val="0B1F3A"/>
                </a:solidFill>
              </a:rPr>
              <a:t>Outcome</a:t>
            </a:r>
            <a:endParaRPr lang="en-US" sz="1650" dirty="0"/>
          </a:p>
          <a:p>
            <a:pPr marL="0" indent="0" algn="ctr">
              <a:buNone/>
            </a:pPr>
            <a:r>
              <a:rPr lang="en-US" sz="1650" b="1" dirty="0">
                <a:solidFill>
                  <a:srgbClr val="0B1F3A"/>
                </a:solidFill>
              </a:rPr>
              <a:t>Osimertinib, Afatinib, and Compound_B remain strong leads after combining affinity and property checks.</a:t>
            </a:r>
            <a:endParaRPr lang="en-US" sz="1650" dirty="0"/>
          </a:p>
        </p:txBody>
      </p:sp>
      <p:sp>
        <p:nvSpPr>
          <p:cNvPr id="11" name="Shape 8"/>
          <p:cNvSpPr/>
          <p:nvPr/>
        </p:nvSpPr>
        <p:spPr>
          <a:xfrm>
            <a:off x="502920" y="6446520"/>
            <a:ext cx="11064240" cy="0"/>
          </a:xfrm>
          <a:prstGeom prst="line">
            <a:avLst/>
          </a:prstGeom>
          <a:noFill/>
          <a:ln w="12700">
            <a:solidFill>
              <a:srgbClr val="D7DEE8"/>
            </a:solidFill>
            <a:prstDash val="solid"/>
          </a:ln>
        </p:spPr>
      </p:sp>
      <p:sp>
        <p:nvSpPr>
          <p:cNvPr id="12" name="Text 9"/>
          <p:cNvSpPr/>
          <p:nvPr/>
        </p:nvSpPr>
        <p:spPr>
          <a:xfrm>
            <a:off x="502920" y="6473952"/>
            <a:ext cx="2560320" cy="182880"/>
          </a:xfrm>
          <a:prstGeom prst="rect">
            <a:avLst/>
          </a:prstGeom>
          <a:noFill/>
          <a:ln/>
        </p:spPr>
        <p:txBody>
          <a:bodyPr wrap="square" rtlCol="0" anchor="ctr"/>
          <a:lstStyle/>
          <a:p>
            <a:pPr marL="0" indent="0">
              <a:buNone/>
            </a:pPr>
            <a:r>
              <a:rPr lang="en-US" sz="900" dirty="0">
                <a:solidFill>
                  <a:srgbClr val="667085"/>
                </a:solidFill>
              </a:rPr>
              <a:t>Major Project | Bioinformatics</a:t>
            </a:r>
            <a:endParaRPr lang="en-US" sz="900" dirty="0"/>
          </a:p>
        </p:txBody>
      </p:sp>
      <p:sp>
        <p:nvSpPr>
          <p:cNvPr id="13" name="Text 10"/>
          <p:cNvSpPr/>
          <p:nvPr/>
        </p:nvSpPr>
        <p:spPr>
          <a:xfrm>
            <a:off x="11155680" y="6455664"/>
            <a:ext cx="365760" cy="182880"/>
          </a:xfrm>
          <a:prstGeom prst="rect">
            <a:avLst/>
          </a:prstGeom>
          <a:noFill/>
          <a:ln/>
        </p:spPr>
        <p:txBody>
          <a:bodyPr wrap="square" rtlCol="0" anchor="ctr"/>
          <a:lstStyle/>
          <a:p>
            <a:pPr marL="0" indent="0" algn="r">
              <a:buNone/>
            </a:pPr>
            <a:r>
              <a:rPr lang="en-US" sz="900" dirty="0">
                <a:solidFill>
                  <a:srgbClr val="667085"/>
                </a:solidFill>
              </a:rPr>
              <a:t>11</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6F8FB"/>
        </a:solidFill>
        <a:effectLst/>
      </p:bgPr>
    </p:bg>
    <p:spTree>
      <p:nvGrpSpPr>
        <p:cNvPr id="1" name=""/>
        <p:cNvGrpSpPr/>
        <p:nvPr/>
      </p:nvGrpSpPr>
      <p:grpSpPr>
        <a:xfrm>
          <a:off x="0" y="0"/>
          <a:ext cx="0" cy="0"/>
          <a:chOff x="0" y="0"/>
          <a:chExt cx="0" cy="0"/>
        </a:xfrm>
      </p:grpSpPr>
      <p:sp>
        <p:nvSpPr>
          <p:cNvPr id="2" name="Text 0"/>
          <p:cNvSpPr/>
          <p:nvPr/>
        </p:nvSpPr>
        <p:spPr>
          <a:xfrm>
            <a:off x="502920" y="146304"/>
            <a:ext cx="3200400" cy="164592"/>
          </a:xfrm>
          <a:prstGeom prst="rect">
            <a:avLst/>
          </a:prstGeom>
          <a:noFill/>
          <a:ln/>
        </p:spPr>
        <p:txBody>
          <a:bodyPr wrap="square" rtlCol="0" anchor="ctr"/>
          <a:lstStyle/>
          <a:p>
            <a:pPr marL="0" indent="0">
              <a:buNone/>
            </a:pPr>
            <a:r>
              <a:rPr lang="en-US" sz="1050" b="1" dirty="0">
                <a:solidFill>
                  <a:srgbClr val="14B8A6"/>
                </a:solidFill>
                <a:latin typeface="Aptos" pitchFamily="34" charset="0"/>
                <a:ea typeface="Aptos" pitchFamily="34" charset="-122"/>
                <a:cs typeface="Aptos" pitchFamily="34" charset="-120"/>
              </a:rPr>
              <a:t>Drug Discovery Pipeline</a:t>
            </a:r>
            <a:endParaRPr lang="en-US" sz="1050" dirty="0"/>
          </a:p>
        </p:txBody>
      </p:sp>
      <p:sp>
        <p:nvSpPr>
          <p:cNvPr id="3" name="Text 1"/>
          <p:cNvSpPr/>
          <p:nvPr/>
        </p:nvSpPr>
        <p:spPr>
          <a:xfrm>
            <a:off x="502920" y="384048"/>
            <a:ext cx="10972800" cy="347472"/>
          </a:xfrm>
          <a:prstGeom prst="rect">
            <a:avLst/>
          </a:prstGeom>
          <a:noFill/>
          <a:ln/>
        </p:spPr>
        <p:txBody>
          <a:bodyPr wrap="square" rtlCol="0" anchor="ctr"/>
          <a:lstStyle/>
          <a:p>
            <a:pPr marL="0" indent="0">
              <a:buNone/>
            </a:pPr>
            <a:r>
              <a:rPr lang="en-US" sz="2600" b="1" dirty="0">
                <a:solidFill>
                  <a:srgbClr val="0B1F3A"/>
                </a:solidFill>
                <a:latin typeface="Aptos Display" pitchFamily="34" charset="0"/>
                <a:ea typeface="Aptos Display" pitchFamily="34" charset="-122"/>
                <a:cs typeface="Aptos Display" pitchFamily="34" charset="-120"/>
              </a:rPr>
              <a:t>Final Python pipeline architecture</a:t>
            </a:r>
            <a:endParaRPr lang="en-US" sz="2600" dirty="0"/>
          </a:p>
        </p:txBody>
      </p:sp>
      <p:sp>
        <p:nvSpPr>
          <p:cNvPr id="4" name="Shape 2"/>
          <p:cNvSpPr/>
          <p:nvPr/>
        </p:nvSpPr>
        <p:spPr>
          <a:xfrm>
            <a:off x="502920" y="850392"/>
            <a:ext cx="11064240" cy="0"/>
          </a:xfrm>
          <a:prstGeom prst="line">
            <a:avLst/>
          </a:prstGeom>
          <a:noFill/>
          <a:ln w="12700">
            <a:solidFill>
              <a:srgbClr val="D7DEE8"/>
            </a:solidFill>
            <a:prstDash val="solid"/>
          </a:ln>
        </p:spPr>
      </p:sp>
      <p:sp>
        <p:nvSpPr>
          <p:cNvPr id="5" name="Shape 3"/>
          <p:cNvSpPr/>
          <p:nvPr/>
        </p:nvSpPr>
        <p:spPr>
          <a:xfrm>
            <a:off x="2788920" y="2468880"/>
            <a:ext cx="411480" cy="0"/>
          </a:xfrm>
          <a:prstGeom prst="line">
            <a:avLst/>
          </a:prstGeom>
          <a:noFill/>
          <a:ln w="12700">
            <a:solidFill>
              <a:srgbClr val="B7CAE7"/>
            </a:solidFill>
            <a:prstDash val="solid"/>
            <a:headEnd type="none"/>
            <a:tailEnd type="triangle"/>
          </a:ln>
        </p:spPr>
      </p:sp>
      <p:sp>
        <p:nvSpPr>
          <p:cNvPr id="6" name="Shape 4"/>
          <p:cNvSpPr/>
          <p:nvPr/>
        </p:nvSpPr>
        <p:spPr>
          <a:xfrm>
            <a:off x="2788920" y="4160520"/>
            <a:ext cx="411480" cy="0"/>
          </a:xfrm>
          <a:prstGeom prst="line">
            <a:avLst/>
          </a:prstGeom>
          <a:noFill/>
          <a:ln w="12700">
            <a:solidFill>
              <a:srgbClr val="B7CAE7"/>
            </a:solidFill>
            <a:prstDash val="solid"/>
            <a:headEnd type="none"/>
            <a:tailEnd type="triangle"/>
          </a:ln>
        </p:spPr>
      </p:sp>
      <p:sp>
        <p:nvSpPr>
          <p:cNvPr id="7" name="Shape 5"/>
          <p:cNvSpPr/>
          <p:nvPr/>
        </p:nvSpPr>
        <p:spPr>
          <a:xfrm>
            <a:off x="5577840" y="2468880"/>
            <a:ext cx="457200" cy="868680"/>
          </a:xfrm>
          <a:prstGeom prst="line">
            <a:avLst/>
          </a:prstGeom>
          <a:noFill/>
          <a:ln w="12700">
            <a:solidFill>
              <a:srgbClr val="B7CAE7"/>
            </a:solidFill>
            <a:prstDash val="solid"/>
            <a:headEnd type="none"/>
            <a:tailEnd type="triangle"/>
          </a:ln>
        </p:spPr>
      </p:sp>
      <p:sp>
        <p:nvSpPr>
          <p:cNvPr id="8" name="Shape 6"/>
          <p:cNvSpPr/>
          <p:nvPr/>
        </p:nvSpPr>
        <p:spPr>
          <a:xfrm>
            <a:off x="5577840" y="4160520"/>
            <a:ext cx="457200" cy="0"/>
          </a:xfrm>
          <a:prstGeom prst="line">
            <a:avLst/>
          </a:prstGeom>
          <a:noFill/>
          <a:ln w="12700">
            <a:solidFill>
              <a:srgbClr val="B7CAE7"/>
            </a:solidFill>
            <a:prstDash val="solid"/>
            <a:headEnd type="none"/>
            <a:tailEnd type="triangle"/>
          </a:ln>
        </p:spPr>
      </p:sp>
      <p:sp>
        <p:nvSpPr>
          <p:cNvPr id="9" name="Shape 7"/>
          <p:cNvSpPr/>
          <p:nvPr/>
        </p:nvSpPr>
        <p:spPr>
          <a:xfrm>
            <a:off x="8503920" y="3337560"/>
            <a:ext cx="457200" cy="0"/>
          </a:xfrm>
          <a:prstGeom prst="line">
            <a:avLst/>
          </a:prstGeom>
          <a:noFill/>
          <a:ln w="12700">
            <a:solidFill>
              <a:srgbClr val="B7CAE7"/>
            </a:solidFill>
            <a:prstDash val="solid"/>
            <a:headEnd type="none"/>
            <a:tailEnd type="triangle"/>
          </a:ln>
        </p:spPr>
      </p:sp>
      <p:sp>
        <p:nvSpPr>
          <p:cNvPr id="10" name="Shape 8"/>
          <p:cNvSpPr/>
          <p:nvPr/>
        </p:nvSpPr>
        <p:spPr>
          <a:xfrm>
            <a:off x="8503920" y="3337560"/>
            <a:ext cx="457200" cy="868680"/>
          </a:xfrm>
          <a:prstGeom prst="line">
            <a:avLst/>
          </a:prstGeom>
          <a:noFill/>
          <a:ln w="12700">
            <a:solidFill>
              <a:srgbClr val="B7CAE7"/>
            </a:solidFill>
            <a:prstDash val="solid"/>
            <a:headEnd type="none"/>
            <a:tailEnd type="triangle"/>
          </a:ln>
        </p:spPr>
      </p:sp>
      <p:sp>
        <p:nvSpPr>
          <p:cNvPr id="11" name="Shape 9"/>
          <p:cNvSpPr/>
          <p:nvPr/>
        </p:nvSpPr>
        <p:spPr>
          <a:xfrm>
            <a:off x="777240" y="1874525"/>
            <a:ext cx="2057400" cy="1097275"/>
          </a:xfrm>
          <a:prstGeom prst="roundRect">
            <a:avLst/>
          </a:prstGeom>
          <a:solidFill>
            <a:srgbClr val="FFFFFF"/>
          </a:solidFill>
          <a:ln w="12700">
            <a:solidFill>
              <a:srgbClr val="D8E3F2"/>
            </a:solidFill>
            <a:prstDash val="solid"/>
          </a:ln>
          <a:effectLst>
            <a:outerShdw blurRad="12700" dist="12700" dir="2700000" algn="bl" rotWithShape="0">
              <a:srgbClr val="000000">
                <a:alpha val="10000"/>
              </a:srgbClr>
            </a:outerShdw>
          </a:effectLst>
        </p:spPr>
      </p:sp>
      <p:sp>
        <p:nvSpPr>
          <p:cNvPr id="12" name="Text 10"/>
          <p:cNvSpPr/>
          <p:nvPr/>
        </p:nvSpPr>
        <p:spPr>
          <a:xfrm>
            <a:off x="731520" y="1874525"/>
            <a:ext cx="2103120" cy="1261863"/>
          </a:xfrm>
          <a:prstGeom prst="rect">
            <a:avLst/>
          </a:prstGeom>
          <a:noFill/>
          <a:ln/>
        </p:spPr>
        <p:txBody>
          <a:bodyPr wrap="square" lIns="0" tIns="0" rIns="0" bIns="0" rtlCol="0" anchor="ctr"/>
          <a:lstStyle/>
          <a:p>
            <a:pPr marL="0" indent="0" algn="ctr">
              <a:buNone/>
            </a:pPr>
            <a:r>
              <a:rPr lang="en-US" sz="1600" b="1" dirty="0">
                <a:solidFill>
                  <a:srgbClr val="0B1F3A"/>
                </a:solidFill>
              </a:rPr>
              <a:t>Inputs</a:t>
            </a:r>
            <a:endParaRPr lang="en-US" sz="1600" dirty="0"/>
          </a:p>
          <a:p>
            <a:pPr marL="0" indent="0" algn="ctr">
              <a:buNone/>
            </a:pPr>
            <a:r>
              <a:rPr lang="en-US" sz="1600" b="1" dirty="0">
                <a:solidFill>
                  <a:srgbClr val="0B1F3A"/>
                </a:solidFill>
              </a:rPr>
              <a:t>compound CSV</a:t>
            </a:r>
            <a:endParaRPr lang="en-US" sz="1600" dirty="0"/>
          </a:p>
          <a:p>
            <a:pPr marL="0" indent="0" algn="ctr">
              <a:buNone/>
            </a:pPr>
            <a:r>
              <a:rPr lang="en-US" sz="1600" b="1" dirty="0">
                <a:solidFill>
                  <a:srgbClr val="0B1F3A"/>
                </a:solidFill>
              </a:rPr>
              <a:t>Vina logs</a:t>
            </a:r>
            <a:endParaRPr lang="en-US" sz="1600" dirty="0"/>
          </a:p>
          <a:p>
            <a:pPr marL="0" indent="0" algn="ctr">
              <a:buNone/>
            </a:pPr>
            <a:r>
              <a:rPr lang="en-US" sz="1600" b="1" dirty="0">
                <a:solidFill>
                  <a:srgbClr val="0B1F3A"/>
                </a:solidFill>
              </a:rPr>
              <a:t>receptor / pose files</a:t>
            </a:r>
            <a:endParaRPr lang="en-US" sz="1600" dirty="0"/>
          </a:p>
        </p:txBody>
      </p:sp>
      <p:sp>
        <p:nvSpPr>
          <p:cNvPr id="13" name="Shape 11"/>
          <p:cNvSpPr/>
          <p:nvPr/>
        </p:nvSpPr>
        <p:spPr>
          <a:xfrm>
            <a:off x="3200400" y="1965960"/>
            <a:ext cx="2377440" cy="1005840"/>
          </a:xfrm>
          <a:prstGeom prst="roundRect">
            <a:avLst/>
          </a:prstGeom>
          <a:solidFill>
            <a:srgbClr val="DDF7F3"/>
          </a:solidFill>
          <a:ln w="12700">
            <a:solidFill>
              <a:srgbClr val="D8E3F2"/>
            </a:solidFill>
            <a:prstDash val="solid"/>
          </a:ln>
          <a:effectLst>
            <a:outerShdw blurRad="12700" dist="12700" dir="2700000" algn="bl" rotWithShape="0">
              <a:srgbClr val="000000">
                <a:alpha val="10000"/>
              </a:srgbClr>
            </a:outerShdw>
          </a:effectLst>
        </p:spPr>
      </p:sp>
      <p:sp>
        <p:nvSpPr>
          <p:cNvPr id="14" name="Text 12"/>
          <p:cNvSpPr/>
          <p:nvPr/>
        </p:nvSpPr>
        <p:spPr>
          <a:xfrm>
            <a:off x="3291840" y="2130552"/>
            <a:ext cx="2194560" cy="777240"/>
          </a:xfrm>
          <a:prstGeom prst="rect">
            <a:avLst/>
          </a:prstGeom>
          <a:noFill/>
          <a:ln/>
        </p:spPr>
        <p:txBody>
          <a:bodyPr wrap="square" lIns="0" tIns="0" rIns="0" bIns="0" rtlCol="0" anchor="ctr"/>
          <a:lstStyle/>
          <a:p>
            <a:pPr marL="0" indent="0" algn="ctr">
              <a:buNone/>
            </a:pPr>
            <a:r>
              <a:rPr lang="en-US" sz="1800" b="1" dirty="0">
                <a:solidFill>
                  <a:srgbClr val="0B1F3A"/>
                </a:solidFill>
              </a:rPr>
              <a:t>demo-screen</a:t>
            </a:r>
            <a:endParaRPr lang="en-US" sz="1800" dirty="0"/>
          </a:p>
          <a:p>
            <a:pPr marL="0" indent="0" algn="ctr">
              <a:buNone/>
            </a:pPr>
            <a:r>
              <a:rPr lang="en-US" sz="1800" b="1" dirty="0">
                <a:solidFill>
                  <a:srgbClr val="0B1F3A"/>
                </a:solidFill>
              </a:rPr>
              <a:t>rank + ADMET</a:t>
            </a:r>
            <a:endParaRPr lang="en-US" sz="1800" dirty="0"/>
          </a:p>
        </p:txBody>
      </p:sp>
      <p:sp>
        <p:nvSpPr>
          <p:cNvPr id="15" name="Shape 13"/>
          <p:cNvSpPr/>
          <p:nvPr/>
        </p:nvSpPr>
        <p:spPr>
          <a:xfrm>
            <a:off x="3200400" y="3703320"/>
            <a:ext cx="2377440" cy="1005840"/>
          </a:xfrm>
          <a:prstGeom prst="roundRect">
            <a:avLst/>
          </a:prstGeom>
          <a:solidFill>
            <a:srgbClr val="EAF2FF"/>
          </a:solidFill>
          <a:ln w="12700">
            <a:solidFill>
              <a:srgbClr val="D8E3F2"/>
            </a:solidFill>
            <a:prstDash val="solid"/>
          </a:ln>
          <a:effectLst>
            <a:outerShdw blurRad="12700" dist="12700" dir="2700000" algn="bl" rotWithShape="0">
              <a:srgbClr val="000000">
                <a:alpha val="10000"/>
              </a:srgbClr>
            </a:outerShdw>
          </a:effectLst>
        </p:spPr>
      </p:sp>
      <p:sp>
        <p:nvSpPr>
          <p:cNvPr id="16" name="Text 14"/>
          <p:cNvSpPr/>
          <p:nvPr/>
        </p:nvSpPr>
        <p:spPr>
          <a:xfrm>
            <a:off x="3291840" y="3867912"/>
            <a:ext cx="2194560" cy="777240"/>
          </a:xfrm>
          <a:prstGeom prst="rect">
            <a:avLst/>
          </a:prstGeom>
          <a:noFill/>
          <a:ln/>
        </p:spPr>
        <p:txBody>
          <a:bodyPr wrap="square" lIns="0" tIns="0" rIns="0" bIns="0" rtlCol="0" anchor="ctr"/>
          <a:lstStyle/>
          <a:p>
            <a:pPr marL="0" indent="0" algn="ctr">
              <a:buNone/>
            </a:pPr>
            <a:r>
              <a:rPr lang="en-US" sz="1800" b="1" dirty="0">
                <a:solidFill>
                  <a:srgbClr val="0B1F3A"/>
                </a:solidFill>
              </a:rPr>
              <a:t>parse-vina</a:t>
            </a:r>
            <a:endParaRPr lang="en-US" sz="1800" dirty="0"/>
          </a:p>
          <a:p>
            <a:pPr marL="0" indent="0" algn="ctr">
              <a:buNone/>
            </a:pPr>
            <a:r>
              <a:rPr lang="en-US" sz="1800" b="1" dirty="0">
                <a:solidFill>
                  <a:srgbClr val="0B1F3A"/>
                </a:solidFill>
              </a:rPr>
              <a:t>real log parser</a:t>
            </a:r>
            <a:endParaRPr lang="en-US" sz="1800" dirty="0"/>
          </a:p>
        </p:txBody>
      </p:sp>
      <p:sp>
        <p:nvSpPr>
          <p:cNvPr id="17" name="Shape 15"/>
          <p:cNvSpPr/>
          <p:nvPr/>
        </p:nvSpPr>
        <p:spPr>
          <a:xfrm>
            <a:off x="6035040" y="2834640"/>
            <a:ext cx="2468880" cy="1005840"/>
          </a:xfrm>
          <a:prstGeom prst="roundRect">
            <a:avLst/>
          </a:prstGeom>
          <a:solidFill>
            <a:srgbClr val="FFFFFF"/>
          </a:solidFill>
          <a:ln w="12700">
            <a:solidFill>
              <a:srgbClr val="D8E3F2"/>
            </a:solidFill>
            <a:prstDash val="solid"/>
          </a:ln>
          <a:effectLst>
            <a:outerShdw blurRad="12700" dist="12700" dir="2700000" algn="bl" rotWithShape="0">
              <a:srgbClr val="000000">
                <a:alpha val="10000"/>
              </a:srgbClr>
            </a:outerShdw>
          </a:effectLst>
        </p:spPr>
      </p:sp>
      <p:sp>
        <p:nvSpPr>
          <p:cNvPr id="18" name="Text 16"/>
          <p:cNvSpPr/>
          <p:nvPr/>
        </p:nvSpPr>
        <p:spPr>
          <a:xfrm>
            <a:off x="6126480" y="2999232"/>
            <a:ext cx="2286000" cy="777240"/>
          </a:xfrm>
          <a:prstGeom prst="rect">
            <a:avLst/>
          </a:prstGeom>
          <a:noFill/>
          <a:ln/>
        </p:spPr>
        <p:txBody>
          <a:bodyPr wrap="square" lIns="0" tIns="0" rIns="0" bIns="0" rtlCol="0" anchor="ctr"/>
          <a:lstStyle/>
          <a:p>
            <a:pPr marL="0" indent="0" algn="ctr">
              <a:buNone/>
            </a:pPr>
            <a:r>
              <a:rPr lang="en-US" sz="1800" b="1" dirty="0">
                <a:solidFill>
                  <a:srgbClr val="0B1F3A"/>
                </a:solidFill>
              </a:rPr>
              <a:t>prioritize hits</a:t>
            </a:r>
            <a:endParaRPr lang="en-US" sz="1800" dirty="0"/>
          </a:p>
          <a:p>
            <a:pPr marL="0" indent="0" algn="ctr">
              <a:buNone/>
            </a:pPr>
            <a:r>
              <a:rPr lang="en-US" sz="1800" b="1" dirty="0">
                <a:solidFill>
                  <a:srgbClr val="0B1F3A"/>
                </a:solidFill>
              </a:rPr>
              <a:t>plots + summary</a:t>
            </a:r>
            <a:endParaRPr lang="en-US" sz="1800" dirty="0"/>
          </a:p>
        </p:txBody>
      </p:sp>
      <p:sp>
        <p:nvSpPr>
          <p:cNvPr id="19" name="Shape 17"/>
          <p:cNvSpPr/>
          <p:nvPr/>
        </p:nvSpPr>
        <p:spPr>
          <a:xfrm>
            <a:off x="8961120" y="1965960"/>
            <a:ext cx="2331720" cy="1005840"/>
          </a:xfrm>
          <a:prstGeom prst="roundRect">
            <a:avLst/>
          </a:prstGeom>
          <a:solidFill>
            <a:srgbClr val="FFFFFF"/>
          </a:solidFill>
          <a:ln w="12700">
            <a:solidFill>
              <a:srgbClr val="D8E3F2"/>
            </a:solidFill>
            <a:prstDash val="solid"/>
          </a:ln>
          <a:effectLst>
            <a:outerShdw blurRad="12700" dist="12700" dir="2700000" algn="bl" rotWithShape="0">
              <a:srgbClr val="000000">
                <a:alpha val="10000"/>
              </a:srgbClr>
            </a:outerShdw>
          </a:effectLst>
        </p:spPr>
      </p:sp>
      <p:sp>
        <p:nvSpPr>
          <p:cNvPr id="20" name="Text 18"/>
          <p:cNvSpPr/>
          <p:nvPr/>
        </p:nvSpPr>
        <p:spPr>
          <a:xfrm>
            <a:off x="9052560" y="2130552"/>
            <a:ext cx="2148840" cy="777240"/>
          </a:xfrm>
          <a:prstGeom prst="rect">
            <a:avLst/>
          </a:prstGeom>
          <a:noFill/>
          <a:ln/>
        </p:spPr>
        <p:txBody>
          <a:bodyPr wrap="square" lIns="0" tIns="0" rIns="0" bIns="0" rtlCol="0" anchor="ctr"/>
          <a:lstStyle/>
          <a:p>
            <a:pPr marL="0" indent="0" algn="ctr">
              <a:buNone/>
            </a:pPr>
            <a:r>
              <a:rPr lang="en-US" sz="1800" b="1" dirty="0">
                <a:solidFill>
                  <a:srgbClr val="0B1F3A"/>
                </a:solidFill>
              </a:rPr>
              <a:t>CSV / JSON</a:t>
            </a:r>
            <a:endParaRPr lang="en-US" sz="1800" dirty="0"/>
          </a:p>
          <a:p>
            <a:pPr marL="0" indent="0" algn="ctr">
              <a:buNone/>
            </a:pPr>
            <a:r>
              <a:rPr lang="en-US" sz="1800" b="1" dirty="0">
                <a:solidFill>
                  <a:srgbClr val="0B1F3A"/>
                </a:solidFill>
              </a:rPr>
              <a:t>report figures</a:t>
            </a:r>
            <a:endParaRPr lang="en-US" sz="1800" dirty="0"/>
          </a:p>
        </p:txBody>
      </p:sp>
      <p:sp>
        <p:nvSpPr>
          <p:cNvPr id="21" name="Shape 19"/>
          <p:cNvSpPr/>
          <p:nvPr/>
        </p:nvSpPr>
        <p:spPr>
          <a:xfrm>
            <a:off x="8961120" y="3703320"/>
            <a:ext cx="2331720" cy="1005840"/>
          </a:xfrm>
          <a:prstGeom prst="roundRect">
            <a:avLst/>
          </a:prstGeom>
          <a:solidFill>
            <a:srgbClr val="FFFFFF"/>
          </a:solidFill>
          <a:ln w="12700">
            <a:solidFill>
              <a:srgbClr val="D8E3F2"/>
            </a:solidFill>
            <a:prstDash val="solid"/>
          </a:ln>
          <a:effectLst>
            <a:outerShdw blurRad="12700" dist="12700" dir="2700000" algn="bl" rotWithShape="0">
              <a:srgbClr val="000000">
                <a:alpha val="10000"/>
              </a:srgbClr>
            </a:outerShdw>
          </a:effectLst>
        </p:spPr>
      </p:sp>
      <p:sp>
        <p:nvSpPr>
          <p:cNvPr id="22" name="Text 20"/>
          <p:cNvSpPr/>
          <p:nvPr/>
        </p:nvSpPr>
        <p:spPr>
          <a:xfrm>
            <a:off x="9052560" y="3867912"/>
            <a:ext cx="2148840" cy="777240"/>
          </a:xfrm>
          <a:prstGeom prst="rect">
            <a:avLst/>
          </a:prstGeom>
          <a:noFill/>
          <a:ln/>
        </p:spPr>
        <p:txBody>
          <a:bodyPr wrap="square" lIns="0" tIns="0" rIns="0" bIns="0" rtlCol="0" anchor="ctr"/>
          <a:lstStyle/>
          <a:p>
            <a:pPr marL="0" indent="0" algn="ctr">
              <a:buNone/>
            </a:pPr>
            <a:r>
              <a:rPr lang="en-US" sz="1800" b="1" dirty="0">
                <a:solidFill>
                  <a:srgbClr val="0B1F3A"/>
                </a:solidFill>
              </a:rPr>
              <a:t>make-pymol-script</a:t>
            </a:r>
            <a:endParaRPr lang="en-US" sz="1800" dirty="0"/>
          </a:p>
          <a:p>
            <a:pPr marL="0" indent="0" algn="ctr">
              <a:buNone/>
            </a:pPr>
            <a:r>
              <a:rPr lang="en-US" sz="1800" b="1" dirty="0">
                <a:solidFill>
                  <a:srgbClr val="0B1F3A"/>
                </a:solidFill>
              </a:rPr>
              <a:t>render figure</a:t>
            </a:r>
            <a:endParaRPr lang="en-US" sz="1800" dirty="0"/>
          </a:p>
        </p:txBody>
      </p:sp>
      <p:sp>
        <p:nvSpPr>
          <p:cNvPr id="23" name="Text 21"/>
          <p:cNvSpPr/>
          <p:nvPr/>
        </p:nvSpPr>
        <p:spPr>
          <a:xfrm>
            <a:off x="1005840" y="5577840"/>
            <a:ext cx="10058400" cy="411480"/>
          </a:xfrm>
          <a:prstGeom prst="rect">
            <a:avLst/>
          </a:prstGeom>
          <a:noFill/>
          <a:ln/>
        </p:spPr>
        <p:txBody>
          <a:bodyPr wrap="square" rtlCol="0" anchor="ctr"/>
          <a:lstStyle/>
          <a:p>
            <a:pPr marL="0" indent="0" algn="ctr">
              <a:buNone/>
            </a:pPr>
            <a:r>
              <a:rPr lang="en-US" sz="1900" b="1" dirty="0">
                <a:solidFill>
                  <a:srgbClr val="1F2937"/>
                </a:solidFill>
              </a:rPr>
              <a:t>Why this matters in viva: it proves the project is modular, reproducible, and ready for extension to larger screens or better ADMET services.</a:t>
            </a:r>
            <a:endParaRPr lang="en-US" sz="1900" dirty="0"/>
          </a:p>
        </p:txBody>
      </p:sp>
      <p:sp>
        <p:nvSpPr>
          <p:cNvPr id="24" name="Shape 22"/>
          <p:cNvSpPr/>
          <p:nvPr/>
        </p:nvSpPr>
        <p:spPr>
          <a:xfrm>
            <a:off x="502920" y="6446520"/>
            <a:ext cx="11064240" cy="0"/>
          </a:xfrm>
          <a:prstGeom prst="line">
            <a:avLst/>
          </a:prstGeom>
          <a:noFill/>
          <a:ln w="12700">
            <a:solidFill>
              <a:srgbClr val="D7DEE8"/>
            </a:solidFill>
            <a:prstDash val="solid"/>
          </a:ln>
        </p:spPr>
      </p:sp>
      <p:sp>
        <p:nvSpPr>
          <p:cNvPr id="25" name="Text 23"/>
          <p:cNvSpPr/>
          <p:nvPr/>
        </p:nvSpPr>
        <p:spPr>
          <a:xfrm>
            <a:off x="502920" y="6473952"/>
            <a:ext cx="2560320" cy="182880"/>
          </a:xfrm>
          <a:prstGeom prst="rect">
            <a:avLst/>
          </a:prstGeom>
          <a:noFill/>
          <a:ln/>
        </p:spPr>
        <p:txBody>
          <a:bodyPr wrap="square" rtlCol="0" anchor="ctr"/>
          <a:lstStyle/>
          <a:p>
            <a:pPr marL="0" indent="0">
              <a:buNone/>
            </a:pPr>
            <a:r>
              <a:rPr lang="en-US" sz="900" dirty="0">
                <a:solidFill>
                  <a:srgbClr val="667085"/>
                </a:solidFill>
              </a:rPr>
              <a:t>Major Project | Bioinformatics</a:t>
            </a:r>
            <a:endParaRPr lang="en-US" sz="900" dirty="0"/>
          </a:p>
        </p:txBody>
      </p:sp>
      <p:sp>
        <p:nvSpPr>
          <p:cNvPr id="26" name="Text 24"/>
          <p:cNvSpPr/>
          <p:nvPr/>
        </p:nvSpPr>
        <p:spPr>
          <a:xfrm>
            <a:off x="11155680" y="6455664"/>
            <a:ext cx="365760" cy="182880"/>
          </a:xfrm>
          <a:prstGeom prst="rect">
            <a:avLst/>
          </a:prstGeom>
          <a:noFill/>
          <a:ln/>
        </p:spPr>
        <p:txBody>
          <a:bodyPr wrap="square" rtlCol="0" anchor="ctr"/>
          <a:lstStyle/>
          <a:p>
            <a:pPr marL="0" indent="0" algn="r">
              <a:buNone/>
            </a:pPr>
            <a:r>
              <a:rPr lang="en-US" sz="900" dirty="0">
                <a:solidFill>
                  <a:srgbClr val="667085"/>
                </a:solidFill>
              </a:rPr>
              <a:t>12</a:t>
            </a:r>
            <a:endParaRPr lang="en-US" sz="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02920" y="146304"/>
            <a:ext cx="3200400" cy="164592"/>
          </a:xfrm>
          <a:prstGeom prst="rect">
            <a:avLst/>
          </a:prstGeom>
          <a:noFill/>
          <a:ln/>
        </p:spPr>
        <p:txBody>
          <a:bodyPr wrap="square" rtlCol="0" anchor="ctr"/>
          <a:lstStyle/>
          <a:p>
            <a:pPr marL="0" indent="0">
              <a:buNone/>
            </a:pPr>
            <a:r>
              <a:rPr lang="en-US" sz="1050" b="1" dirty="0">
                <a:solidFill>
                  <a:srgbClr val="14B8A6"/>
                </a:solidFill>
                <a:latin typeface="Aptos" pitchFamily="34" charset="0"/>
                <a:ea typeface="Aptos" pitchFamily="34" charset="-122"/>
                <a:cs typeface="Aptos" pitchFamily="34" charset="-120"/>
              </a:rPr>
              <a:t>Drug Discovery Pipeline</a:t>
            </a:r>
            <a:endParaRPr lang="en-US" sz="1050" dirty="0"/>
          </a:p>
        </p:txBody>
      </p:sp>
      <p:sp>
        <p:nvSpPr>
          <p:cNvPr id="3" name="Text 1"/>
          <p:cNvSpPr/>
          <p:nvPr/>
        </p:nvSpPr>
        <p:spPr>
          <a:xfrm>
            <a:off x="502920" y="384048"/>
            <a:ext cx="10972800" cy="347472"/>
          </a:xfrm>
          <a:prstGeom prst="rect">
            <a:avLst/>
          </a:prstGeom>
          <a:noFill/>
          <a:ln/>
        </p:spPr>
        <p:txBody>
          <a:bodyPr wrap="square" rtlCol="0" anchor="ctr"/>
          <a:lstStyle/>
          <a:p>
            <a:pPr marL="0" indent="0">
              <a:buNone/>
            </a:pPr>
            <a:r>
              <a:rPr lang="en-US" sz="2600" b="1" dirty="0">
                <a:solidFill>
                  <a:srgbClr val="0B1F3A"/>
                </a:solidFill>
                <a:latin typeface="Aptos Display" pitchFamily="34" charset="0"/>
                <a:ea typeface="Aptos Display" pitchFamily="34" charset="-122"/>
                <a:cs typeface="Aptos Display" pitchFamily="34" charset="-120"/>
              </a:rPr>
              <a:t>Live code demo for viva: step-by-step</a:t>
            </a:r>
            <a:endParaRPr lang="en-US" sz="2600" dirty="0"/>
          </a:p>
        </p:txBody>
      </p:sp>
      <p:sp>
        <p:nvSpPr>
          <p:cNvPr id="4" name="Shape 2"/>
          <p:cNvSpPr/>
          <p:nvPr/>
        </p:nvSpPr>
        <p:spPr>
          <a:xfrm>
            <a:off x="502920" y="850392"/>
            <a:ext cx="11064240" cy="0"/>
          </a:xfrm>
          <a:prstGeom prst="line">
            <a:avLst/>
          </a:prstGeom>
          <a:noFill/>
          <a:ln w="12700">
            <a:solidFill>
              <a:srgbClr val="D7DEE8"/>
            </a:solidFill>
            <a:prstDash val="solid"/>
          </a:ln>
        </p:spPr>
      </p:sp>
      <p:sp>
        <p:nvSpPr>
          <p:cNvPr id="5" name="Shape 3"/>
          <p:cNvSpPr/>
          <p:nvPr/>
        </p:nvSpPr>
        <p:spPr>
          <a:xfrm>
            <a:off x="777240" y="1435608"/>
            <a:ext cx="384048" cy="384048"/>
          </a:xfrm>
          <a:prstGeom prst="ellipse">
            <a:avLst/>
          </a:prstGeom>
          <a:solidFill>
            <a:srgbClr val="0B1F3A"/>
          </a:solidFill>
          <a:ln w="12700">
            <a:solidFill>
              <a:srgbClr val="0B1F3A"/>
            </a:solidFill>
            <a:prstDash val="solid"/>
          </a:ln>
        </p:spPr>
      </p:sp>
      <p:sp>
        <p:nvSpPr>
          <p:cNvPr id="6" name="Text 4"/>
          <p:cNvSpPr/>
          <p:nvPr/>
        </p:nvSpPr>
        <p:spPr>
          <a:xfrm>
            <a:off x="868680" y="1504188"/>
            <a:ext cx="182880" cy="137160"/>
          </a:xfrm>
          <a:prstGeom prst="rect">
            <a:avLst/>
          </a:prstGeom>
          <a:noFill/>
          <a:ln/>
        </p:spPr>
        <p:txBody>
          <a:bodyPr wrap="square" rtlCol="0" anchor="ctr"/>
          <a:lstStyle/>
          <a:p>
            <a:pPr marL="0" indent="0" algn="ctr">
              <a:buNone/>
            </a:pPr>
            <a:r>
              <a:rPr lang="en-US" sz="1100" b="1" dirty="0">
                <a:solidFill>
                  <a:srgbClr val="FFFFFF"/>
                </a:solidFill>
              </a:rPr>
              <a:t>1</a:t>
            </a:r>
            <a:endParaRPr lang="en-US" sz="1100" dirty="0"/>
          </a:p>
        </p:txBody>
      </p:sp>
      <p:sp>
        <p:nvSpPr>
          <p:cNvPr id="7" name="Text 5"/>
          <p:cNvSpPr/>
          <p:nvPr/>
        </p:nvSpPr>
        <p:spPr>
          <a:xfrm>
            <a:off x="1261872" y="1417320"/>
            <a:ext cx="4160520" cy="457200"/>
          </a:xfrm>
          <a:prstGeom prst="rect">
            <a:avLst/>
          </a:prstGeom>
          <a:noFill/>
          <a:ln/>
        </p:spPr>
        <p:txBody>
          <a:bodyPr wrap="square" lIns="0" tIns="0" rIns="0" bIns="0" rtlCol="0" anchor="ctr"/>
          <a:lstStyle/>
          <a:p>
            <a:pPr marL="0" indent="0">
              <a:buNone/>
            </a:pPr>
            <a:r>
              <a:rPr lang="en-US" sz="1850" dirty="0">
                <a:solidFill>
                  <a:srgbClr val="1F2937"/>
                </a:solidFill>
              </a:rPr>
              <a:t>Show help menu to prove the CLI is structured.</a:t>
            </a:r>
            <a:endParaRPr lang="en-US" sz="1850" dirty="0"/>
          </a:p>
        </p:txBody>
      </p:sp>
      <p:sp>
        <p:nvSpPr>
          <p:cNvPr id="8" name="Shape 6"/>
          <p:cNvSpPr/>
          <p:nvPr/>
        </p:nvSpPr>
        <p:spPr>
          <a:xfrm>
            <a:off x="777240" y="2240280"/>
            <a:ext cx="384048" cy="384048"/>
          </a:xfrm>
          <a:prstGeom prst="ellipse">
            <a:avLst/>
          </a:prstGeom>
          <a:solidFill>
            <a:srgbClr val="0B1F3A"/>
          </a:solidFill>
          <a:ln w="12700">
            <a:solidFill>
              <a:srgbClr val="0B1F3A"/>
            </a:solidFill>
            <a:prstDash val="solid"/>
          </a:ln>
        </p:spPr>
      </p:sp>
      <p:sp>
        <p:nvSpPr>
          <p:cNvPr id="9" name="Text 7"/>
          <p:cNvSpPr/>
          <p:nvPr/>
        </p:nvSpPr>
        <p:spPr>
          <a:xfrm>
            <a:off x="868680" y="2308860"/>
            <a:ext cx="182880" cy="137160"/>
          </a:xfrm>
          <a:prstGeom prst="rect">
            <a:avLst/>
          </a:prstGeom>
          <a:noFill/>
          <a:ln/>
        </p:spPr>
        <p:txBody>
          <a:bodyPr wrap="square" rtlCol="0" anchor="ctr"/>
          <a:lstStyle/>
          <a:p>
            <a:pPr marL="0" indent="0" algn="ctr">
              <a:buNone/>
            </a:pPr>
            <a:r>
              <a:rPr lang="en-US" sz="1100" b="1" dirty="0">
                <a:solidFill>
                  <a:srgbClr val="FFFFFF"/>
                </a:solidFill>
              </a:rPr>
              <a:t>2</a:t>
            </a:r>
            <a:endParaRPr lang="en-US" sz="1100" dirty="0"/>
          </a:p>
        </p:txBody>
      </p:sp>
      <p:sp>
        <p:nvSpPr>
          <p:cNvPr id="10" name="Text 8"/>
          <p:cNvSpPr/>
          <p:nvPr/>
        </p:nvSpPr>
        <p:spPr>
          <a:xfrm>
            <a:off x="1261872" y="2221992"/>
            <a:ext cx="4160520" cy="457200"/>
          </a:xfrm>
          <a:prstGeom prst="rect">
            <a:avLst/>
          </a:prstGeom>
          <a:noFill/>
          <a:ln/>
        </p:spPr>
        <p:txBody>
          <a:bodyPr wrap="square" lIns="0" tIns="0" rIns="0" bIns="0" rtlCol="0" anchor="ctr"/>
          <a:lstStyle/>
          <a:p>
            <a:pPr marL="0" indent="0">
              <a:buNone/>
            </a:pPr>
            <a:r>
              <a:rPr lang="en-US" sz="1850" dirty="0">
                <a:solidFill>
                  <a:srgbClr val="1F2937"/>
                </a:solidFill>
              </a:rPr>
              <a:t>Run demo-screen to generate ranked hits and ADMET outputs.</a:t>
            </a:r>
            <a:endParaRPr lang="en-US" sz="1850" dirty="0"/>
          </a:p>
        </p:txBody>
      </p:sp>
      <p:sp>
        <p:nvSpPr>
          <p:cNvPr id="11" name="Shape 9"/>
          <p:cNvSpPr/>
          <p:nvPr/>
        </p:nvSpPr>
        <p:spPr>
          <a:xfrm>
            <a:off x="777240" y="3044952"/>
            <a:ext cx="384048" cy="384048"/>
          </a:xfrm>
          <a:prstGeom prst="ellipse">
            <a:avLst/>
          </a:prstGeom>
          <a:solidFill>
            <a:srgbClr val="0B1F3A"/>
          </a:solidFill>
          <a:ln w="12700">
            <a:solidFill>
              <a:srgbClr val="0B1F3A"/>
            </a:solidFill>
            <a:prstDash val="solid"/>
          </a:ln>
        </p:spPr>
      </p:sp>
      <p:sp>
        <p:nvSpPr>
          <p:cNvPr id="12" name="Text 10"/>
          <p:cNvSpPr/>
          <p:nvPr/>
        </p:nvSpPr>
        <p:spPr>
          <a:xfrm>
            <a:off x="868680" y="3113532"/>
            <a:ext cx="182880" cy="137160"/>
          </a:xfrm>
          <a:prstGeom prst="rect">
            <a:avLst/>
          </a:prstGeom>
          <a:noFill/>
          <a:ln/>
        </p:spPr>
        <p:txBody>
          <a:bodyPr wrap="square" rtlCol="0" anchor="ctr"/>
          <a:lstStyle/>
          <a:p>
            <a:pPr marL="0" indent="0" algn="ctr">
              <a:buNone/>
            </a:pPr>
            <a:r>
              <a:rPr lang="en-US" sz="1100" b="1" dirty="0">
                <a:solidFill>
                  <a:srgbClr val="FFFFFF"/>
                </a:solidFill>
              </a:rPr>
              <a:t>3</a:t>
            </a:r>
            <a:endParaRPr lang="en-US" sz="1100" dirty="0"/>
          </a:p>
        </p:txBody>
      </p:sp>
      <p:sp>
        <p:nvSpPr>
          <p:cNvPr id="13" name="Text 11"/>
          <p:cNvSpPr/>
          <p:nvPr/>
        </p:nvSpPr>
        <p:spPr>
          <a:xfrm>
            <a:off x="1261872" y="3026664"/>
            <a:ext cx="4160520" cy="457200"/>
          </a:xfrm>
          <a:prstGeom prst="rect">
            <a:avLst/>
          </a:prstGeom>
          <a:noFill/>
          <a:ln/>
        </p:spPr>
        <p:txBody>
          <a:bodyPr wrap="square" lIns="0" tIns="0" rIns="0" bIns="0" rtlCol="0" anchor="ctr"/>
          <a:lstStyle/>
          <a:p>
            <a:pPr marL="0" indent="0">
              <a:buNone/>
            </a:pPr>
            <a:r>
              <a:rPr lang="en-US" sz="1850" dirty="0">
                <a:solidFill>
                  <a:srgbClr val="1F2937"/>
                </a:solidFill>
              </a:rPr>
              <a:t>Run parse-vina to read real docking logs and create CSV / plot outputs.</a:t>
            </a:r>
            <a:endParaRPr lang="en-US" sz="1850" dirty="0"/>
          </a:p>
        </p:txBody>
      </p:sp>
      <p:sp>
        <p:nvSpPr>
          <p:cNvPr id="14" name="Shape 12"/>
          <p:cNvSpPr/>
          <p:nvPr/>
        </p:nvSpPr>
        <p:spPr>
          <a:xfrm>
            <a:off x="777240" y="3849624"/>
            <a:ext cx="384048" cy="384048"/>
          </a:xfrm>
          <a:prstGeom prst="ellipse">
            <a:avLst/>
          </a:prstGeom>
          <a:solidFill>
            <a:srgbClr val="0B1F3A"/>
          </a:solidFill>
          <a:ln w="12700">
            <a:solidFill>
              <a:srgbClr val="0B1F3A"/>
            </a:solidFill>
            <a:prstDash val="solid"/>
          </a:ln>
        </p:spPr>
      </p:sp>
      <p:sp>
        <p:nvSpPr>
          <p:cNvPr id="15" name="Text 13"/>
          <p:cNvSpPr/>
          <p:nvPr/>
        </p:nvSpPr>
        <p:spPr>
          <a:xfrm>
            <a:off x="868680" y="3918204"/>
            <a:ext cx="182880" cy="137160"/>
          </a:xfrm>
          <a:prstGeom prst="rect">
            <a:avLst/>
          </a:prstGeom>
          <a:noFill/>
          <a:ln/>
        </p:spPr>
        <p:txBody>
          <a:bodyPr wrap="square" rtlCol="0" anchor="ctr"/>
          <a:lstStyle/>
          <a:p>
            <a:pPr marL="0" indent="0" algn="ctr">
              <a:buNone/>
            </a:pPr>
            <a:r>
              <a:rPr lang="en-US" sz="1100" b="1" dirty="0">
                <a:solidFill>
                  <a:srgbClr val="FFFFFF"/>
                </a:solidFill>
              </a:rPr>
              <a:t>4</a:t>
            </a:r>
            <a:endParaRPr lang="en-US" sz="1100" dirty="0"/>
          </a:p>
        </p:txBody>
      </p:sp>
      <p:sp>
        <p:nvSpPr>
          <p:cNvPr id="16" name="Text 14"/>
          <p:cNvSpPr/>
          <p:nvPr/>
        </p:nvSpPr>
        <p:spPr>
          <a:xfrm>
            <a:off x="1261872" y="3831336"/>
            <a:ext cx="4160520" cy="457200"/>
          </a:xfrm>
          <a:prstGeom prst="rect">
            <a:avLst/>
          </a:prstGeom>
          <a:noFill/>
          <a:ln/>
        </p:spPr>
        <p:txBody>
          <a:bodyPr wrap="square" lIns="0" tIns="0" rIns="0" bIns="0" rtlCol="0" anchor="ctr"/>
          <a:lstStyle/>
          <a:p>
            <a:pPr marL="0" indent="0">
              <a:buNone/>
            </a:pPr>
            <a:r>
              <a:rPr lang="en-US" sz="1850" dirty="0">
                <a:solidFill>
                  <a:srgbClr val="1F2937"/>
                </a:solidFill>
              </a:rPr>
              <a:t>Run make-pymol-script to prepare the figure-generation script.</a:t>
            </a:r>
            <a:endParaRPr lang="en-US" sz="1850" dirty="0"/>
          </a:p>
        </p:txBody>
      </p:sp>
      <p:sp>
        <p:nvSpPr>
          <p:cNvPr id="17" name="Shape 15"/>
          <p:cNvSpPr/>
          <p:nvPr/>
        </p:nvSpPr>
        <p:spPr>
          <a:xfrm>
            <a:off x="5760720" y="1325880"/>
            <a:ext cx="5486400" cy="4526280"/>
          </a:xfrm>
          <a:prstGeom prst="roundRect">
            <a:avLst/>
          </a:prstGeom>
          <a:solidFill>
            <a:srgbClr val="10243F"/>
          </a:solidFill>
          <a:ln w="12700">
            <a:solidFill>
              <a:srgbClr val="10243F"/>
            </a:solidFill>
            <a:prstDash val="solid"/>
          </a:ln>
        </p:spPr>
      </p:sp>
      <p:sp>
        <p:nvSpPr>
          <p:cNvPr id="18" name="Text 16"/>
          <p:cNvSpPr/>
          <p:nvPr/>
        </p:nvSpPr>
        <p:spPr>
          <a:xfrm>
            <a:off x="6016752" y="1627632"/>
            <a:ext cx="4983480" cy="3931920"/>
          </a:xfrm>
          <a:prstGeom prst="rect">
            <a:avLst/>
          </a:prstGeom>
          <a:noFill/>
          <a:ln/>
        </p:spPr>
        <p:txBody>
          <a:bodyPr wrap="square" lIns="254" tIns="254" rIns="254" bIns="254" rtlCol="0" anchor="ctr"/>
          <a:lstStyle/>
          <a:p>
            <a:pPr marL="0" indent="0">
              <a:buNone/>
            </a:pPr>
            <a:r>
              <a:rPr lang="en-US" sz="1400" dirty="0">
                <a:solidFill>
                  <a:srgbClr val="8292A2"/>
                </a:solidFill>
                <a:latin typeface="Consolas" pitchFamily="34" charset="0"/>
                <a:ea typeface="Consolas" pitchFamily="34" charset="-122"/>
                <a:cs typeface="Consolas" pitchFamily="34" charset="-120"/>
              </a:rPr>
              <a:t> 1 </a:t>
            </a:r>
            <a:r>
              <a:rPr lang="en-US" sz="1400" dirty="0">
                <a:solidFill>
                  <a:srgbClr val="FFFFFF"/>
                </a:solidFill>
                <a:latin typeface="Consolas" pitchFamily="34" charset="0"/>
                <a:ea typeface="Consolas" pitchFamily="34" charset="-122"/>
                <a:cs typeface="Consolas" pitchFamily="34" charset="-120"/>
              </a:rPr>
              <a:t>cd drug_discovery_upgrade
</a:t>
            </a:r>
            <a:r>
              <a:rPr lang="en-US" sz="1400" dirty="0">
                <a:solidFill>
                  <a:srgbClr val="8292A2"/>
                </a:solidFill>
                <a:latin typeface="Consolas" pitchFamily="34" charset="0"/>
                <a:ea typeface="Consolas" pitchFamily="34" charset="-122"/>
                <a:cs typeface="Consolas" pitchFamily="34" charset="-120"/>
              </a:rPr>
              <a:t> 2 </a:t>
            </a:r>
            <a:r>
              <a:rPr lang="en-US" sz="1400" dirty="0">
                <a:solidFill>
                  <a:srgbClr val="FFFFFF"/>
                </a:solidFill>
                <a:latin typeface="Consolas" pitchFamily="34" charset="0"/>
                <a:ea typeface="Consolas" pitchFamily="34" charset="-122"/>
                <a:cs typeface="Consolas" pitchFamily="34" charset="-120"/>
              </a:rPr>
              <a:t>python drug_discovery_pipeline_final.py -h
</a:t>
            </a:r>
            <a:r>
              <a:rPr lang="en-US" sz="1400" dirty="0">
                <a:solidFill>
                  <a:srgbClr val="8292A2"/>
                </a:solidFill>
                <a:latin typeface="Consolas" pitchFamily="34" charset="0"/>
                <a:ea typeface="Consolas" pitchFamily="34" charset="-122"/>
                <a:cs typeface="Consolas" pitchFamily="34" charset="-120"/>
              </a:rPr>
              <a:t> 3 </a:t>
            </a:r>
            <a:r>
              <a:rPr lang="en-US" sz="1400" dirty="0">
                <a:solidFill>
                  <a:srgbClr val="FFFFFF"/>
                </a:solidFill>
                <a:latin typeface="Consolas" pitchFamily="34" charset="0"/>
                <a:ea typeface="Consolas" pitchFamily="34" charset="-122"/>
                <a:cs typeface="Consolas" pitchFamily="34" charset="-120"/>
              </a:rPr>
              <a:t>python drug_discovery_pipeline_final.py demo-screen </a:t>
            </a:r>
            <a:r>
              <a:rPr lang="en-US" sz="1400" dirty="0">
                <a:solidFill>
                  <a:srgbClr val="F8F8F2"/>
                </a:solidFill>
                <a:latin typeface="Consolas" pitchFamily="34" charset="0"/>
                <a:ea typeface="Consolas" pitchFamily="34" charset="-122"/>
                <a:cs typeface="Consolas" pitchFamily="34" charset="-120"/>
              </a:rPr>
              <a:t>\</a:t>
            </a:r>
            <a:r>
              <a:rPr lang="en-US" sz="1400" dirty="0">
                <a:solidFill>
                  <a:srgbClr val="FFFFFF"/>
                </a:solidFill>
                <a:latin typeface="Consolas" pitchFamily="34" charset="0"/>
                <a:ea typeface="Consolas" pitchFamily="34" charset="-122"/>
                <a:cs typeface="Consolas" pitchFamily="34" charset="-120"/>
              </a:rPr>
              <a:t>
</a:t>
            </a:r>
            <a:r>
              <a:rPr lang="en-US" sz="1400" dirty="0">
                <a:solidFill>
                  <a:srgbClr val="8292A2"/>
                </a:solidFill>
                <a:latin typeface="Consolas" pitchFamily="34" charset="0"/>
                <a:ea typeface="Consolas" pitchFamily="34" charset="-122"/>
                <a:cs typeface="Consolas" pitchFamily="34" charset="-120"/>
              </a:rPr>
              <a:t> 4 </a:t>
            </a:r>
            <a:r>
              <a:rPr lang="en-US" sz="1400" dirty="0">
                <a:solidFill>
                  <a:srgbClr val="FFFFFF"/>
                </a:solidFill>
                <a:latin typeface="Consolas" pitchFamily="34" charset="0"/>
                <a:ea typeface="Consolas" pitchFamily="34" charset="-122"/>
                <a:cs typeface="Consolas" pitchFamily="34" charset="-120"/>
              </a:rPr>
              <a:t>  --compounds sample_compounds.csv --output-dir outputs --top-n 5
</a:t>
            </a:r>
            <a:r>
              <a:rPr lang="en-US" sz="1400" dirty="0">
                <a:solidFill>
                  <a:srgbClr val="8292A2"/>
                </a:solidFill>
                <a:latin typeface="Consolas" pitchFamily="34" charset="0"/>
                <a:ea typeface="Consolas" pitchFamily="34" charset="-122"/>
                <a:cs typeface="Consolas" pitchFamily="34" charset="-120"/>
              </a:rPr>
              <a:t> 5 </a:t>
            </a:r>
            <a:r>
              <a:rPr lang="en-US" sz="1400" dirty="0">
                <a:solidFill>
                  <a:srgbClr val="FFFFFF"/>
                </a:solidFill>
                <a:latin typeface="Consolas" pitchFamily="34" charset="0"/>
                <a:ea typeface="Consolas" pitchFamily="34" charset="-122"/>
                <a:cs typeface="Consolas" pitchFamily="34" charset="-120"/>
              </a:rPr>
              <a:t>python drug_discovery_pipeline_final.py parse-vina </a:t>
            </a:r>
            <a:r>
              <a:rPr lang="en-US" sz="1400" dirty="0">
                <a:solidFill>
                  <a:srgbClr val="F8F8F2"/>
                </a:solidFill>
                <a:latin typeface="Consolas" pitchFamily="34" charset="0"/>
                <a:ea typeface="Consolas" pitchFamily="34" charset="-122"/>
                <a:cs typeface="Consolas" pitchFamily="34" charset="-120"/>
              </a:rPr>
              <a:t>\</a:t>
            </a:r>
            <a:r>
              <a:rPr lang="en-US" sz="1400" dirty="0">
                <a:solidFill>
                  <a:srgbClr val="FFFFFF"/>
                </a:solidFill>
                <a:latin typeface="Consolas" pitchFamily="34" charset="0"/>
                <a:ea typeface="Consolas" pitchFamily="34" charset="-122"/>
                <a:cs typeface="Consolas" pitchFamily="34" charset="-120"/>
              </a:rPr>
              <a:t>
</a:t>
            </a:r>
            <a:r>
              <a:rPr lang="en-US" sz="1400" dirty="0">
                <a:solidFill>
                  <a:srgbClr val="8292A2"/>
                </a:solidFill>
                <a:latin typeface="Consolas" pitchFamily="34" charset="0"/>
                <a:ea typeface="Consolas" pitchFamily="34" charset="-122"/>
                <a:cs typeface="Consolas" pitchFamily="34" charset="-120"/>
              </a:rPr>
              <a:t> 6 </a:t>
            </a:r>
            <a:r>
              <a:rPr lang="en-US" sz="1400" dirty="0">
                <a:solidFill>
                  <a:srgbClr val="FFFFFF"/>
                </a:solidFill>
                <a:latin typeface="Consolas" pitchFamily="34" charset="0"/>
                <a:ea typeface="Consolas" pitchFamily="34" charset="-122"/>
                <a:cs typeface="Consolas" pitchFamily="34" charset="-120"/>
              </a:rPr>
              <a:t>  --log-dir data/vina_logs --metadata sample_compounds.csv </a:t>
            </a:r>
            <a:r>
              <a:rPr lang="en-US" sz="1400" dirty="0">
                <a:solidFill>
                  <a:srgbClr val="F8F8F2"/>
                </a:solidFill>
                <a:latin typeface="Consolas" pitchFamily="34" charset="0"/>
                <a:ea typeface="Consolas" pitchFamily="34" charset="-122"/>
                <a:cs typeface="Consolas" pitchFamily="34" charset="-120"/>
              </a:rPr>
              <a:t>\</a:t>
            </a:r>
            <a:r>
              <a:rPr lang="en-US" sz="1400" dirty="0">
                <a:solidFill>
                  <a:srgbClr val="FFFFFF"/>
                </a:solidFill>
                <a:latin typeface="Consolas" pitchFamily="34" charset="0"/>
                <a:ea typeface="Consolas" pitchFamily="34" charset="-122"/>
                <a:cs typeface="Consolas" pitchFamily="34" charset="-120"/>
              </a:rPr>
              <a:t>
</a:t>
            </a:r>
            <a:r>
              <a:rPr lang="en-US" sz="1400" dirty="0">
                <a:solidFill>
                  <a:srgbClr val="8292A2"/>
                </a:solidFill>
                <a:latin typeface="Consolas" pitchFamily="34" charset="0"/>
                <a:ea typeface="Consolas" pitchFamily="34" charset="-122"/>
                <a:cs typeface="Consolas" pitchFamily="34" charset="-120"/>
              </a:rPr>
              <a:t> 7 </a:t>
            </a:r>
            <a:r>
              <a:rPr lang="en-US" sz="1400" dirty="0">
                <a:solidFill>
                  <a:srgbClr val="FFFFFF"/>
                </a:solidFill>
                <a:latin typeface="Consolas" pitchFamily="34" charset="0"/>
                <a:ea typeface="Consolas" pitchFamily="34" charset="-122"/>
                <a:cs typeface="Consolas" pitchFamily="34" charset="-120"/>
              </a:rPr>
              <a:t>  --output-dir outputs --top-n 5
</a:t>
            </a:r>
            <a:r>
              <a:rPr lang="en-US" sz="1400" dirty="0">
                <a:solidFill>
                  <a:srgbClr val="8292A2"/>
                </a:solidFill>
                <a:latin typeface="Consolas" pitchFamily="34" charset="0"/>
                <a:ea typeface="Consolas" pitchFamily="34" charset="-122"/>
                <a:cs typeface="Consolas" pitchFamily="34" charset="-120"/>
              </a:rPr>
              <a:t> 8 </a:t>
            </a:r>
            <a:r>
              <a:rPr lang="en-US" sz="1400" dirty="0">
                <a:solidFill>
                  <a:srgbClr val="FFFFFF"/>
                </a:solidFill>
                <a:latin typeface="Consolas" pitchFamily="34" charset="0"/>
                <a:ea typeface="Consolas" pitchFamily="34" charset="-122"/>
                <a:cs typeface="Consolas" pitchFamily="34" charset="-120"/>
              </a:rPr>
              <a:t>python drug_discovery_pipeline_final.py make-pymol-script </a:t>
            </a:r>
            <a:r>
              <a:rPr lang="en-US" sz="1400" dirty="0">
                <a:solidFill>
                  <a:srgbClr val="F8F8F2"/>
                </a:solidFill>
                <a:latin typeface="Consolas" pitchFamily="34" charset="0"/>
                <a:ea typeface="Consolas" pitchFamily="34" charset="-122"/>
                <a:cs typeface="Consolas" pitchFamily="34" charset="-120"/>
              </a:rPr>
              <a:t>\</a:t>
            </a:r>
            <a:r>
              <a:rPr lang="en-US" sz="1400" dirty="0">
                <a:solidFill>
                  <a:srgbClr val="FFFFFF"/>
                </a:solidFill>
                <a:latin typeface="Consolas" pitchFamily="34" charset="0"/>
                <a:ea typeface="Consolas" pitchFamily="34" charset="-122"/>
                <a:cs typeface="Consolas" pitchFamily="34" charset="-120"/>
              </a:rPr>
              <a:t>
</a:t>
            </a:r>
            <a:r>
              <a:rPr lang="en-US" sz="1400" dirty="0">
                <a:solidFill>
                  <a:srgbClr val="8292A2"/>
                </a:solidFill>
                <a:latin typeface="Consolas" pitchFamily="34" charset="0"/>
                <a:ea typeface="Consolas" pitchFamily="34" charset="-122"/>
                <a:cs typeface="Consolas" pitchFamily="34" charset="-120"/>
              </a:rPr>
              <a:t> 9 </a:t>
            </a:r>
            <a:r>
              <a:rPr lang="en-US" sz="1400" dirty="0">
                <a:solidFill>
                  <a:srgbClr val="FFFFFF"/>
                </a:solidFill>
                <a:latin typeface="Consolas" pitchFamily="34" charset="0"/>
                <a:ea typeface="Consolas" pitchFamily="34" charset="-122"/>
                <a:cs typeface="Consolas" pitchFamily="34" charset="-120"/>
              </a:rPr>
              <a:t>  --receptor data/receptor/egfr_receptor.pdb </a:t>
            </a:r>
            <a:r>
              <a:rPr lang="en-US" sz="1400" dirty="0">
                <a:solidFill>
                  <a:srgbClr val="F8F8F2"/>
                </a:solidFill>
                <a:latin typeface="Consolas" pitchFamily="34" charset="0"/>
                <a:ea typeface="Consolas" pitchFamily="34" charset="-122"/>
                <a:cs typeface="Consolas" pitchFamily="34" charset="-120"/>
              </a:rPr>
              <a:t>\</a:t>
            </a:r>
            <a:r>
              <a:rPr lang="en-US" sz="1400" dirty="0">
                <a:solidFill>
                  <a:srgbClr val="FFFFFF"/>
                </a:solidFill>
                <a:latin typeface="Consolas" pitchFamily="34" charset="0"/>
                <a:ea typeface="Consolas" pitchFamily="34" charset="-122"/>
                <a:cs typeface="Consolas" pitchFamily="34" charset="-120"/>
              </a:rPr>
              <a:t>
</a:t>
            </a:r>
            <a:r>
              <a:rPr lang="en-US" sz="1400" dirty="0">
                <a:solidFill>
                  <a:srgbClr val="8292A2"/>
                </a:solidFill>
                <a:latin typeface="Consolas" pitchFamily="34" charset="0"/>
                <a:ea typeface="Consolas" pitchFamily="34" charset="-122"/>
                <a:cs typeface="Consolas" pitchFamily="34" charset="-120"/>
              </a:rPr>
              <a:t>10 </a:t>
            </a:r>
            <a:r>
              <a:rPr lang="en-US" sz="1400" dirty="0">
                <a:solidFill>
                  <a:srgbClr val="FFFFFF"/>
                </a:solidFill>
                <a:latin typeface="Consolas" pitchFamily="34" charset="0"/>
                <a:ea typeface="Consolas" pitchFamily="34" charset="-122"/>
                <a:cs typeface="Consolas" pitchFamily="34" charset="-120"/>
              </a:rPr>
              <a:t>  --pose outputs/example_top_pose.pdbqt </a:t>
            </a:r>
            <a:r>
              <a:rPr lang="en-US" sz="1400" dirty="0">
                <a:solidFill>
                  <a:srgbClr val="F8F8F2"/>
                </a:solidFill>
                <a:latin typeface="Consolas" pitchFamily="34" charset="0"/>
                <a:ea typeface="Consolas" pitchFamily="34" charset="-122"/>
                <a:cs typeface="Consolas" pitchFamily="34" charset="-120"/>
              </a:rPr>
              <a:t>\</a:t>
            </a:r>
            <a:r>
              <a:rPr lang="en-US" sz="1400" dirty="0">
                <a:solidFill>
                  <a:srgbClr val="FFFFFF"/>
                </a:solidFill>
                <a:latin typeface="Consolas" pitchFamily="34" charset="0"/>
                <a:ea typeface="Consolas" pitchFamily="34" charset="-122"/>
                <a:cs typeface="Consolas" pitchFamily="34" charset="-120"/>
              </a:rPr>
              <a:t>
</a:t>
            </a:r>
            <a:r>
              <a:rPr lang="en-US" sz="1400" dirty="0">
                <a:solidFill>
                  <a:srgbClr val="8292A2"/>
                </a:solidFill>
                <a:latin typeface="Consolas" pitchFamily="34" charset="0"/>
                <a:ea typeface="Consolas" pitchFamily="34" charset="-122"/>
                <a:cs typeface="Consolas" pitchFamily="34" charset="-120"/>
              </a:rPr>
              <a:t>11 </a:t>
            </a:r>
            <a:r>
              <a:rPr lang="en-US" sz="1400" dirty="0">
                <a:solidFill>
                  <a:srgbClr val="FFFFFF"/>
                </a:solidFill>
                <a:latin typeface="Consolas" pitchFamily="34" charset="0"/>
                <a:ea typeface="Consolas" pitchFamily="34" charset="-122"/>
                <a:cs typeface="Consolas" pitchFamily="34" charset="-120"/>
              </a:rPr>
              <a:t>  --output outputs/render_docking_scene.pml</a:t>
            </a:r>
            <a:endParaRPr lang="en-US" sz="1160" dirty="0"/>
          </a:p>
        </p:txBody>
      </p:sp>
      <p:sp>
        <p:nvSpPr>
          <p:cNvPr id="19" name="Shape 17"/>
          <p:cNvSpPr/>
          <p:nvPr/>
        </p:nvSpPr>
        <p:spPr>
          <a:xfrm>
            <a:off x="502920" y="6446520"/>
            <a:ext cx="11064240" cy="0"/>
          </a:xfrm>
          <a:prstGeom prst="line">
            <a:avLst/>
          </a:prstGeom>
          <a:noFill/>
          <a:ln w="12700">
            <a:solidFill>
              <a:srgbClr val="D7DEE8"/>
            </a:solidFill>
            <a:prstDash val="solid"/>
          </a:ln>
        </p:spPr>
      </p:sp>
      <p:sp>
        <p:nvSpPr>
          <p:cNvPr id="20" name="Text 18"/>
          <p:cNvSpPr/>
          <p:nvPr/>
        </p:nvSpPr>
        <p:spPr>
          <a:xfrm>
            <a:off x="502920" y="6473952"/>
            <a:ext cx="2560320" cy="182880"/>
          </a:xfrm>
          <a:prstGeom prst="rect">
            <a:avLst/>
          </a:prstGeom>
          <a:noFill/>
          <a:ln/>
        </p:spPr>
        <p:txBody>
          <a:bodyPr wrap="square" rtlCol="0" anchor="ctr"/>
          <a:lstStyle/>
          <a:p>
            <a:pPr marL="0" indent="0">
              <a:buNone/>
            </a:pPr>
            <a:r>
              <a:rPr lang="en-US" sz="900" dirty="0">
                <a:solidFill>
                  <a:srgbClr val="667085"/>
                </a:solidFill>
              </a:rPr>
              <a:t>Major Project | Bioinformatics</a:t>
            </a:r>
            <a:endParaRPr lang="en-US" sz="900" dirty="0"/>
          </a:p>
        </p:txBody>
      </p:sp>
      <p:sp>
        <p:nvSpPr>
          <p:cNvPr id="21" name="Text 19"/>
          <p:cNvSpPr/>
          <p:nvPr/>
        </p:nvSpPr>
        <p:spPr>
          <a:xfrm>
            <a:off x="11155680" y="6455664"/>
            <a:ext cx="365760" cy="182880"/>
          </a:xfrm>
          <a:prstGeom prst="rect">
            <a:avLst/>
          </a:prstGeom>
          <a:noFill/>
          <a:ln/>
        </p:spPr>
        <p:txBody>
          <a:bodyPr wrap="square" rtlCol="0" anchor="ctr"/>
          <a:lstStyle/>
          <a:p>
            <a:pPr marL="0" indent="0" algn="r">
              <a:buNone/>
            </a:pPr>
            <a:r>
              <a:rPr lang="en-US" sz="900" dirty="0">
                <a:solidFill>
                  <a:srgbClr val="667085"/>
                </a:solidFill>
              </a:rPr>
              <a:t>13</a:t>
            </a:r>
            <a:endParaRPr lang="en-US" sz="9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6F8FB"/>
        </a:solidFill>
        <a:effectLst/>
      </p:bgPr>
    </p:bg>
    <p:spTree>
      <p:nvGrpSpPr>
        <p:cNvPr id="1" name=""/>
        <p:cNvGrpSpPr/>
        <p:nvPr/>
      </p:nvGrpSpPr>
      <p:grpSpPr>
        <a:xfrm>
          <a:off x="0" y="0"/>
          <a:ext cx="0" cy="0"/>
          <a:chOff x="0" y="0"/>
          <a:chExt cx="0" cy="0"/>
        </a:xfrm>
      </p:grpSpPr>
      <p:sp>
        <p:nvSpPr>
          <p:cNvPr id="2" name="Text 0"/>
          <p:cNvSpPr/>
          <p:nvPr/>
        </p:nvSpPr>
        <p:spPr>
          <a:xfrm>
            <a:off x="502920" y="146304"/>
            <a:ext cx="3200400" cy="164592"/>
          </a:xfrm>
          <a:prstGeom prst="rect">
            <a:avLst/>
          </a:prstGeom>
          <a:noFill/>
          <a:ln/>
        </p:spPr>
        <p:txBody>
          <a:bodyPr wrap="square" rtlCol="0" anchor="ctr"/>
          <a:lstStyle/>
          <a:p>
            <a:pPr marL="0" indent="0">
              <a:buNone/>
            </a:pPr>
            <a:r>
              <a:rPr lang="en-US" sz="1050" b="1" dirty="0">
                <a:solidFill>
                  <a:srgbClr val="14B8A6"/>
                </a:solidFill>
                <a:latin typeface="Aptos" pitchFamily="34" charset="0"/>
                <a:ea typeface="Aptos" pitchFamily="34" charset="-122"/>
                <a:cs typeface="Aptos" pitchFamily="34" charset="-120"/>
              </a:rPr>
              <a:t>Drug Discovery Pipeline</a:t>
            </a:r>
            <a:endParaRPr lang="en-US" sz="1050" dirty="0"/>
          </a:p>
        </p:txBody>
      </p:sp>
      <p:sp>
        <p:nvSpPr>
          <p:cNvPr id="3" name="Text 1"/>
          <p:cNvSpPr/>
          <p:nvPr/>
        </p:nvSpPr>
        <p:spPr>
          <a:xfrm>
            <a:off x="502920" y="384048"/>
            <a:ext cx="10972800" cy="347472"/>
          </a:xfrm>
          <a:prstGeom prst="rect">
            <a:avLst/>
          </a:prstGeom>
          <a:noFill/>
          <a:ln/>
        </p:spPr>
        <p:txBody>
          <a:bodyPr wrap="square" rtlCol="0" anchor="ctr"/>
          <a:lstStyle/>
          <a:p>
            <a:pPr marL="0" indent="0">
              <a:buNone/>
            </a:pPr>
            <a:r>
              <a:rPr lang="en-US" sz="2600" b="1" dirty="0">
                <a:solidFill>
                  <a:srgbClr val="0B1F3A"/>
                </a:solidFill>
                <a:latin typeface="Aptos Display" pitchFamily="34" charset="0"/>
                <a:ea typeface="Aptos Display" pitchFamily="34" charset="-122"/>
                <a:cs typeface="Aptos Display" pitchFamily="34" charset="-120"/>
              </a:rPr>
              <a:t>PyMOL actual image generation guide</a:t>
            </a:r>
            <a:endParaRPr lang="en-US" sz="2600" dirty="0"/>
          </a:p>
        </p:txBody>
      </p:sp>
      <p:sp>
        <p:nvSpPr>
          <p:cNvPr id="4" name="Shape 2"/>
          <p:cNvSpPr/>
          <p:nvPr/>
        </p:nvSpPr>
        <p:spPr>
          <a:xfrm>
            <a:off x="502920" y="850392"/>
            <a:ext cx="11064240" cy="0"/>
          </a:xfrm>
          <a:prstGeom prst="line">
            <a:avLst/>
          </a:prstGeom>
          <a:noFill/>
          <a:ln w="12700">
            <a:solidFill>
              <a:srgbClr val="D7DEE8"/>
            </a:solidFill>
            <a:prstDash val="solid"/>
          </a:ln>
        </p:spPr>
      </p:sp>
      <p:sp>
        <p:nvSpPr>
          <p:cNvPr id="5" name="Text 3"/>
          <p:cNvSpPr/>
          <p:nvPr/>
        </p:nvSpPr>
        <p:spPr>
          <a:xfrm>
            <a:off x="731520" y="1170432"/>
            <a:ext cx="4526280" cy="804672"/>
          </a:xfrm>
          <a:prstGeom prst="rect">
            <a:avLst/>
          </a:prstGeom>
          <a:noFill/>
          <a:ln/>
        </p:spPr>
        <p:txBody>
          <a:bodyPr wrap="square" lIns="0" tIns="0" rIns="0" bIns="0" rtlCol="0" anchor="ctr"/>
          <a:lstStyle/>
          <a:p>
            <a:pPr marL="0" indent="0">
              <a:buNone/>
            </a:pPr>
            <a:r>
              <a:rPr lang="en-US" sz="1850" dirty="0">
                <a:solidFill>
                  <a:srgbClr val="1F2937"/>
                </a:solidFill>
              </a:rPr>
              <a:t>If you want a true project figure instead of an illustrative visual, use the pipeline to write a PyMOL script and then run that script inside PyMOL.</a:t>
            </a:r>
            <a:endParaRPr lang="en-US" sz="1850" dirty="0"/>
          </a:p>
        </p:txBody>
      </p:sp>
      <p:sp>
        <p:nvSpPr>
          <p:cNvPr id="6" name="Text 4"/>
          <p:cNvSpPr/>
          <p:nvPr/>
        </p:nvSpPr>
        <p:spPr>
          <a:xfrm>
            <a:off x="822960" y="2240280"/>
            <a:ext cx="4434840" cy="1737360"/>
          </a:xfrm>
          <a:prstGeom prst="rect">
            <a:avLst/>
          </a:prstGeom>
          <a:noFill/>
          <a:ln/>
        </p:spPr>
        <p:txBody>
          <a:bodyPr wrap="square" lIns="254" tIns="254" rIns="254" bIns="254" rtlCol="0" anchor="ctr"/>
          <a:lstStyle/>
          <a:p>
            <a:pPr marL="177800" indent="-177800">
              <a:buSzPct val="100000"/>
              <a:buChar char="•"/>
            </a:pPr>
            <a:r>
              <a:rPr lang="en-US" sz="1900" dirty="0">
                <a:solidFill>
                  <a:srgbClr val="1F2937"/>
                </a:solidFill>
              </a:rPr>
              <a:t>1. Prepare receptor file and top docked pose.</a:t>
            </a:r>
            <a:endParaRPr lang="en-US" sz="1900" dirty="0"/>
          </a:p>
          <a:p>
            <a:pPr marL="177800" indent="-177800">
              <a:buSzPct val="100000"/>
              <a:buChar char="•"/>
            </a:pPr>
            <a:r>
              <a:rPr lang="en-US" sz="1900" dirty="0">
                <a:solidFill>
                  <a:srgbClr val="1F2937"/>
                </a:solidFill>
              </a:rPr>
              <a:t>2. Generate the script from Python.</a:t>
            </a:r>
            <a:endParaRPr lang="en-US" sz="1900" dirty="0"/>
          </a:p>
          <a:p>
            <a:pPr marL="177800" indent="-177800">
              <a:buSzPct val="100000"/>
              <a:buChar char="•"/>
            </a:pPr>
            <a:r>
              <a:rPr lang="en-US" sz="1900" dirty="0">
                <a:solidFill>
                  <a:srgbClr val="1F2937"/>
                </a:solidFill>
              </a:rPr>
              <a:t>3. Open PyMOL and run @render_docking_scene.pml</a:t>
            </a:r>
            <a:endParaRPr lang="en-US" sz="1900" dirty="0"/>
          </a:p>
          <a:p>
            <a:pPr marL="177800" indent="-177800">
              <a:buSzPct val="100000"/>
              <a:buChar char="•"/>
            </a:pPr>
            <a:r>
              <a:rPr lang="en-US" sz="1900" dirty="0">
                <a:solidFill>
                  <a:srgbClr val="1F2937"/>
                </a:solidFill>
              </a:rPr>
              <a:t>4. Ray trace and export PNG at 300 dpi.</a:t>
            </a:r>
            <a:endParaRPr lang="en-US" sz="1900" dirty="0"/>
          </a:p>
        </p:txBody>
      </p:sp>
      <p:sp>
        <p:nvSpPr>
          <p:cNvPr id="7" name="Shape 5"/>
          <p:cNvSpPr/>
          <p:nvPr/>
        </p:nvSpPr>
        <p:spPr>
          <a:xfrm>
            <a:off x="5486400" y="1627632"/>
            <a:ext cx="5577840" cy="4480560"/>
          </a:xfrm>
          <a:prstGeom prst="roundRect">
            <a:avLst/>
          </a:prstGeom>
          <a:solidFill>
            <a:srgbClr val="10243F"/>
          </a:solidFill>
          <a:ln w="12700">
            <a:solidFill>
              <a:srgbClr val="10243F"/>
            </a:solidFill>
            <a:prstDash val="solid"/>
          </a:ln>
        </p:spPr>
      </p:sp>
      <p:sp>
        <p:nvSpPr>
          <p:cNvPr id="8" name="Text 6"/>
          <p:cNvSpPr/>
          <p:nvPr/>
        </p:nvSpPr>
        <p:spPr>
          <a:xfrm>
            <a:off x="5742432" y="1901952"/>
            <a:ext cx="5074920" cy="3886200"/>
          </a:xfrm>
          <a:prstGeom prst="rect">
            <a:avLst/>
          </a:prstGeom>
          <a:noFill/>
          <a:ln/>
        </p:spPr>
        <p:txBody>
          <a:bodyPr wrap="square" lIns="254" tIns="254" rIns="254" bIns="254" rtlCol="0" anchor="ctr"/>
          <a:lstStyle/>
          <a:p>
            <a:pPr marL="0" indent="0">
              <a:buNone/>
            </a:pPr>
            <a:r>
              <a:rPr lang="en-US" sz="1400" dirty="0">
                <a:solidFill>
                  <a:srgbClr val="8292A2"/>
                </a:solidFill>
                <a:latin typeface="Consolas" pitchFamily="34" charset="0"/>
                <a:ea typeface="Consolas" pitchFamily="34" charset="-122"/>
                <a:cs typeface="Consolas" pitchFamily="34" charset="-120"/>
              </a:rPr>
              <a:t> 1 </a:t>
            </a:r>
            <a:r>
              <a:rPr lang="en-US" sz="1400" dirty="0">
                <a:solidFill>
                  <a:srgbClr val="FFFFFF"/>
                </a:solidFill>
                <a:latin typeface="Consolas" pitchFamily="34" charset="0"/>
                <a:ea typeface="Consolas" pitchFamily="34" charset="-122"/>
                <a:cs typeface="Consolas" pitchFamily="34" charset="-120"/>
              </a:rPr>
              <a:t>reinitialize
</a:t>
            </a:r>
            <a:r>
              <a:rPr lang="en-US" sz="1400" dirty="0">
                <a:solidFill>
                  <a:srgbClr val="8292A2"/>
                </a:solidFill>
                <a:latin typeface="Consolas" pitchFamily="34" charset="0"/>
                <a:ea typeface="Consolas" pitchFamily="34" charset="-122"/>
                <a:cs typeface="Consolas" pitchFamily="34" charset="-120"/>
              </a:rPr>
              <a:t> 2 </a:t>
            </a:r>
            <a:r>
              <a:rPr lang="en-US" sz="1400" dirty="0">
                <a:solidFill>
                  <a:srgbClr val="FFFFFF"/>
                </a:solidFill>
                <a:latin typeface="Consolas" pitchFamily="34" charset="0"/>
                <a:ea typeface="Consolas" pitchFamily="34" charset="-122"/>
                <a:cs typeface="Consolas" pitchFamily="34" charset="-120"/>
              </a:rPr>
              <a:t>load receptor</a:t>
            </a:r>
            <a:r>
              <a:rPr lang="en-US" sz="1400" dirty="0">
                <a:solidFill>
                  <a:srgbClr val="F8F8F2"/>
                </a:solidFill>
                <a:latin typeface="Consolas" pitchFamily="34" charset="0"/>
                <a:ea typeface="Consolas" pitchFamily="34" charset="-122"/>
                <a:cs typeface="Consolas" pitchFamily="34" charset="-120"/>
              </a:rPr>
              <a:t>.</a:t>
            </a:r>
            <a:r>
              <a:rPr lang="en-US" sz="1400" dirty="0">
                <a:solidFill>
                  <a:srgbClr val="FFFFFF"/>
                </a:solidFill>
                <a:latin typeface="Consolas" pitchFamily="34" charset="0"/>
                <a:ea typeface="Consolas" pitchFamily="34" charset="-122"/>
                <a:cs typeface="Consolas" pitchFamily="34" charset="-120"/>
              </a:rPr>
              <a:t>pdb</a:t>
            </a:r>
            <a:r>
              <a:rPr lang="en-US" sz="1400" dirty="0">
                <a:solidFill>
                  <a:srgbClr val="F8F8F2"/>
                </a:solidFill>
                <a:latin typeface="Consolas" pitchFamily="34" charset="0"/>
                <a:ea typeface="Consolas" pitchFamily="34" charset="-122"/>
                <a:cs typeface="Consolas" pitchFamily="34" charset="-120"/>
              </a:rPr>
              <a:t>,</a:t>
            </a:r>
            <a:r>
              <a:rPr lang="en-US" sz="1400" dirty="0">
                <a:solidFill>
                  <a:srgbClr val="FFFFFF"/>
                </a:solidFill>
                <a:latin typeface="Consolas" pitchFamily="34" charset="0"/>
                <a:ea typeface="Consolas" pitchFamily="34" charset="-122"/>
                <a:cs typeface="Consolas" pitchFamily="34" charset="-120"/>
              </a:rPr>
              <a:t> target
</a:t>
            </a:r>
            <a:r>
              <a:rPr lang="en-US" sz="1400" dirty="0">
                <a:solidFill>
                  <a:srgbClr val="8292A2"/>
                </a:solidFill>
                <a:latin typeface="Consolas" pitchFamily="34" charset="0"/>
                <a:ea typeface="Consolas" pitchFamily="34" charset="-122"/>
                <a:cs typeface="Consolas" pitchFamily="34" charset="-120"/>
              </a:rPr>
              <a:t> 3 </a:t>
            </a:r>
            <a:r>
              <a:rPr lang="en-US" sz="1400" dirty="0">
                <a:solidFill>
                  <a:srgbClr val="FFFFFF"/>
                </a:solidFill>
                <a:latin typeface="Consolas" pitchFamily="34" charset="0"/>
                <a:ea typeface="Consolas" pitchFamily="34" charset="-122"/>
                <a:cs typeface="Consolas" pitchFamily="34" charset="-120"/>
              </a:rPr>
              <a:t>load top_pose</a:t>
            </a:r>
            <a:r>
              <a:rPr lang="en-US" sz="1400" dirty="0">
                <a:solidFill>
                  <a:srgbClr val="F8F8F2"/>
                </a:solidFill>
                <a:latin typeface="Consolas" pitchFamily="34" charset="0"/>
                <a:ea typeface="Consolas" pitchFamily="34" charset="-122"/>
                <a:cs typeface="Consolas" pitchFamily="34" charset="-120"/>
              </a:rPr>
              <a:t>.</a:t>
            </a:r>
            <a:r>
              <a:rPr lang="en-US" sz="1400" dirty="0">
                <a:solidFill>
                  <a:srgbClr val="FFFFFF"/>
                </a:solidFill>
                <a:latin typeface="Consolas" pitchFamily="34" charset="0"/>
                <a:ea typeface="Consolas" pitchFamily="34" charset="-122"/>
                <a:cs typeface="Consolas" pitchFamily="34" charset="-120"/>
              </a:rPr>
              <a:t>pdbqt</a:t>
            </a:r>
            <a:r>
              <a:rPr lang="en-US" sz="1400" dirty="0">
                <a:solidFill>
                  <a:srgbClr val="F8F8F2"/>
                </a:solidFill>
                <a:latin typeface="Consolas" pitchFamily="34" charset="0"/>
                <a:ea typeface="Consolas" pitchFamily="34" charset="-122"/>
                <a:cs typeface="Consolas" pitchFamily="34" charset="-120"/>
              </a:rPr>
              <a:t>,</a:t>
            </a:r>
            <a:r>
              <a:rPr lang="en-US" sz="1400" dirty="0">
                <a:solidFill>
                  <a:srgbClr val="FFFFFF"/>
                </a:solidFill>
                <a:latin typeface="Consolas" pitchFamily="34" charset="0"/>
                <a:ea typeface="Consolas" pitchFamily="34" charset="-122"/>
                <a:cs typeface="Consolas" pitchFamily="34" charset="-120"/>
              </a:rPr>
              <a:t> ligand
</a:t>
            </a:r>
            <a:r>
              <a:rPr lang="en-US" sz="1400" dirty="0">
                <a:solidFill>
                  <a:srgbClr val="8292A2"/>
                </a:solidFill>
                <a:latin typeface="Consolas" pitchFamily="34" charset="0"/>
                <a:ea typeface="Consolas" pitchFamily="34" charset="-122"/>
                <a:cs typeface="Consolas" pitchFamily="34" charset="-120"/>
              </a:rPr>
              <a:t> 4 </a:t>
            </a:r>
            <a:r>
              <a:rPr lang="en-US" sz="1400" dirty="0">
                <a:solidFill>
                  <a:srgbClr val="FFFFFF"/>
                </a:solidFill>
                <a:latin typeface="Consolas" pitchFamily="34" charset="0"/>
                <a:ea typeface="Consolas" pitchFamily="34" charset="-122"/>
                <a:cs typeface="Consolas" pitchFamily="34" charset="-120"/>
              </a:rPr>
              <a:t>hide everything</a:t>
            </a:r>
            <a:r>
              <a:rPr lang="en-US" sz="1400" dirty="0">
                <a:solidFill>
                  <a:srgbClr val="F8F8F2"/>
                </a:solidFill>
                <a:latin typeface="Consolas" pitchFamily="34" charset="0"/>
                <a:ea typeface="Consolas" pitchFamily="34" charset="-122"/>
                <a:cs typeface="Consolas" pitchFamily="34" charset="-120"/>
              </a:rPr>
              <a:t>,</a:t>
            </a:r>
            <a:r>
              <a:rPr lang="en-US" sz="1400" dirty="0">
                <a:solidFill>
                  <a:srgbClr val="FFFFFF"/>
                </a:solidFill>
                <a:latin typeface="Consolas" pitchFamily="34" charset="0"/>
                <a:ea typeface="Consolas" pitchFamily="34" charset="-122"/>
                <a:cs typeface="Consolas" pitchFamily="34" charset="-120"/>
              </a:rPr>
              <a:t> all
</a:t>
            </a:r>
            <a:r>
              <a:rPr lang="en-US" sz="1400" dirty="0">
                <a:solidFill>
                  <a:srgbClr val="8292A2"/>
                </a:solidFill>
                <a:latin typeface="Consolas" pitchFamily="34" charset="0"/>
                <a:ea typeface="Consolas" pitchFamily="34" charset="-122"/>
                <a:cs typeface="Consolas" pitchFamily="34" charset="-120"/>
              </a:rPr>
              <a:t> 5 </a:t>
            </a:r>
            <a:r>
              <a:rPr lang="en-US" sz="1400" dirty="0">
                <a:solidFill>
                  <a:srgbClr val="FFFFFF"/>
                </a:solidFill>
                <a:latin typeface="Consolas" pitchFamily="34" charset="0"/>
                <a:ea typeface="Consolas" pitchFamily="34" charset="-122"/>
                <a:cs typeface="Consolas" pitchFamily="34" charset="-120"/>
              </a:rPr>
              <a:t>show cartoon</a:t>
            </a:r>
            <a:r>
              <a:rPr lang="en-US" sz="1400" dirty="0">
                <a:solidFill>
                  <a:srgbClr val="F8F8F2"/>
                </a:solidFill>
                <a:latin typeface="Consolas" pitchFamily="34" charset="0"/>
                <a:ea typeface="Consolas" pitchFamily="34" charset="-122"/>
                <a:cs typeface="Consolas" pitchFamily="34" charset="-120"/>
              </a:rPr>
              <a:t>,</a:t>
            </a:r>
            <a:r>
              <a:rPr lang="en-US" sz="1400" dirty="0">
                <a:solidFill>
                  <a:srgbClr val="FFFFFF"/>
                </a:solidFill>
                <a:latin typeface="Consolas" pitchFamily="34" charset="0"/>
                <a:ea typeface="Consolas" pitchFamily="34" charset="-122"/>
                <a:cs typeface="Consolas" pitchFamily="34" charset="-120"/>
              </a:rPr>
              <a:t> target
</a:t>
            </a:r>
            <a:r>
              <a:rPr lang="en-US" sz="1400" dirty="0">
                <a:solidFill>
                  <a:srgbClr val="8292A2"/>
                </a:solidFill>
                <a:latin typeface="Consolas" pitchFamily="34" charset="0"/>
                <a:ea typeface="Consolas" pitchFamily="34" charset="-122"/>
                <a:cs typeface="Consolas" pitchFamily="34" charset="-120"/>
              </a:rPr>
              <a:t> 6 </a:t>
            </a:r>
            <a:r>
              <a:rPr lang="en-US" sz="1400" dirty="0">
                <a:solidFill>
                  <a:srgbClr val="FFFFFF"/>
                </a:solidFill>
                <a:latin typeface="Consolas" pitchFamily="34" charset="0"/>
                <a:ea typeface="Consolas" pitchFamily="34" charset="-122"/>
                <a:cs typeface="Consolas" pitchFamily="34" charset="-120"/>
              </a:rPr>
              <a:t>show sticks</a:t>
            </a:r>
            <a:r>
              <a:rPr lang="en-US" sz="1400" dirty="0">
                <a:solidFill>
                  <a:srgbClr val="F8F8F2"/>
                </a:solidFill>
                <a:latin typeface="Consolas" pitchFamily="34" charset="0"/>
                <a:ea typeface="Consolas" pitchFamily="34" charset="-122"/>
                <a:cs typeface="Consolas" pitchFamily="34" charset="-120"/>
              </a:rPr>
              <a:t>,</a:t>
            </a:r>
            <a:r>
              <a:rPr lang="en-US" sz="1400" dirty="0">
                <a:solidFill>
                  <a:srgbClr val="FFFFFF"/>
                </a:solidFill>
                <a:latin typeface="Consolas" pitchFamily="34" charset="0"/>
                <a:ea typeface="Consolas" pitchFamily="34" charset="-122"/>
                <a:cs typeface="Consolas" pitchFamily="34" charset="-120"/>
              </a:rPr>
              <a:t> ligand
</a:t>
            </a:r>
            <a:r>
              <a:rPr lang="en-US" sz="1400" dirty="0">
                <a:solidFill>
                  <a:srgbClr val="8292A2"/>
                </a:solidFill>
                <a:latin typeface="Consolas" pitchFamily="34" charset="0"/>
                <a:ea typeface="Consolas" pitchFamily="34" charset="-122"/>
                <a:cs typeface="Consolas" pitchFamily="34" charset="-120"/>
              </a:rPr>
              <a:t> 7 </a:t>
            </a:r>
            <a:r>
              <a:rPr lang="en-US" sz="1400" dirty="0">
                <a:solidFill>
                  <a:srgbClr val="FFFFFF"/>
                </a:solidFill>
                <a:latin typeface="Consolas" pitchFamily="34" charset="0"/>
                <a:ea typeface="Consolas" pitchFamily="34" charset="-122"/>
                <a:cs typeface="Consolas" pitchFamily="34" charset="-120"/>
              </a:rPr>
              <a:t>select pocket</a:t>
            </a:r>
            <a:r>
              <a:rPr lang="en-US" sz="1400" dirty="0">
                <a:solidFill>
                  <a:srgbClr val="F8F8F2"/>
                </a:solidFill>
                <a:latin typeface="Consolas" pitchFamily="34" charset="0"/>
                <a:ea typeface="Consolas" pitchFamily="34" charset="-122"/>
                <a:cs typeface="Consolas" pitchFamily="34" charset="-120"/>
              </a:rPr>
              <a:t>,</a:t>
            </a:r>
            <a:r>
              <a:rPr lang="en-US" sz="1400" dirty="0">
                <a:solidFill>
                  <a:srgbClr val="FFFFFF"/>
                </a:solidFill>
                <a:latin typeface="Consolas" pitchFamily="34" charset="0"/>
                <a:ea typeface="Consolas" pitchFamily="34" charset="-122"/>
                <a:cs typeface="Consolas" pitchFamily="34" charset="-120"/>
              </a:rPr>
              <a:t> byres </a:t>
            </a:r>
            <a:r>
              <a:rPr lang="en-US" sz="1400" dirty="0">
                <a:solidFill>
                  <a:srgbClr val="F8F8F2"/>
                </a:solidFill>
                <a:latin typeface="Consolas" pitchFamily="34" charset="0"/>
                <a:ea typeface="Consolas" pitchFamily="34" charset="-122"/>
                <a:cs typeface="Consolas" pitchFamily="34" charset="-120"/>
              </a:rPr>
              <a:t>(</a:t>
            </a:r>
            <a:r>
              <a:rPr lang="en-US" sz="1400" dirty="0">
                <a:solidFill>
                  <a:srgbClr val="FFFFFF"/>
                </a:solidFill>
                <a:latin typeface="Consolas" pitchFamily="34" charset="0"/>
                <a:ea typeface="Consolas" pitchFamily="34" charset="-122"/>
                <a:cs typeface="Consolas" pitchFamily="34" charset="-120"/>
              </a:rPr>
              <a:t>target within 5 of ligand</a:t>
            </a:r>
            <a:r>
              <a:rPr lang="en-US" sz="1400" dirty="0">
                <a:solidFill>
                  <a:srgbClr val="F8F8F2"/>
                </a:solidFill>
                <a:latin typeface="Consolas" pitchFamily="34" charset="0"/>
                <a:ea typeface="Consolas" pitchFamily="34" charset="-122"/>
                <a:cs typeface="Consolas" pitchFamily="34" charset="-120"/>
              </a:rPr>
              <a:t>)</a:t>
            </a:r>
            <a:r>
              <a:rPr lang="en-US" sz="1400" dirty="0">
                <a:solidFill>
                  <a:srgbClr val="FFFFFF"/>
                </a:solidFill>
                <a:latin typeface="Consolas" pitchFamily="34" charset="0"/>
                <a:ea typeface="Consolas" pitchFamily="34" charset="-122"/>
                <a:cs typeface="Consolas" pitchFamily="34" charset="-120"/>
              </a:rPr>
              <a:t>
</a:t>
            </a:r>
            <a:r>
              <a:rPr lang="en-US" sz="1400" dirty="0">
                <a:solidFill>
                  <a:srgbClr val="8292A2"/>
                </a:solidFill>
                <a:latin typeface="Consolas" pitchFamily="34" charset="0"/>
                <a:ea typeface="Consolas" pitchFamily="34" charset="-122"/>
                <a:cs typeface="Consolas" pitchFamily="34" charset="-120"/>
              </a:rPr>
              <a:t> 8 </a:t>
            </a:r>
            <a:r>
              <a:rPr lang="en-US" sz="1400" dirty="0">
                <a:solidFill>
                  <a:srgbClr val="FFFFFF"/>
                </a:solidFill>
                <a:latin typeface="Consolas" pitchFamily="34" charset="0"/>
                <a:ea typeface="Consolas" pitchFamily="34" charset="-122"/>
                <a:cs typeface="Consolas" pitchFamily="34" charset="-120"/>
              </a:rPr>
              <a:t>show surface</a:t>
            </a:r>
            <a:r>
              <a:rPr lang="en-US" sz="1400" dirty="0">
                <a:solidFill>
                  <a:srgbClr val="F8F8F2"/>
                </a:solidFill>
                <a:latin typeface="Consolas" pitchFamily="34" charset="0"/>
                <a:ea typeface="Consolas" pitchFamily="34" charset="-122"/>
                <a:cs typeface="Consolas" pitchFamily="34" charset="-120"/>
              </a:rPr>
              <a:t>,</a:t>
            </a:r>
            <a:r>
              <a:rPr lang="en-US" sz="1400" dirty="0">
                <a:solidFill>
                  <a:srgbClr val="FFFFFF"/>
                </a:solidFill>
                <a:latin typeface="Consolas" pitchFamily="34" charset="0"/>
                <a:ea typeface="Consolas" pitchFamily="34" charset="-122"/>
                <a:cs typeface="Consolas" pitchFamily="34" charset="-120"/>
              </a:rPr>
              <a:t> pocket
</a:t>
            </a:r>
            <a:r>
              <a:rPr lang="en-US" sz="1400" dirty="0">
                <a:solidFill>
                  <a:srgbClr val="8292A2"/>
                </a:solidFill>
                <a:latin typeface="Consolas" pitchFamily="34" charset="0"/>
                <a:ea typeface="Consolas" pitchFamily="34" charset="-122"/>
                <a:cs typeface="Consolas" pitchFamily="34" charset="-120"/>
              </a:rPr>
              <a:t> 9 </a:t>
            </a:r>
            <a:r>
              <a:rPr lang="en-US" sz="1400" dirty="0">
                <a:solidFill>
                  <a:srgbClr val="FFFFFF"/>
                </a:solidFill>
                <a:latin typeface="Consolas" pitchFamily="34" charset="0"/>
                <a:ea typeface="Consolas" pitchFamily="34" charset="-122"/>
                <a:cs typeface="Consolas" pitchFamily="34" charset="-120"/>
              </a:rPr>
              <a:t>dist hbonds</a:t>
            </a:r>
            <a:r>
              <a:rPr lang="en-US" sz="1400" dirty="0">
                <a:solidFill>
                  <a:srgbClr val="F8F8F2"/>
                </a:solidFill>
                <a:latin typeface="Consolas" pitchFamily="34" charset="0"/>
                <a:ea typeface="Consolas" pitchFamily="34" charset="-122"/>
                <a:cs typeface="Consolas" pitchFamily="34" charset="-120"/>
              </a:rPr>
              <a:t>,</a:t>
            </a:r>
            <a:r>
              <a:rPr lang="en-US" sz="1400" dirty="0">
                <a:solidFill>
                  <a:srgbClr val="FFFFFF"/>
                </a:solidFill>
                <a:latin typeface="Consolas" pitchFamily="34" charset="0"/>
                <a:ea typeface="Consolas" pitchFamily="34" charset="-122"/>
                <a:cs typeface="Consolas" pitchFamily="34" charset="-120"/>
              </a:rPr>
              <a:t> ligand</a:t>
            </a:r>
            <a:r>
              <a:rPr lang="en-US" sz="1400" dirty="0">
                <a:solidFill>
                  <a:srgbClr val="F8F8F2"/>
                </a:solidFill>
                <a:latin typeface="Consolas" pitchFamily="34" charset="0"/>
                <a:ea typeface="Consolas" pitchFamily="34" charset="-122"/>
                <a:cs typeface="Consolas" pitchFamily="34" charset="-120"/>
              </a:rPr>
              <a:t>,</a:t>
            </a:r>
            <a:r>
              <a:rPr lang="en-US" sz="1400" dirty="0">
                <a:solidFill>
                  <a:srgbClr val="FFFFFF"/>
                </a:solidFill>
                <a:latin typeface="Consolas" pitchFamily="34" charset="0"/>
                <a:ea typeface="Consolas" pitchFamily="34" charset="-122"/>
                <a:cs typeface="Consolas" pitchFamily="34" charset="-120"/>
              </a:rPr>
              <a:t> pocket </a:t>
            </a:r>
            <a:r>
              <a:rPr lang="en-US" sz="1400" dirty="0">
                <a:solidFill>
                  <a:srgbClr val="66D9EF"/>
                </a:solidFill>
                <a:latin typeface="Consolas" pitchFamily="34" charset="0"/>
                <a:ea typeface="Consolas" pitchFamily="34" charset="-122"/>
                <a:cs typeface="Consolas" pitchFamily="34" charset="-120"/>
              </a:rPr>
              <a:t>and</a:t>
            </a:r>
            <a:r>
              <a:rPr lang="en-US" sz="1400" dirty="0">
                <a:solidFill>
                  <a:srgbClr val="FFFFFF"/>
                </a:solidFill>
                <a:latin typeface="Consolas" pitchFamily="34" charset="0"/>
                <a:ea typeface="Consolas" pitchFamily="34" charset="-122"/>
                <a:cs typeface="Consolas" pitchFamily="34" charset="-120"/>
              </a:rPr>
              <a:t> </a:t>
            </a:r>
            <a:r>
              <a:rPr lang="en-US" sz="1400" dirty="0">
                <a:solidFill>
                  <a:srgbClr val="F8F8F2"/>
                </a:solidFill>
                <a:latin typeface="Consolas" pitchFamily="34" charset="0"/>
                <a:ea typeface="Consolas" pitchFamily="34" charset="-122"/>
                <a:cs typeface="Consolas" pitchFamily="34" charset="-120"/>
              </a:rPr>
              <a:t>(</a:t>
            </a:r>
            <a:r>
              <a:rPr lang="en-US" sz="1400" dirty="0">
                <a:solidFill>
                  <a:srgbClr val="FFFFFF"/>
                </a:solidFill>
                <a:latin typeface="Consolas" pitchFamily="34" charset="0"/>
                <a:ea typeface="Consolas" pitchFamily="34" charset="-122"/>
                <a:cs typeface="Consolas" pitchFamily="34" charset="-120"/>
              </a:rPr>
              <a:t>elem n</a:t>
            </a:r>
            <a:r>
              <a:rPr lang="en-US" sz="1400" dirty="0">
                <a:solidFill>
                  <a:srgbClr val="F8F8F2"/>
                </a:solidFill>
                <a:latin typeface="Consolas" pitchFamily="34" charset="0"/>
                <a:ea typeface="Consolas" pitchFamily="34" charset="-122"/>
                <a:cs typeface="Consolas" pitchFamily="34" charset="-120"/>
              </a:rPr>
              <a:t>+</a:t>
            </a:r>
            <a:r>
              <a:rPr lang="en-US" sz="1400" dirty="0">
                <a:solidFill>
                  <a:srgbClr val="FFFFFF"/>
                </a:solidFill>
                <a:latin typeface="Consolas" pitchFamily="34" charset="0"/>
                <a:ea typeface="Consolas" pitchFamily="34" charset="-122"/>
                <a:cs typeface="Consolas" pitchFamily="34" charset="-120"/>
              </a:rPr>
              <a:t>o</a:t>
            </a:r>
            <a:r>
              <a:rPr lang="en-US" sz="1400" dirty="0">
                <a:solidFill>
                  <a:srgbClr val="F8F8F2"/>
                </a:solidFill>
                <a:latin typeface="Consolas" pitchFamily="34" charset="0"/>
                <a:ea typeface="Consolas" pitchFamily="34" charset="-122"/>
                <a:cs typeface="Consolas" pitchFamily="34" charset="-120"/>
              </a:rPr>
              <a:t>),</a:t>
            </a:r>
            <a:r>
              <a:rPr lang="en-US" sz="1400" dirty="0">
                <a:solidFill>
                  <a:srgbClr val="FFFFFF"/>
                </a:solidFill>
                <a:latin typeface="Consolas" pitchFamily="34" charset="0"/>
                <a:ea typeface="Consolas" pitchFamily="34" charset="-122"/>
                <a:cs typeface="Consolas" pitchFamily="34" charset="-120"/>
              </a:rPr>
              <a:t> mode</a:t>
            </a:r>
            <a:r>
              <a:rPr lang="en-US" sz="1400" dirty="0">
                <a:solidFill>
                  <a:srgbClr val="F8F8F2"/>
                </a:solidFill>
                <a:latin typeface="Consolas" pitchFamily="34" charset="0"/>
                <a:ea typeface="Consolas" pitchFamily="34" charset="-122"/>
                <a:cs typeface="Consolas" pitchFamily="34" charset="-120"/>
              </a:rPr>
              <a:t>=</a:t>
            </a:r>
            <a:r>
              <a:rPr lang="en-US" sz="1400" dirty="0">
                <a:solidFill>
                  <a:srgbClr val="FFFFFF"/>
                </a:solidFill>
                <a:latin typeface="Consolas" pitchFamily="34" charset="0"/>
                <a:ea typeface="Consolas" pitchFamily="34" charset="-122"/>
                <a:cs typeface="Consolas" pitchFamily="34" charset="-120"/>
              </a:rPr>
              <a:t>2
</a:t>
            </a:r>
            <a:r>
              <a:rPr lang="en-US" sz="1400" dirty="0">
                <a:solidFill>
                  <a:srgbClr val="8292A2"/>
                </a:solidFill>
                <a:latin typeface="Consolas" pitchFamily="34" charset="0"/>
                <a:ea typeface="Consolas" pitchFamily="34" charset="-122"/>
                <a:cs typeface="Consolas" pitchFamily="34" charset="-120"/>
              </a:rPr>
              <a:t>10 </a:t>
            </a:r>
            <a:r>
              <a:rPr lang="en-US" sz="1400" dirty="0">
                <a:solidFill>
                  <a:srgbClr val="FFFFFF"/>
                </a:solidFill>
                <a:latin typeface="Consolas" pitchFamily="34" charset="0"/>
                <a:ea typeface="Consolas" pitchFamily="34" charset="-122"/>
                <a:cs typeface="Consolas" pitchFamily="34" charset="-120"/>
              </a:rPr>
              <a:t>ray 2400</a:t>
            </a:r>
            <a:r>
              <a:rPr lang="en-US" sz="1400" dirty="0">
                <a:solidFill>
                  <a:srgbClr val="F8F8F2"/>
                </a:solidFill>
                <a:latin typeface="Consolas" pitchFamily="34" charset="0"/>
                <a:ea typeface="Consolas" pitchFamily="34" charset="-122"/>
                <a:cs typeface="Consolas" pitchFamily="34" charset="-120"/>
              </a:rPr>
              <a:t>,</a:t>
            </a:r>
            <a:r>
              <a:rPr lang="en-US" sz="1400" dirty="0">
                <a:solidFill>
                  <a:srgbClr val="FFFFFF"/>
                </a:solidFill>
                <a:latin typeface="Consolas" pitchFamily="34" charset="0"/>
                <a:ea typeface="Consolas" pitchFamily="34" charset="-122"/>
                <a:cs typeface="Consolas" pitchFamily="34" charset="-120"/>
              </a:rPr>
              <a:t> 1350
</a:t>
            </a:r>
            <a:r>
              <a:rPr lang="en-US" sz="1400" dirty="0">
                <a:solidFill>
                  <a:srgbClr val="8292A2"/>
                </a:solidFill>
                <a:latin typeface="Consolas" pitchFamily="34" charset="0"/>
                <a:ea typeface="Consolas" pitchFamily="34" charset="-122"/>
                <a:cs typeface="Consolas" pitchFamily="34" charset="-120"/>
              </a:rPr>
              <a:t>11 </a:t>
            </a:r>
            <a:r>
              <a:rPr lang="en-US" sz="1400" dirty="0">
                <a:solidFill>
                  <a:srgbClr val="FFFFFF"/>
                </a:solidFill>
                <a:latin typeface="Consolas" pitchFamily="34" charset="0"/>
                <a:ea typeface="Consolas" pitchFamily="34" charset="-122"/>
                <a:cs typeface="Consolas" pitchFamily="34" charset="-120"/>
              </a:rPr>
              <a:t>png docking_visual</a:t>
            </a:r>
            <a:r>
              <a:rPr lang="en-US" sz="1400" dirty="0">
                <a:solidFill>
                  <a:srgbClr val="F8F8F2"/>
                </a:solidFill>
                <a:latin typeface="Consolas" pitchFamily="34" charset="0"/>
                <a:ea typeface="Consolas" pitchFamily="34" charset="-122"/>
                <a:cs typeface="Consolas" pitchFamily="34" charset="-120"/>
              </a:rPr>
              <a:t>.</a:t>
            </a:r>
            <a:r>
              <a:rPr lang="en-US" sz="1400" dirty="0">
                <a:solidFill>
                  <a:srgbClr val="FFFFFF"/>
                </a:solidFill>
                <a:latin typeface="Consolas" pitchFamily="34" charset="0"/>
                <a:ea typeface="Consolas" pitchFamily="34" charset="-122"/>
                <a:cs typeface="Consolas" pitchFamily="34" charset="-120"/>
              </a:rPr>
              <a:t>png</a:t>
            </a:r>
            <a:r>
              <a:rPr lang="en-US" sz="1400" dirty="0">
                <a:solidFill>
                  <a:srgbClr val="F8F8F2"/>
                </a:solidFill>
                <a:latin typeface="Consolas" pitchFamily="34" charset="0"/>
                <a:ea typeface="Consolas" pitchFamily="34" charset="-122"/>
                <a:cs typeface="Consolas" pitchFamily="34" charset="-120"/>
              </a:rPr>
              <a:t>,</a:t>
            </a:r>
            <a:r>
              <a:rPr lang="en-US" sz="1400" dirty="0">
                <a:solidFill>
                  <a:srgbClr val="FFFFFF"/>
                </a:solidFill>
                <a:latin typeface="Consolas" pitchFamily="34" charset="0"/>
                <a:ea typeface="Consolas" pitchFamily="34" charset="-122"/>
                <a:cs typeface="Consolas" pitchFamily="34" charset="-120"/>
              </a:rPr>
              <a:t> dpi</a:t>
            </a:r>
            <a:r>
              <a:rPr lang="en-US" sz="1400" dirty="0">
                <a:solidFill>
                  <a:srgbClr val="F8F8F2"/>
                </a:solidFill>
                <a:latin typeface="Consolas" pitchFamily="34" charset="0"/>
                <a:ea typeface="Consolas" pitchFamily="34" charset="-122"/>
                <a:cs typeface="Consolas" pitchFamily="34" charset="-120"/>
              </a:rPr>
              <a:t>=</a:t>
            </a:r>
            <a:r>
              <a:rPr lang="en-US" sz="1400" dirty="0">
                <a:solidFill>
                  <a:srgbClr val="FFFFFF"/>
                </a:solidFill>
                <a:latin typeface="Consolas" pitchFamily="34" charset="0"/>
                <a:ea typeface="Consolas" pitchFamily="34" charset="-122"/>
                <a:cs typeface="Consolas" pitchFamily="34" charset="-120"/>
              </a:rPr>
              <a:t>300</a:t>
            </a:r>
            <a:endParaRPr lang="en-US" sz="1200" dirty="0"/>
          </a:p>
        </p:txBody>
      </p:sp>
      <p:sp>
        <p:nvSpPr>
          <p:cNvPr id="9" name="Text 7"/>
          <p:cNvSpPr/>
          <p:nvPr/>
        </p:nvSpPr>
        <p:spPr>
          <a:xfrm>
            <a:off x="841248" y="4754880"/>
            <a:ext cx="4389120" cy="502920"/>
          </a:xfrm>
          <a:prstGeom prst="rect">
            <a:avLst/>
          </a:prstGeom>
          <a:noFill/>
          <a:ln/>
        </p:spPr>
        <p:txBody>
          <a:bodyPr wrap="square" lIns="0" tIns="0" rIns="0" bIns="0" rtlCol="0" anchor="ctr"/>
          <a:lstStyle/>
          <a:p>
            <a:pPr marL="0" indent="0">
              <a:buNone/>
            </a:pPr>
            <a:r>
              <a:rPr lang="en-US" sz="1700" b="1" dirty="0">
                <a:solidFill>
                  <a:srgbClr val="0B1F3A"/>
                </a:solidFill>
              </a:rPr>
              <a:t>Tip: if the pocket view is not ideal, rotate the model manually and repeat the ray + png commands.</a:t>
            </a:r>
            <a:endParaRPr lang="en-US" sz="1700" dirty="0"/>
          </a:p>
        </p:txBody>
      </p:sp>
      <p:sp>
        <p:nvSpPr>
          <p:cNvPr id="10" name="Shape 8"/>
          <p:cNvSpPr/>
          <p:nvPr/>
        </p:nvSpPr>
        <p:spPr>
          <a:xfrm>
            <a:off x="502920" y="6446520"/>
            <a:ext cx="11064240" cy="0"/>
          </a:xfrm>
          <a:prstGeom prst="line">
            <a:avLst/>
          </a:prstGeom>
          <a:noFill/>
          <a:ln w="12700">
            <a:solidFill>
              <a:srgbClr val="D7DEE8"/>
            </a:solidFill>
            <a:prstDash val="solid"/>
          </a:ln>
        </p:spPr>
      </p:sp>
      <p:sp>
        <p:nvSpPr>
          <p:cNvPr id="11" name="Text 9"/>
          <p:cNvSpPr/>
          <p:nvPr/>
        </p:nvSpPr>
        <p:spPr>
          <a:xfrm>
            <a:off x="502920" y="6473952"/>
            <a:ext cx="2560320" cy="182880"/>
          </a:xfrm>
          <a:prstGeom prst="rect">
            <a:avLst/>
          </a:prstGeom>
          <a:noFill/>
          <a:ln/>
        </p:spPr>
        <p:txBody>
          <a:bodyPr wrap="square" rtlCol="0" anchor="ctr"/>
          <a:lstStyle/>
          <a:p>
            <a:pPr marL="0" indent="0">
              <a:buNone/>
            </a:pPr>
            <a:r>
              <a:rPr lang="en-US" sz="900" dirty="0">
                <a:solidFill>
                  <a:srgbClr val="667085"/>
                </a:solidFill>
              </a:rPr>
              <a:t>Major Project | Bioinformatics</a:t>
            </a:r>
            <a:endParaRPr lang="en-US" sz="900" dirty="0"/>
          </a:p>
        </p:txBody>
      </p:sp>
      <p:sp>
        <p:nvSpPr>
          <p:cNvPr id="12" name="Text 10"/>
          <p:cNvSpPr/>
          <p:nvPr/>
        </p:nvSpPr>
        <p:spPr>
          <a:xfrm>
            <a:off x="11155680" y="6455664"/>
            <a:ext cx="365760" cy="182880"/>
          </a:xfrm>
          <a:prstGeom prst="rect">
            <a:avLst/>
          </a:prstGeom>
          <a:noFill/>
          <a:ln/>
        </p:spPr>
        <p:txBody>
          <a:bodyPr wrap="square" rtlCol="0" anchor="ctr"/>
          <a:lstStyle/>
          <a:p>
            <a:pPr marL="0" indent="0" algn="r">
              <a:buNone/>
            </a:pPr>
            <a:r>
              <a:rPr lang="en-US" sz="900" dirty="0">
                <a:solidFill>
                  <a:srgbClr val="667085"/>
                </a:solidFill>
              </a:rPr>
              <a:t>14</a:t>
            </a:r>
            <a:endParaRPr lang="en-US" sz="9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02920" y="146304"/>
            <a:ext cx="3200400" cy="164592"/>
          </a:xfrm>
          <a:prstGeom prst="rect">
            <a:avLst/>
          </a:prstGeom>
          <a:noFill/>
          <a:ln/>
        </p:spPr>
        <p:txBody>
          <a:bodyPr wrap="square" rtlCol="0" anchor="ctr"/>
          <a:lstStyle/>
          <a:p>
            <a:pPr marL="0" indent="0">
              <a:buNone/>
            </a:pPr>
            <a:r>
              <a:rPr lang="en-US" sz="1050" b="1" dirty="0">
                <a:solidFill>
                  <a:srgbClr val="14B8A6"/>
                </a:solidFill>
                <a:latin typeface="Aptos" pitchFamily="34" charset="0"/>
                <a:ea typeface="Aptos" pitchFamily="34" charset="-122"/>
                <a:cs typeface="Aptos" pitchFamily="34" charset="-120"/>
              </a:rPr>
              <a:t>Drug Discovery Pipeline</a:t>
            </a:r>
            <a:endParaRPr lang="en-US" sz="1050" dirty="0"/>
          </a:p>
        </p:txBody>
      </p:sp>
      <p:sp>
        <p:nvSpPr>
          <p:cNvPr id="3" name="Text 1"/>
          <p:cNvSpPr/>
          <p:nvPr/>
        </p:nvSpPr>
        <p:spPr>
          <a:xfrm>
            <a:off x="502920" y="384048"/>
            <a:ext cx="10972800" cy="347472"/>
          </a:xfrm>
          <a:prstGeom prst="rect">
            <a:avLst/>
          </a:prstGeom>
          <a:noFill/>
          <a:ln/>
        </p:spPr>
        <p:txBody>
          <a:bodyPr wrap="square" rtlCol="0" anchor="ctr"/>
          <a:lstStyle/>
          <a:p>
            <a:pPr marL="0" indent="0">
              <a:buNone/>
            </a:pPr>
            <a:r>
              <a:rPr lang="en-US" sz="2600" b="1" dirty="0">
                <a:solidFill>
                  <a:srgbClr val="0B1F3A"/>
                </a:solidFill>
                <a:latin typeface="Aptos Display" pitchFamily="34" charset="0"/>
                <a:ea typeface="Aptos Display" pitchFamily="34" charset="-122"/>
                <a:cs typeface="Aptos Display" pitchFamily="34" charset="-120"/>
              </a:rPr>
              <a:t>Limitations and next steps</a:t>
            </a:r>
            <a:endParaRPr lang="en-US" sz="2600" dirty="0"/>
          </a:p>
        </p:txBody>
      </p:sp>
      <p:sp>
        <p:nvSpPr>
          <p:cNvPr id="4" name="Shape 2"/>
          <p:cNvSpPr/>
          <p:nvPr/>
        </p:nvSpPr>
        <p:spPr>
          <a:xfrm>
            <a:off x="502920" y="850392"/>
            <a:ext cx="11064240" cy="0"/>
          </a:xfrm>
          <a:prstGeom prst="line">
            <a:avLst/>
          </a:prstGeom>
          <a:noFill/>
          <a:ln w="12700">
            <a:solidFill>
              <a:srgbClr val="D7DEE8"/>
            </a:solidFill>
            <a:prstDash val="solid"/>
          </a:ln>
        </p:spPr>
      </p:sp>
      <p:sp>
        <p:nvSpPr>
          <p:cNvPr id="5" name="Shape 3"/>
          <p:cNvSpPr/>
          <p:nvPr/>
        </p:nvSpPr>
        <p:spPr>
          <a:xfrm>
            <a:off x="749808" y="1325880"/>
            <a:ext cx="5029200" cy="4526280"/>
          </a:xfrm>
          <a:prstGeom prst="roundRect">
            <a:avLst/>
          </a:prstGeom>
          <a:solidFill>
            <a:srgbClr val="FFF7ED"/>
          </a:solidFill>
          <a:ln w="12700">
            <a:solidFill>
              <a:srgbClr val="F6D9A7"/>
            </a:solidFill>
            <a:prstDash val="solid"/>
          </a:ln>
        </p:spPr>
      </p:sp>
      <p:sp>
        <p:nvSpPr>
          <p:cNvPr id="6" name="Text 4"/>
          <p:cNvSpPr/>
          <p:nvPr/>
        </p:nvSpPr>
        <p:spPr>
          <a:xfrm>
            <a:off x="960120" y="1627632"/>
            <a:ext cx="1828800" cy="201168"/>
          </a:xfrm>
          <a:prstGeom prst="rect">
            <a:avLst/>
          </a:prstGeom>
          <a:noFill/>
          <a:ln/>
        </p:spPr>
        <p:txBody>
          <a:bodyPr wrap="square" rtlCol="0" anchor="ctr"/>
          <a:lstStyle/>
          <a:p>
            <a:pPr marL="0" indent="0">
              <a:buNone/>
            </a:pPr>
            <a:r>
              <a:rPr lang="en-US" sz="2000" b="1" dirty="0">
                <a:solidFill>
                  <a:srgbClr val="F59E0B"/>
                </a:solidFill>
              </a:rPr>
              <a:t>Current limitations</a:t>
            </a:r>
            <a:endParaRPr lang="en-US" sz="2000" dirty="0"/>
          </a:p>
        </p:txBody>
      </p:sp>
      <p:sp>
        <p:nvSpPr>
          <p:cNvPr id="7" name="Text 5"/>
          <p:cNvSpPr/>
          <p:nvPr/>
        </p:nvSpPr>
        <p:spPr>
          <a:xfrm>
            <a:off x="987552" y="1965960"/>
            <a:ext cx="4434840" cy="2011680"/>
          </a:xfrm>
          <a:prstGeom prst="rect">
            <a:avLst/>
          </a:prstGeom>
          <a:noFill/>
          <a:ln/>
        </p:spPr>
        <p:txBody>
          <a:bodyPr wrap="square" lIns="127" tIns="127" rIns="127" bIns="127" rtlCol="0" anchor="ctr"/>
          <a:lstStyle/>
          <a:p>
            <a:pPr marL="0" indent="0">
              <a:buNone/>
            </a:pPr>
            <a:r>
              <a:rPr lang="en-US" sz="1850" dirty="0">
                <a:solidFill>
                  <a:srgbClr val="1F2937"/>
                </a:solidFill>
              </a:rPr>
              <a:t>• Static receptor model</a:t>
            </a:r>
            <a:endParaRPr lang="en-US" sz="1850" dirty="0"/>
          </a:p>
          <a:p>
            <a:pPr marL="0" indent="0">
              <a:buNone/>
            </a:pPr>
            <a:r>
              <a:rPr lang="en-US" sz="1850" dirty="0">
                <a:solidFill>
                  <a:srgbClr val="1F2937"/>
                </a:solidFill>
              </a:rPr>
              <a:t>• Simplified scoring model</a:t>
            </a:r>
            <a:endParaRPr lang="en-US" sz="1850" dirty="0"/>
          </a:p>
          <a:p>
            <a:pPr marL="0" indent="0">
              <a:buNone/>
            </a:pPr>
            <a:r>
              <a:rPr lang="en-US" sz="1850" dirty="0">
                <a:solidFill>
                  <a:srgbClr val="1F2937"/>
                </a:solidFill>
              </a:rPr>
              <a:t>• Small academic ligand library</a:t>
            </a:r>
            <a:endParaRPr lang="en-US" sz="1850" dirty="0"/>
          </a:p>
          <a:p>
            <a:pPr marL="0" indent="0">
              <a:buNone/>
            </a:pPr>
            <a:r>
              <a:rPr lang="en-US" sz="1850" dirty="0">
                <a:solidFill>
                  <a:srgbClr val="1F2937"/>
                </a:solidFill>
              </a:rPr>
              <a:t>• First-pass ADMET heuristics</a:t>
            </a:r>
            <a:endParaRPr lang="en-US" sz="1850" dirty="0"/>
          </a:p>
          <a:p>
            <a:pPr marL="0" indent="0">
              <a:buNone/>
            </a:pPr>
            <a:r>
              <a:rPr lang="en-US" sz="1850" dirty="0">
                <a:solidFill>
                  <a:srgbClr val="1F2937"/>
                </a:solidFill>
              </a:rPr>
              <a:t>• No wet-lab validation in this project scope</a:t>
            </a:r>
            <a:endParaRPr lang="en-US" sz="1850" dirty="0"/>
          </a:p>
        </p:txBody>
      </p:sp>
      <p:sp>
        <p:nvSpPr>
          <p:cNvPr id="8" name="Shape 6"/>
          <p:cNvSpPr/>
          <p:nvPr/>
        </p:nvSpPr>
        <p:spPr>
          <a:xfrm>
            <a:off x="6355080" y="1325880"/>
            <a:ext cx="4937760" cy="4526280"/>
          </a:xfrm>
          <a:prstGeom prst="roundRect">
            <a:avLst/>
          </a:prstGeom>
          <a:solidFill>
            <a:srgbClr val="ECFDF5"/>
          </a:solidFill>
          <a:ln w="12700">
            <a:solidFill>
              <a:srgbClr val="BCE7D1"/>
            </a:solidFill>
            <a:prstDash val="solid"/>
          </a:ln>
        </p:spPr>
      </p:sp>
      <p:sp>
        <p:nvSpPr>
          <p:cNvPr id="9" name="Text 7"/>
          <p:cNvSpPr/>
          <p:nvPr/>
        </p:nvSpPr>
        <p:spPr>
          <a:xfrm>
            <a:off x="6565392" y="1627632"/>
            <a:ext cx="1554480" cy="201168"/>
          </a:xfrm>
          <a:prstGeom prst="rect">
            <a:avLst/>
          </a:prstGeom>
          <a:noFill/>
          <a:ln/>
        </p:spPr>
        <p:txBody>
          <a:bodyPr wrap="square" rtlCol="0" anchor="ctr"/>
          <a:lstStyle/>
          <a:p>
            <a:pPr marL="0" indent="0">
              <a:buNone/>
            </a:pPr>
            <a:r>
              <a:rPr lang="en-US" sz="2000" b="1" dirty="0">
                <a:solidFill>
                  <a:srgbClr val="10B981"/>
                </a:solidFill>
              </a:rPr>
              <a:t>Next steps</a:t>
            </a:r>
            <a:endParaRPr lang="en-US" sz="2000" dirty="0"/>
          </a:p>
        </p:txBody>
      </p:sp>
      <p:sp>
        <p:nvSpPr>
          <p:cNvPr id="10" name="Text 8"/>
          <p:cNvSpPr/>
          <p:nvPr/>
        </p:nvSpPr>
        <p:spPr>
          <a:xfrm>
            <a:off x="6601968" y="1965960"/>
            <a:ext cx="4297680" cy="2011680"/>
          </a:xfrm>
          <a:prstGeom prst="rect">
            <a:avLst/>
          </a:prstGeom>
          <a:noFill/>
          <a:ln/>
        </p:spPr>
        <p:txBody>
          <a:bodyPr wrap="square" lIns="127" tIns="127" rIns="127" bIns="127" rtlCol="0" anchor="ctr"/>
          <a:lstStyle/>
          <a:p>
            <a:pPr marL="0" indent="0">
              <a:buNone/>
            </a:pPr>
            <a:r>
              <a:rPr lang="en-US" sz="1850" dirty="0">
                <a:solidFill>
                  <a:srgbClr val="1F2937"/>
                </a:solidFill>
              </a:rPr>
              <a:t>• Expand library size and diversity</a:t>
            </a:r>
            <a:endParaRPr lang="en-US" sz="1850" dirty="0"/>
          </a:p>
          <a:p>
            <a:pPr marL="0" indent="0">
              <a:buNone/>
            </a:pPr>
            <a:r>
              <a:rPr lang="en-US" sz="1850" dirty="0">
                <a:solidFill>
                  <a:srgbClr val="1F2937"/>
                </a:solidFill>
              </a:rPr>
              <a:t>• Use experimentally solved receptor structures when available</a:t>
            </a:r>
            <a:endParaRPr lang="en-US" sz="1850" dirty="0"/>
          </a:p>
          <a:p>
            <a:pPr marL="0" indent="0">
              <a:buNone/>
            </a:pPr>
            <a:r>
              <a:rPr lang="en-US" sz="1850" dirty="0">
                <a:solidFill>
                  <a:srgbClr val="1F2937"/>
                </a:solidFill>
              </a:rPr>
              <a:t>• Add RDKit descriptors and better ADMET APIs</a:t>
            </a:r>
            <a:endParaRPr lang="en-US" sz="1850" dirty="0"/>
          </a:p>
          <a:p>
            <a:pPr marL="0" indent="0">
              <a:buNone/>
            </a:pPr>
            <a:r>
              <a:rPr lang="en-US" sz="1850" dirty="0">
                <a:solidFill>
                  <a:srgbClr val="1F2937"/>
                </a:solidFill>
              </a:rPr>
              <a:t>• Validate hits with molecular dynamics</a:t>
            </a:r>
            <a:endParaRPr lang="en-US" sz="1850" dirty="0"/>
          </a:p>
          <a:p>
            <a:pPr marL="0" indent="0">
              <a:buNone/>
            </a:pPr>
            <a:r>
              <a:rPr lang="en-US" sz="1850" dirty="0">
                <a:solidFill>
                  <a:srgbClr val="1F2937"/>
                </a:solidFill>
              </a:rPr>
              <a:t>• Compare with literature or assay data</a:t>
            </a:r>
            <a:endParaRPr lang="en-US" sz="1850" dirty="0"/>
          </a:p>
        </p:txBody>
      </p:sp>
      <p:sp>
        <p:nvSpPr>
          <p:cNvPr id="11" name="Text 9"/>
          <p:cNvSpPr/>
          <p:nvPr/>
        </p:nvSpPr>
        <p:spPr>
          <a:xfrm>
            <a:off x="1115568" y="5943600"/>
            <a:ext cx="9966960" cy="256032"/>
          </a:xfrm>
          <a:prstGeom prst="rect">
            <a:avLst/>
          </a:prstGeom>
          <a:noFill/>
          <a:ln/>
        </p:spPr>
        <p:txBody>
          <a:bodyPr wrap="square" rtlCol="0" anchor="ctr"/>
          <a:lstStyle/>
          <a:p>
            <a:pPr marL="0" indent="0" algn="ctr">
              <a:buNone/>
            </a:pPr>
            <a:r>
              <a:rPr lang="en-US" sz="1800" b="1" dirty="0">
                <a:solidFill>
                  <a:srgbClr val="0B1F3A"/>
                </a:solidFill>
              </a:rPr>
              <a:t>This is the right answer if the examiner asks: “Can docking prove the drug works?”</a:t>
            </a:r>
            <a:endParaRPr lang="en-US" sz="1800" dirty="0"/>
          </a:p>
        </p:txBody>
      </p:sp>
      <p:sp>
        <p:nvSpPr>
          <p:cNvPr id="12" name="Shape 10"/>
          <p:cNvSpPr/>
          <p:nvPr/>
        </p:nvSpPr>
        <p:spPr>
          <a:xfrm>
            <a:off x="502920" y="6446520"/>
            <a:ext cx="11064240" cy="0"/>
          </a:xfrm>
          <a:prstGeom prst="line">
            <a:avLst/>
          </a:prstGeom>
          <a:noFill/>
          <a:ln w="12700">
            <a:solidFill>
              <a:srgbClr val="D7DEE8"/>
            </a:solidFill>
            <a:prstDash val="solid"/>
          </a:ln>
        </p:spPr>
      </p:sp>
      <p:sp>
        <p:nvSpPr>
          <p:cNvPr id="13" name="Text 11"/>
          <p:cNvSpPr/>
          <p:nvPr/>
        </p:nvSpPr>
        <p:spPr>
          <a:xfrm>
            <a:off x="502920" y="6473952"/>
            <a:ext cx="2560320" cy="182880"/>
          </a:xfrm>
          <a:prstGeom prst="rect">
            <a:avLst/>
          </a:prstGeom>
          <a:noFill/>
          <a:ln/>
        </p:spPr>
        <p:txBody>
          <a:bodyPr wrap="square" rtlCol="0" anchor="ctr"/>
          <a:lstStyle/>
          <a:p>
            <a:pPr marL="0" indent="0">
              <a:buNone/>
            </a:pPr>
            <a:r>
              <a:rPr lang="en-US" sz="900" dirty="0">
                <a:solidFill>
                  <a:srgbClr val="667085"/>
                </a:solidFill>
              </a:rPr>
              <a:t>Major Project | Bioinformatics</a:t>
            </a:r>
            <a:endParaRPr lang="en-US" sz="900" dirty="0"/>
          </a:p>
        </p:txBody>
      </p:sp>
      <p:sp>
        <p:nvSpPr>
          <p:cNvPr id="14" name="Text 12"/>
          <p:cNvSpPr/>
          <p:nvPr/>
        </p:nvSpPr>
        <p:spPr>
          <a:xfrm>
            <a:off x="11155680" y="6455664"/>
            <a:ext cx="365760" cy="182880"/>
          </a:xfrm>
          <a:prstGeom prst="rect">
            <a:avLst/>
          </a:prstGeom>
          <a:noFill/>
          <a:ln/>
        </p:spPr>
        <p:txBody>
          <a:bodyPr wrap="square" rtlCol="0" anchor="ctr"/>
          <a:lstStyle/>
          <a:p>
            <a:pPr marL="0" indent="0" algn="r">
              <a:buNone/>
            </a:pPr>
            <a:r>
              <a:rPr lang="en-US" sz="900" dirty="0">
                <a:solidFill>
                  <a:srgbClr val="667085"/>
                </a:solidFill>
              </a:rPr>
              <a:t>15</a:t>
            </a:r>
            <a:endParaRPr lang="en-US" sz="9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6F8FB"/>
        </a:solidFill>
        <a:effectLst/>
      </p:bgPr>
    </p:bg>
    <p:spTree>
      <p:nvGrpSpPr>
        <p:cNvPr id="1" name=""/>
        <p:cNvGrpSpPr/>
        <p:nvPr/>
      </p:nvGrpSpPr>
      <p:grpSpPr>
        <a:xfrm>
          <a:off x="0" y="0"/>
          <a:ext cx="0" cy="0"/>
          <a:chOff x="0" y="0"/>
          <a:chExt cx="0" cy="0"/>
        </a:xfrm>
      </p:grpSpPr>
      <p:sp>
        <p:nvSpPr>
          <p:cNvPr id="2" name="Text 0"/>
          <p:cNvSpPr/>
          <p:nvPr/>
        </p:nvSpPr>
        <p:spPr>
          <a:xfrm>
            <a:off x="502920" y="146304"/>
            <a:ext cx="3200400" cy="164592"/>
          </a:xfrm>
          <a:prstGeom prst="rect">
            <a:avLst/>
          </a:prstGeom>
          <a:noFill/>
          <a:ln/>
        </p:spPr>
        <p:txBody>
          <a:bodyPr wrap="square" rtlCol="0" anchor="ctr"/>
          <a:lstStyle/>
          <a:p>
            <a:pPr marL="0" indent="0">
              <a:buNone/>
            </a:pPr>
            <a:r>
              <a:rPr lang="en-US" sz="1050" b="1" dirty="0">
                <a:solidFill>
                  <a:srgbClr val="14B8A6"/>
                </a:solidFill>
                <a:latin typeface="Aptos" pitchFamily="34" charset="0"/>
                <a:ea typeface="Aptos" pitchFamily="34" charset="-122"/>
                <a:cs typeface="Aptos" pitchFamily="34" charset="-120"/>
              </a:rPr>
              <a:t>Drug Discovery Pipeline</a:t>
            </a:r>
            <a:endParaRPr lang="en-US" sz="1050" dirty="0"/>
          </a:p>
        </p:txBody>
      </p:sp>
      <p:sp>
        <p:nvSpPr>
          <p:cNvPr id="3" name="Text 1"/>
          <p:cNvSpPr/>
          <p:nvPr/>
        </p:nvSpPr>
        <p:spPr>
          <a:xfrm>
            <a:off x="502920" y="384048"/>
            <a:ext cx="10972800" cy="347472"/>
          </a:xfrm>
          <a:prstGeom prst="rect">
            <a:avLst/>
          </a:prstGeom>
          <a:noFill/>
          <a:ln/>
        </p:spPr>
        <p:txBody>
          <a:bodyPr wrap="square" rtlCol="0" anchor="ctr"/>
          <a:lstStyle/>
          <a:p>
            <a:pPr marL="0" indent="0">
              <a:buNone/>
            </a:pPr>
            <a:r>
              <a:rPr lang="en-US" sz="2600" b="1" dirty="0">
                <a:solidFill>
                  <a:srgbClr val="0B1F3A"/>
                </a:solidFill>
                <a:latin typeface="Aptos Display" pitchFamily="34" charset="0"/>
                <a:ea typeface="Aptos Display" pitchFamily="34" charset="-122"/>
                <a:cs typeface="Aptos Display" pitchFamily="34" charset="-120"/>
              </a:rPr>
              <a:t>Common viva questions and strong answers</a:t>
            </a:r>
            <a:endParaRPr lang="en-US" sz="2600" dirty="0"/>
          </a:p>
        </p:txBody>
      </p:sp>
      <p:sp>
        <p:nvSpPr>
          <p:cNvPr id="4" name="Shape 2"/>
          <p:cNvSpPr/>
          <p:nvPr/>
        </p:nvSpPr>
        <p:spPr>
          <a:xfrm>
            <a:off x="502920" y="850392"/>
            <a:ext cx="11064240" cy="0"/>
          </a:xfrm>
          <a:prstGeom prst="line">
            <a:avLst/>
          </a:prstGeom>
          <a:noFill/>
          <a:ln w="12700">
            <a:solidFill>
              <a:srgbClr val="D7DEE8"/>
            </a:solidFill>
            <a:prstDash val="solid"/>
          </a:ln>
        </p:spPr>
      </p:sp>
      <p:sp>
        <p:nvSpPr>
          <p:cNvPr id="5" name="Shape 3"/>
          <p:cNvSpPr/>
          <p:nvPr/>
        </p:nvSpPr>
        <p:spPr>
          <a:xfrm>
            <a:off x="731520" y="1298448"/>
            <a:ext cx="5074920" cy="1234440"/>
          </a:xfrm>
          <a:prstGeom prst="roundRect">
            <a:avLst/>
          </a:prstGeom>
          <a:solidFill>
            <a:srgbClr val="FFFFFF"/>
          </a:solidFill>
          <a:ln w="12700">
            <a:solidFill>
              <a:srgbClr val="D8E3F2"/>
            </a:solidFill>
            <a:prstDash val="solid"/>
          </a:ln>
        </p:spPr>
      </p:sp>
      <p:sp>
        <p:nvSpPr>
          <p:cNvPr id="6" name="Text 4"/>
          <p:cNvSpPr/>
          <p:nvPr/>
        </p:nvSpPr>
        <p:spPr>
          <a:xfrm>
            <a:off x="896112" y="1444752"/>
            <a:ext cx="4663440" cy="210312"/>
          </a:xfrm>
          <a:prstGeom prst="rect">
            <a:avLst/>
          </a:prstGeom>
          <a:noFill/>
          <a:ln/>
        </p:spPr>
        <p:txBody>
          <a:bodyPr wrap="square" lIns="0" tIns="0" rIns="0" bIns="0" rtlCol="0" anchor="ctr"/>
          <a:lstStyle/>
          <a:p>
            <a:pPr marL="0" indent="0">
              <a:buNone/>
            </a:pPr>
            <a:r>
              <a:rPr lang="en-US" sz="1700" b="1" dirty="0">
                <a:solidFill>
                  <a:srgbClr val="0B1F3A"/>
                </a:solidFill>
              </a:rPr>
              <a:t>Q. Why EGFR?</a:t>
            </a:r>
            <a:endParaRPr lang="en-US" sz="1700" dirty="0"/>
          </a:p>
        </p:txBody>
      </p:sp>
      <p:sp>
        <p:nvSpPr>
          <p:cNvPr id="7" name="Text 5"/>
          <p:cNvSpPr/>
          <p:nvPr/>
        </p:nvSpPr>
        <p:spPr>
          <a:xfrm>
            <a:off x="896112" y="1783080"/>
            <a:ext cx="4617720" cy="502920"/>
          </a:xfrm>
          <a:prstGeom prst="rect">
            <a:avLst/>
          </a:prstGeom>
          <a:noFill/>
          <a:ln/>
        </p:spPr>
        <p:txBody>
          <a:bodyPr wrap="square" lIns="0" tIns="0" rIns="0" bIns="0" rtlCol="0" anchor="ctr"/>
          <a:lstStyle/>
          <a:p>
            <a:pPr marL="0" indent="0">
              <a:buNone/>
            </a:pPr>
            <a:r>
              <a:rPr lang="en-US" sz="1550" dirty="0">
                <a:solidFill>
                  <a:srgbClr val="1F2937"/>
                </a:solidFill>
              </a:rPr>
              <a:t>A. Clinically relevant target with known mutations and a druggable pocket.</a:t>
            </a:r>
            <a:endParaRPr lang="en-US" sz="1550" dirty="0"/>
          </a:p>
        </p:txBody>
      </p:sp>
      <p:sp>
        <p:nvSpPr>
          <p:cNvPr id="8" name="Shape 6"/>
          <p:cNvSpPr/>
          <p:nvPr/>
        </p:nvSpPr>
        <p:spPr>
          <a:xfrm>
            <a:off x="731520" y="2761488"/>
            <a:ext cx="5074920" cy="1234440"/>
          </a:xfrm>
          <a:prstGeom prst="roundRect">
            <a:avLst/>
          </a:prstGeom>
          <a:solidFill>
            <a:srgbClr val="FFFFFF"/>
          </a:solidFill>
          <a:ln w="12700">
            <a:solidFill>
              <a:srgbClr val="D8E3F2"/>
            </a:solidFill>
            <a:prstDash val="solid"/>
          </a:ln>
        </p:spPr>
      </p:sp>
      <p:sp>
        <p:nvSpPr>
          <p:cNvPr id="9" name="Text 7"/>
          <p:cNvSpPr/>
          <p:nvPr/>
        </p:nvSpPr>
        <p:spPr>
          <a:xfrm>
            <a:off x="896112" y="2907792"/>
            <a:ext cx="4663440" cy="210312"/>
          </a:xfrm>
          <a:prstGeom prst="rect">
            <a:avLst/>
          </a:prstGeom>
          <a:noFill/>
          <a:ln/>
        </p:spPr>
        <p:txBody>
          <a:bodyPr wrap="square" lIns="0" tIns="0" rIns="0" bIns="0" rtlCol="0" anchor="ctr"/>
          <a:lstStyle/>
          <a:p>
            <a:pPr marL="0" indent="0">
              <a:buNone/>
            </a:pPr>
            <a:r>
              <a:rPr lang="en-US" sz="1700" b="1" dirty="0">
                <a:solidFill>
                  <a:srgbClr val="0B1F3A"/>
                </a:solidFill>
              </a:rPr>
              <a:t>Q. Why Vina?</a:t>
            </a:r>
            <a:endParaRPr lang="en-US" sz="1700" dirty="0"/>
          </a:p>
        </p:txBody>
      </p:sp>
      <p:sp>
        <p:nvSpPr>
          <p:cNvPr id="10" name="Text 8"/>
          <p:cNvSpPr/>
          <p:nvPr/>
        </p:nvSpPr>
        <p:spPr>
          <a:xfrm>
            <a:off x="896112" y="3246120"/>
            <a:ext cx="4617720" cy="502920"/>
          </a:xfrm>
          <a:prstGeom prst="rect">
            <a:avLst/>
          </a:prstGeom>
          <a:noFill/>
          <a:ln/>
        </p:spPr>
        <p:txBody>
          <a:bodyPr wrap="square" lIns="0" tIns="0" rIns="0" bIns="0" rtlCol="0" anchor="ctr"/>
          <a:lstStyle/>
          <a:p>
            <a:pPr marL="0" indent="0">
              <a:buNone/>
            </a:pPr>
            <a:r>
              <a:rPr lang="en-US" sz="1550" dirty="0">
                <a:solidFill>
                  <a:srgbClr val="1F2937"/>
                </a:solidFill>
              </a:rPr>
              <a:t>A. Open source, fast, widely used, and good for academic virtual screening.</a:t>
            </a:r>
            <a:endParaRPr lang="en-US" sz="1550" dirty="0"/>
          </a:p>
        </p:txBody>
      </p:sp>
      <p:sp>
        <p:nvSpPr>
          <p:cNvPr id="11" name="Shape 9"/>
          <p:cNvSpPr/>
          <p:nvPr/>
        </p:nvSpPr>
        <p:spPr>
          <a:xfrm>
            <a:off x="731520" y="4224528"/>
            <a:ext cx="5074920" cy="1234440"/>
          </a:xfrm>
          <a:prstGeom prst="roundRect">
            <a:avLst/>
          </a:prstGeom>
          <a:solidFill>
            <a:srgbClr val="FFFFFF"/>
          </a:solidFill>
          <a:ln w="12700">
            <a:solidFill>
              <a:srgbClr val="D8E3F2"/>
            </a:solidFill>
            <a:prstDash val="solid"/>
          </a:ln>
        </p:spPr>
      </p:sp>
      <p:sp>
        <p:nvSpPr>
          <p:cNvPr id="12" name="Text 10"/>
          <p:cNvSpPr/>
          <p:nvPr/>
        </p:nvSpPr>
        <p:spPr>
          <a:xfrm>
            <a:off x="896112" y="4370832"/>
            <a:ext cx="4663440" cy="210312"/>
          </a:xfrm>
          <a:prstGeom prst="rect">
            <a:avLst/>
          </a:prstGeom>
          <a:noFill/>
          <a:ln/>
        </p:spPr>
        <p:txBody>
          <a:bodyPr wrap="square" lIns="0" tIns="0" rIns="0" bIns="0" rtlCol="0" anchor="ctr"/>
          <a:lstStyle/>
          <a:p>
            <a:pPr marL="0" indent="0">
              <a:buNone/>
            </a:pPr>
            <a:r>
              <a:rPr lang="en-US" sz="1700" b="1" dirty="0">
                <a:solidFill>
                  <a:srgbClr val="0B1F3A"/>
                </a:solidFill>
              </a:rPr>
              <a:t>Q. Why ADMET after docking?</a:t>
            </a:r>
            <a:endParaRPr lang="en-US" sz="1700" dirty="0"/>
          </a:p>
        </p:txBody>
      </p:sp>
      <p:sp>
        <p:nvSpPr>
          <p:cNvPr id="13" name="Text 11"/>
          <p:cNvSpPr/>
          <p:nvPr/>
        </p:nvSpPr>
        <p:spPr>
          <a:xfrm>
            <a:off x="896112" y="4709160"/>
            <a:ext cx="4617720" cy="502920"/>
          </a:xfrm>
          <a:prstGeom prst="rect">
            <a:avLst/>
          </a:prstGeom>
          <a:noFill/>
          <a:ln/>
        </p:spPr>
        <p:txBody>
          <a:bodyPr wrap="square" lIns="0" tIns="0" rIns="0" bIns="0" rtlCol="0" anchor="ctr"/>
          <a:lstStyle/>
          <a:p>
            <a:pPr marL="0" indent="0">
              <a:buNone/>
            </a:pPr>
            <a:r>
              <a:rPr lang="en-US" sz="1550" dirty="0">
                <a:solidFill>
                  <a:srgbClr val="1F2937"/>
                </a:solidFill>
              </a:rPr>
              <a:t>A. Strong binding alone does not guarantee safety or bioavailability.</a:t>
            </a:r>
            <a:endParaRPr lang="en-US" sz="1550" dirty="0"/>
          </a:p>
        </p:txBody>
      </p:sp>
      <p:sp>
        <p:nvSpPr>
          <p:cNvPr id="14" name="Shape 12"/>
          <p:cNvSpPr/>
          <p:nvPr/>
        </p:nvSpPr>
        <p:spPr>
          <a:xfrm>
            <a:off x="6355080" y="1298448"/>
            <a:ext cx="5074920" cy="1234440"/>
          </a:xfrm>
          <a:prstGeom prst="roundRect">
            <a:avLst/>
          </a:prstGeom>
          <a:solidFill>
            <a:srgbClr val="FFFFFF"/>
          </a:solidFill>
          <a:ln w="12700">
            <a:solidFill>
              <a:srgbClr val="D8E3F2"/>
            </a:solidFill>
            <a:prstDash val="solid"/>
          </a:ln>
        </p:spPr>
      </p:sp>
      <p:sp>
        <p:nvSpPr>
          <p:cNvPr id="15" name="Text 13"/>
          <p:cNvSpPr/>
          <p:nvPr/>
        </p:nvSpPr>
        <p:spPr>
          <a:xfrm>
            <a:off x="6519672" y="1444752"/>
            <a:ext cx="4663440" cy="210312"/>
          </a:xfrm>
          <a:prstGeom prst="rect">
            <a:avLst/>
          </a:prstGeom>
          <a:noFill/>
          <a:ln/>
        </p:spPr>
        <p:txBody>
          <a:bodyPr wrap="square" lIns="0" tIns="0" rIns="0" bIns="0" rtlCol="0" anchor="ctr"/>
          <a:lstStyle/>
          <a:p>
            <a:pPr marL="0" indent="0">
              <a:buNone/>
            </a:pPr>
            <a:r>
              <a:rPr lang="en-US" sz="1700" b="1" dirty="0">
                <a:solidFill>
                  <a:srgbClr val="0B1F3A"/>
                </a:solidFill>
              </a:rPr>
              <a:t>Q. Why PyMOL?</a:t>
            </a:r>
            <a:endParaRPr lang="en-US" sz="1700" dirty="0"/>
          </a:p>
        </p:txBody>
      </p:sp>
      <p:sp>
        <p:nvSpPr>
          <p:cNvPr id="16" name="Text 14"/>
          <p:cNvSpPr/>
          <p:nvPr/>
        </p:nvSpPr>
        <p:spPr>
          <a:xfrm>
            <a:off x="6519672" y="1783080"/>
            <a:ext cx="4617720" cy="502920"/>
          </a:xfrm>
          <a:prstGeom prst="rect">
            <a:avLst/>
          </a:prstGeom>
          <a:noFill/>
          <a:ln/>
        </p:spPr>
        <p:txBody>
          <a:bodyPr wrap="square" lIns="0" tIns="0" rIns="0" bIns="0" rtlCol="0" anchor="ctr"/>
          <a:lstStyle/>
          <a:p>
            <a:pPr marL="0" indent="0">
              <a:buNone/>
            </a:pPr>
            <a:r>
              <a:rPr lang="en-US" sz="1550" dirty="0">
                <a:solidFill>
                  <a:srgbClr val="1F2937"/>
                </a:solidFill>
              </a:rPr>
              <a:t>A. It turns docking scores into structural interpretation and figure-ready visuals.</a:t>
            </a:r>
            <a:endParaRPr lang="en-US" sz="1550" dirty="0"/>
          </a:p>
        </p:txBody>
      </p:sp>
      <p:sp>
        <p:nvSpPr>
          <p:cNvPr id="17" name="Shape 15"/>
          <p:cNvSpPr/>
          <p:nvPr/>
        </p:nvSpPr>
        <p:spPr>
          <a:xfrm>
            <a:off x="6355080" y="2761488"/>
            <a:ext cx="5074920" cy="1234440"/>
          </a:xfrm>
          <a:prstGeom prst="roundRect">
            <a:avLst/>
          </a:prstGeom>
          <a:solidFill>
            <a:srgbClr val="FFFFFF"/>
          </a:solidFill>
          <a:ln w="12700">
            <a:solidFill>
              <a:srgbClr val="D8E3F2"/>
            </a:solidFill>
            <a:prstDash val="solid"/>
          </a:ln>
        </p:spPr>
      </p:sp>
      <p:sp>
        <p:nvSpPr>
          <p:cNvPr id="18" name="Text 16"/>
          <p:cNvSpPr/>
          <p:nvPr/>
        </p:nvSpPr>
        <p:spPr>
          <a:xfrm>
            <a:off x="6519672" y="2907792"/>
            <a:ext cx="4663440" cy="210312"/>
          </a:xfrm>
          <a:prstGeom prst="rect">
            <a:avLst/>
          </a:prstGeom>
          <a:noFill/>
          <a:ln/>
        </p:spPr>
        <p:txBody>
          <a:bodyPr wrap="square" lIns="0" tIns="0" rIns="0" bIns="0" rtlCol="0" anchor="ctr"/>
          <a:lstStyle/>
          <a:p>
            <a:pPr marL="0" indent="0">
              <a:buNone/>
            </a:pPr>
            <a:r>
              <a:rPr lang="en-US" sz="1700" b="1" dirty="0">
                <a:solidFill>
                  <a:srgbClr val="0B1F3A"/>
                </a:solidFill>
              </a:rPr>
              <a:t>Q. Can docking prove activity?</a:t>
            </a:r>
            <a:endParaRPr lang="en-US" sz="1700" dirty="0"/>
          </a:p>
        </p:txBody>
      </p:sp>
      <p:sp>
        <p:nvSpPr>
          <p:cNvPr id="19" name="Text 17"/>
          <p:cNvSpPr/>
          <p:nvPr/>
        </p:nvSpPr>
        <p:spPr>
          <a:xfrm>
            <a:off x="6519672" y="3246120"/>
            <a:ext cx="4617720" cy="502920"/>
          </a:xfrm>
          <a:prstGeom prst="rect">
            <a:avLst/>
          </a:prstGeom>
          <a:noFill/>
          <a:ln/>
        </p:spPr>
        <p:txBody>
          <a:bodyPr wrap="square" lIns="0" tIns="0" rIns="0" bIns="0" rtlCol="0" anchor="ctr"/>
          <a:lstStyle/>
          <a:p>
            <a:pPr marL="0" indent="0">
              <a:buNone/>
            </a:pPr>
            <a:r>
              <a:rPr lang="en-US" sz="1550" dirty="0">
                <a:solidFill>
                  <a:srgbClr val="1F2937"/>
                </a:solidFill>
              </a:rPr>
              <a:t>A. No. It only predicts plausible binding; experiments are still required.</a:t>
            </a:r>
            <a:endParaRPr lang="en-US" sz="1550" dirty="0"/>
          </a:p>
        </p:txBody>
      </p:sp>
      <p:sp>
        <p:nvSpPr>
          <p:cNvPr id="20" name="Shape 18"/>
          <p:cNvSpPr/>
          <p:nvPr/>
        </p:nvSpPr>
        <p:spPr>
          <a:xfrm>
            <a:off x="6355080" y="4224528"/>
            <a:ext cx="5074920" cy="1234440"/>
          </a:xfrm>
          <a:prstGeom prst="roundRect">
            <a:avLst/>
          </a:prstGeom>
          <a:solidFill>
            <a:srgbClr val="FFFFFF"/>
          </a:solidFill>
          <a:ln w="12700">
            <a:solidFill>
              <a:srgbClr val="D8E3F2"/>
            </a:solidFill>
            <a:prstDash val="solid"/>
          </a:ln>
        </p:spPr>
      </p:sp>
      <p:sp>
        <p:nvSpPr>
          <p:cNvPr id="21" name="Text 19"/>
          <p:cNvSpPr/>
          <p:nvPr/>
        </p:nvSpPr>
        <p:spPr>
          <a:xfrm>
            <a:off x="6519672" y="4370832"/>
            <a:ext cx="4663440" cy="210312"/>
          </a:xfrm>
          <a:prstGeom prst="rect">
            <a:avLst/>
          </a:prstGeom>
          <a:noFill/>
          <a:ln/>
        </p:spPr>
        <p:txBody>
          <a:bodyPr wrap="square" lIns="0" tIns="0" rIns="0" bIns="0" rtlCol="0" anchor="ctr"/>
          <a:lstStyle/>
          <a:p>
            <a:pPr marL="0" indent="0">
              <a:buNone/>
            </a:pPr>
            <a:r>
              <a:rPr lang="en-US" sz="1700" b="1" dirty="0">
                <a:solidFill>
                  <a:srgbClr val="0B1F3A"/>
                </a:solidFill>
              </a:rPr>
              <a:t>Q. What would you improve?</a:t>
            </a:r>
            <a:endParaRPr lang="en-US" sz="1700" dirty="0"/>
          </a:p>
        </p:txBody>
      </p:sp>
      <p:sp>
        <p:nvSpPr>
          <p:cNvPr id="22" name="Text 20"/>
          <p:cNvSpPr/>
          <p:nvPr/>
        </p:nvSpPr>
        <p:spPr>
          <a:xfrm>
            <a:off x="6519672" y="4709160"/>
            <a:ext cx="4617720" cy="502920"/>
          </a:xfrm>
          <a:prstGeom prst="rect">
            <a:avLst/>
          </a:prstGeom>
          <a:noFill/>
          <a:ln/>
        </p:spPr>
        <p:txBody>
          <a:bodyPr wrap="square" lIns="0" tIns="0" rIns="0" bIns="0" rtlCol="0" anchor="ctr"/>
          <a:lstStyle/>
          <a:p>
            <a:pPr marL="0" indent="0">
              <a:buNone/>
            </a:pPr>
            <a:r>
              <a:rPr lang="en-US" sz="1550" dirty="0">
                <a:solidFill>
                  <a:srgbClr val="1F2937"/>
                </a:solidFill>
              </a:rPr>
              <a:t>A. Bigger libraries, better receptor prep, MD simulation, stronger ADMET services.</a:t>
            </a:r>
            <a:endParaRPr lang="en-US" sz="1550" dirty="0"/>
          </a:p>
        </p:txBody>
      </p:sp>
      <p:sp>
        <p:nvSpPr>
          <p:cNvPr id="23" name="Shape 21"/>
          <p:cNvSpPr/>
          <p:nvPr/>
        </p:nvSpPr>
        <p:spPr>
          <a:xfrm>
            <a:off x="502920" y="6446520"/>
            <a:ext cx="11064240" cy="0"/>
          </a:xfrm>
          <a:prstGeom prst="line">
            <a:avLst/>
          </a:prstGeom>
          <a:noFill/>
          <a:ln w="12700">
            <a:solidFill>
              <a:srgbClr val="D7DEE8"/>
            </a:solidFill>
            <a:prstDash val="solid"/>
          </a:ln>
        </p:spPr>
      </p:sp>
      <p:sp>
        <p:nvSpPr>
          <p:cNvPr id="24" name="Text 22"/>
          <p:cNvSpPr/>
          <p:nvPr/>
        </p:nvSpPr>
        <p:spPr>
          <a:xfrm>
            <a:off x="502920" y="6473952"/>
            <a:ext cx="2560320" cy="182880"/>
          </a:xfrm>
          <a:prstGeom prst="rect">
            <a:avLst/>
          </a:prstGeom>
          <a:noFill/>
          <a:ln/>
        </p:spPr>
        <p:txBody>
          <a:bodyPr wrap="square" rtlCol="0" anchor="ctr"/>
          <a:lstStyle/>
          <a:p>
            <a:pPr marL="0" indent="0">
              <a:buNone/>
            </a:pPr>
            <a:r>
              <a:rPr lang="en-US" sz="900" dirty="0">
                <a:solidFill>
                  <a:srgbClr val="667085"/>
                </a:solidFill>
              </a:rPr>
              <a:t>Major Project | Bioinformatics</a:t>
            </a:r>
            <a:endParaRPr lang="en-US" sz="900" dirty="0"/>
          </a:p>
        </p:txBody>
      </p:sp>
      <p:sp>
        <p:nvSpPr>
          <p:cNvPr id="25" name="Text 23"/>
          <p:cNvSpPr/>
          <p:nvPr/>
        </p:nvSpPr>
        <p:spPr>
          <a:xfrm>
            <a:off x="11155680" y="6455664"/>
            <a:ext cx="365760" cy="182880"/>
          </a:xfrm>
          <a:prstGeom prst="rect">
            <a:avLst/>
          </a:prstGeom>
          <a:noFill/>
          <a:ln/>
        </p:spPr>
        <p:txBody>
          <a:bodyPr wrap="square" rtlCol="0" anchor="ctr"/>
          <a:lstStyle/>
          <a:p>
            <a:pPr marL="0" indent="0" algn="r">
              <a:buNone/>
            </a:pPr>
            <a:r>
              <a:rPr lang="en-US" sz="900" dirty="0">
                <a:solidFill>
                  <a:srgbClr val="667085"/>
                </a:solidFill>
              </a:rPr>
              <a:t>16</a:t>
            </a:r>
            <a:endParaRPr lang="en-US" sz="9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0B1F3A"/>
        </a:solidFill>
        <a:effectLst/>
      </p:bgPr>
    </p:bg>
    <p:spTree>
      <p:nvGrpSpPr>
        <p:cNvPr id="1" name=""/>
        <p:cNvGrpSpPr/>
        <p:nvPr/>
      </p:nvGrpSpPr>
      <p:grpSpPr>
        <a:xfrm>
          <a:off x="0" y="0"/>
          <a:ext cx="0" cy="0"/>
          <a:chOff x="0" y="0"/>
          <a:chExt cx="0" cy="0"/>
        </a:xfrm>
      </p:grpSpPr>
      <p:pic>
        <p:nvPicPr>
          <p:cNvPr id="2" name="Image 0" descr="/mnt/data/a_detailed_scientific_3d_molecular_visualization_s.png"/>
          <p:cNvPicPr>
            <a:picLocks noChangeAspect="1"/>
          </p:cNvPicPr>
          <p:nvPr/>
        </p:nvPicPr>
        <p:blipFill>
          <a:blip r:embed="rId3"/>
          <a:srcRect t="7811" b="7811"/>
          <a:stretch/>
        </p:blipFill>
        <p:spPr>
          <a:xfrm>
            <a:off x="0" y="0"/>
            <a:ext cx="12191695" cy="6858000"/>
          </a:xfrm>
          <a:prstGeom prst="rect">
            <a:avLst/>
          </a:prstGeom>
        </p:spPr>
      </p:pic>
      <p:sp>
        <p:nvSpPr>
          <p:cNvPr id="3" name="Text 0"/>
          <p:cNvSpPr/>
          <p:nvPr/>
        </p:nvSpPr>
        <p:spPr>
          <a:xfrm>
            <a:off x="822960" y="658368"/>
            <a:ext cx="2011680" cy="201168"/>
          </a:xfrm>
          <a:prstGeom prst="rect">
            <a:avLst/>
          </a:prstGeom>
          <a:noFill/>
          <a:ln/>
        </p:spPr>
        <p:txBody>
          <a:bodyPr wrap="square" rtlCol="0" anchor="ctr"/>
          <a:lstStyle/>
          <a:p>
            <a:pPr marL="0" indent="0">
              <a:buNone/>
            </a:pPr>
            <a:r>
              <a:rPr lang="en-US" sz="1800" b="1" dirty="0">
                <a:solidFill>
                  <a:srgbClr val="14B8A6"/>
                </a:solidFill>
              </a:rPr>
              <a:t>Final takeaway</a:t>
            </a:r>
            <a:endParaRPr lang="en-US" sz="1800" dirty="0"/>
          </a:p>
        </p:txBody>
      </p:sp>
      <p:sp>
        <p:nvSpPr>
          <p:cNvPr id="4" name="Text 1"/>
          <p:cNvSpPr/>
          <p:nvPr/>
        </p:nvSpPr>
        <p:spPr>
          <a:xfrm>
            <a:off x="822960" y="1024128"/>
            <a:ext cx="5440680" cy="1783080"/>
          </a:xfrm>
          <a:prstGeom prst="rect">
            <a:avLst/>
          </a:prstGeom>
          <a:noFill/>
          <a:ln/>
        </p:spPr>
        <p:txBody>
          <a:bodyPr wrap="square" lIns="0" tIns="0" rIns="0" bIns="0" rtlCol="0" anchor="ctr"/>
          <a:lstStyle/>
          <a:p>
            <a:pPr marL="0" indent="0">
              <a:buNone/>
            </a:pPr>
            <a:r>
              <a:rPr lang="en-US" sz="2200" b="1" dirty="0">
                <a:solidFill>
                  <a:srgbClr val="FFFFFF"/>
                </a:solidFill>
                <a:latin typeface="Aptos Display" pitchFamily="34" charset="0"/>
                <a:ea typeface="Aptos Display" pitchFamily="34" charset="-122"/>
                <a:cs typeface="Aptos Display" pitchFamily="34" charset="-120"/>
              </a:rPr>
              <a:t>This project delivers a complete, presentation-ready drug discovery workflow with real docking-output parsing, lead prioritization, visualization guidance, and a modular Python pipeline.</a:t>
            </a:r>
            <a:endParaRPr lang="en-US" sz="2200" dirty="0"/>
          </a:p>
        </p:txBody>
      </p:sp>
      <p:sp>
        <p:nvSpPr>
          <p:cNvPr id="5" name="Text 2"/>
          <p:cNvSpPr/>
          <p:nvPr/>
        </p:nvSpPr>
        <p:spPr>
          <a:xfrm>
            <a:off x="914400" y="4114800"/>
            <a:ext cx="4480560" cy="1325880"/>
          </a:xfrm>
          <a:prstGeom prst="rect">
            <a:avLst/>
          </a:prstGeom>
          <a:noFill/>
          <a:ln/>
        </p:spPr>
        <p:txBody>
          <a:bodyPr wrap="square" lIns="127" tIns="127" rIns="127" bIns="127" rtlCol="0" anchor="ctr"/>
          <a:lstStyle/>
          <a:p>
            <a:pPr marL="0" indent="0">
              <a:buNone/>
            </a:pPr>
            <a:r>
              <a:rPr lang="en-US" sz="1800" dirty="0">
                <a:solidFill>
                  <a:srgbClr val="F2F7FF"/>
                </a:solidFill>
              </a:rPr>
              <a:t>• End-to-end course-aligned workflow</a:t>
            </a:r>
            <a:endParaRPr lang="en-US" sz="1800" dirty="0"/>
          </a:p>
          <a:p>
            <a:pPr marL="0" indent="0">
              <a:buNone/>
            </a:pPr>
            <a:r>
              <a:rPr lang="en-US" sz="1800" dirty="0">
                <a:solidFill>
                  <a:srgbClr val="F2F7FF"/>
                </a:solidFill>
              </a:rPr>
              <a:t>• Real Vina log parsing and ranked outputs</a:t>
            </a:r>
            <a:endParaRPr lang="en-US" sz="1800" dirty="0"/>
          </a:p>
          <a:p>
            <a:pPr marL="0" indent="0">
              <a:buNone/>
            </a:pPr>
            <a:r>
              <a:rPr lang="en-US" sz="1800" dirty="0">
                <a:solidFill>
                  <a:srgbClr val="F2F7FF"/>
                </a:solidFill>
              </a:rPr>
              <a:t>• PyMOL figure-generation guide</a:t>
            </a:r>
            <a:endParaRPr lang="en-US" sz="1800" dirty="0"/>
          </a:p>
          <a:p>
            <a:pPr marL="0" indent="0">
              <a:buNone/>
            </a:pPr>
            <a:r>
              <a:rPr lang="en-US" sz="1800" dirty="0">
                <a:solidFill>
                  <a:srgbClr val="F2F7FF"/>
                </a:solidFill>
              </a:rPr>
              <a:t>• Viva-ready code demo and Q&amp;A support</a:t>
            </a:r>
            <a:endParaRPr lang="en-US" sz="1800" dirty="0"/>
          </a:p>
        </p:txBody>
      </p:sp>
      <p:sp>
        <p:nvSpPr>
          <p:cNvPr id="6" name="Text 3"/>
          <p:cNvSpPr/>
          <p:nvPr/>
        </p:nvSpPr>
        <p:spPr>
          <a:xfrm>
            <a:off x="896112" y="5961888"/>
            <a:ext cx="2011680" cy="256032"/>
          </a:xfrm>
          <a:prstGeom prst="rect">
            <a:avLst/>
          </a:prstGeom>
          <a:noFill/>
          <a:ln/>
        </p:spPr>
        <p:txBody>
          <a:bodyPr wrap="square" rtlCol="0" anchor="ctr"/>
          <a:lstStyle/>
          <a:p>
            <a:pPr marL="0" indent="0">
              <a:buNone/>
            </a:pPr>
            <a:r>
              <a:rPr lang="en-US" sz="2600" b="1" dirty="0">
                <a:solidFill>
                  <a:srgbClr val="FFFFFF"/>
                </a:solidFill>
              </a:rPr>
              <a:t>Questions?</a:t>
            </a:r>
            <a:endParaRPr lang="en-US" sz="26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5</TotalTime>
  <Words>3510</Words>
  <Application>Microsoft Office PowerPoint</Application>
  <PresentationFormat>Widescreen</PresentationFormat>
  <Paragraphs>307</Paragraphs>
  <Slides>17</Slides>
  <Notes>17</Notes>
  <HiddenSlides>0</HiddenSlides>
  <MMClips>0</MMClips>
  <ScaleCrop>false</ScaleCrop>
  <HeadingPairs>
    <vt:vector size="4" baseType="variant">
      <vt:variant>
        <vt:lpstr>Theme</vt:lpstr>
      </vt:variant>
      <vt:variant>
        <vt:i4>1</vt:i4>
      </vt:variant>
      <vt:variant>
        <vt:lpstr>Slide Titles</vt:lpstr>
      </vt:variant>
      <vt:variant>
        <vt:i4>17</vt:i4>
      </vt:variant>
    </vt:vector>
  </HeadingPairs>
  <TitlesOfParts>
    <vt:vector size="18" baseType="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OpenAI</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Drug Discovery Pipeline - Final Presentation</dc:title>
  <dc:subject>Drug Discovery Pipeline Major Project</dc:subject>
  <dc:creator>OpenAI</dc:creator>
  <cp:lastModifiedBy>Vansh Shriwastava</cp:lastModifiedBy>
  <cp:revision>3</cp:revision>
  <dcterms:created xsi:type="dcterms:W3CDTF">2026-04-03T11:54:17Z</dcterms:created>
  <dcterms:modified xsi:type="dcterms:W3CDTF">2026-04-19T09:49:21Z</dcterms:modified>
</cp:coreProperties>
</file>